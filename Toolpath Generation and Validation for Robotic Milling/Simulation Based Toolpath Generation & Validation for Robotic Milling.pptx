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550" cx="12192000"/>
  <p:notesSz cx="6858550" cy="12192000"/>
  <p:embeddedFontLst>
    <p:embeddedFont>
      <p:font typeface="Sorts Mill Goudy"/>
      <p:regular r:id="rId18"/>
      <p: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SortsMillGoudy-italic.fntdata"/><Relationship Id="rId6" Type="http://schemas.openxmlformats.org/officeDocument/2006/relationships/slide" Target="slides/slide2.xml"/><Relationship Id="rId18" Type="http://schemas.openxmlformats.org/officeDocument/2006/relationships/font" Target="fonts/SortsMillGoud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ffb7d65ad_4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dffb7d65ad_4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dffb7d65ad_4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ffb7d65ad_3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g3dffb7d65ad_3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dffb7d65ad_3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dffb7d65ad_3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g3dffb7d65ad_3_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g3dffb7d65ad_3_1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66b21b8d5d170724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g66b21b8d5d170724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66b21b8d5d170724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DpHNB8V-QhViFiJKDVXHgyxxRdkVfDaZ/view" TargetMode="External"/><Relationship Id="rId4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-12"/>
            <a:ext cx="12192000" cy="6858564"/>
          </a:xfrm>
          <a:custGeom>
            <a:rect b="b" l="l" r="r" t="t"/>
            <a:pathLst>
              <a:path extrusionOk="0" h="6858564" w="12192000">
                <a:moveTo>
                  <a:pt x="0" y="0"/>
                </a:moveTo>
                <a:lnTo>
                  <a:pt x="12192000" y="0"/>
                </a:lnTo>
                <a:lnTo>
                  <a:pt x="12192000" y="6858564"/>
                </a:lnTo>
                <a:lnTo>
                  <a:pt x="0" y="685856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F2937">
                  <a:alpha val="94901"/>
                </a:srgbClr>
              </a:gs>
              <a:gs pos="50000">
                <a:srgbClr val="1F2937">
                  <a:alpha val="85098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18" name="Google Shape;18;p4"/>
          <p:cNvSpPr/>
          <p:nvPr/>
        </p:nvSpPr>
        <p:spPr>
          <a:xfrm>
            <a:off x="360977" y="360977"/>
            <a:ext cx="5586120" cy="360977"/>
          </a:xfrm>
          <a:custGeom>
            <a:rect b="b" l="l" r="r" t="t"/>
            <a:pathLst>
              <a:path extrusionOk="0" h="360977" w="5586120">
                <a:moveTo>
                  <a:pt x="0" y="0"/>
                </a:moveTo>
                <a:lnTo>
                  <a:pt x="5586120" y="0"/>
                </a:lnTo>
                <a:lnTo>
                  <a:pt x="5586120" y="360977"/>
                </a:lnTo>
                <a:lnTo>
                  <a:pt x="0" y="360977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9" name="Google Shape;19;p4"/>
          <p:cNvSpPr/>
          <p:nvPr/>
        </p:nvSpPr>
        <p:spPr>
          <a:xfrm>
            <a:off x="360977" y="360977"/>
            <a:ext cx="5658315" cy="360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72175" lIns="180475" spcFirstLastPara="1" rIns="180475" wrap="square" tIns="721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7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IIT BOMBAY — DEPARTMENT OF MECHANICAL ENGINEERING</a:t>
            </a:r>
            <a:endParaRPr b="0" i="0" sz="1600" u="none" cap="none" strike="noStrike"/>
          </a:p>
        </p:txBody>
      </p:sp>
      <p:sp>
        <p:nvSpPr>
          <p:cNvPr id="20" name="Google Shape;20;p4"/>
          <p:cNvSpPr/>
          <p:nvPr/>
        </p:nvSpPr>
        <p:spPr>
          <a:xfrm>
            <a:off x="360977" y="1010736"/>
            <a:ext cx="7075150" cy="269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32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Simulation Based</a:t>
            </a:r>
            <a:endParaRPr b="0" i="0" sz="1600" u="none" cap="none" strike="noStrike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32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Toolpath Generation</a:t>
            </a:r>
            <a:endParaRPr b="0" i="0" sz="1600" u="none" cap="none" strike="noStrike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32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&amp; Validation for</a:t>
            </a:r>
            <a:endParaRPr b="0" i="0" sz="1600" u="none" cap="none" strike="noStrike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32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Robotic Milling</a:t>
            </a:r>
            <a:endParaRPr b="0" i="0" sz="1600" u="none" cap="none" strike="noStrike"/>
          </a:p>
        </p:txBody>
      </p:sp>
      <p:sp>
        <p:nvSpPr>
          <p:cNvPr id="21" name="Google Shape;21;p4"/>
          <p:cNvSpPr/>
          <p:nvPr/>
        </p:nvSpPr>
        <p:spPr>
          <a:xfrm>
            <a:off x="360977" y="3999325"/>
            <a:ext cx="1443908" cy="54147"/>
          </a:xfrm>
          <a:custGeom>
            <a:rect b="b" l="l" r="r" t="t"/>
            <a:pathLst>
              <a:path extrusionOk="0" h="54147" w="1443908">
                <a:moveTo>
                  <a:pt x="0" y="0"/>
                </a:moveTo>
                <a:lnTo>
                  <a:pt x="1443908" y="0"/>
                </a:lnTo>
                <a:lnTo>
                  <a:pt x="1443908" y="54147"/>
                </a:lnTo>
                <a:lnTo>
                  <a:pt x="0" y="54147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360977" y="4414449"/>
            <a:ext cx="6876613" cy="703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5" u="none" cap="none" strike="noStrike">
                <a:solidFill>
                  <a:srgbClr val="E5E7EB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</a:t>
            </a:r>
            <a:r>
              <a:rPr lang="en-US" sz="1705">
                <a:solidFill>
                  <a:srgbClr val="E5E7EB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 </a:t>
            </a:r>
            <a:r>
              <a:rPr b="0" i="0" lang="en-US" sz="1705" u="none" cap="none" strike="noStrike">
                <a:solidFill>
                  <a:srgbClr val="E5E7EB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End-to-End Workflow from CAD/CAM to Physical Robot Execution</a:t>
            </a:r>
            <a:endParaRPr b="0" i="0" sz="1600" u="none" cap="none" strike="noStrike"/>
          </a:p>
        </p:txBody>
      </p:sp>
      <p:sp>
        <p:nvSpPr>
          <p:cNvPr id="23" name="Google Shape;23;p4"/>
          <p:cNvSpPr/>
          <p:nvPr/>
        </p:nvSpPr>
        <p:spPr>
          <a:xfrm>
            <a:off x="394819" y="5587624"/>
            <a:ext cx="157927" cy="180489"/>
          </a:xfrm>
          <a:custGeom>
            <a:rect b="b" l="l" r="r" t="t"/>
            <a:pathLst>
              <a:path extrusionOk="0" h="180489" w="157927">
                <a:moveTo>
                  <a:pt x="78964" y="87424"/>
                </a:moveTo>
                <a:cubicBezTo>
                  <a:pt x="102311" y="87424"/>
                  <a:pt x="121266" y="68469"/>
                  <a:pt x="121266" y="45122"/>
                </a:cubicBezTo>
                <a:cubicBezTo>
                  <a:pt x="121266" y="21775"/>
                  <a:pt x="102311" y="2820"/>
                  <a:pt x="78964" y="2820"/>
                </a:cubicBezTo>
                <a:cubicBezTo>
                  <a:pt x="55617" y="2820"/>
                  <a:pt x="36662" y="21775"/>
                  <a:pt x="36662" y="45122"/>
                </a:cubicBezTo>
                <a:cubicBezTo>
                  <a:pt x="36662" y="68469"/>
                  <a:pt x="55617" y="87424"/>
                  <a:pt x="78964" y="87424"/>
                </a:cubicBezTo>
                <a:close/>
                <a:moveTo>
                  <a:pt x="68494" y="107165"/>
                </a:moveTo>
                <a:cubicBezTo>
                  <a:pt x="33771" y="107165"/>
                  <a:pt x="5640" y="135296"/>
                  <a:pt x="5640" y="170019"/>
                </a:cubicBezTo>
                <a:cubicBezTo>
                  <a:pt x="5640" y="175800"/>
                  <a:pt x="10329" y="180489"/>
                  <a:pt x="16110" y="180489"/>
                </a:cubicBezTo>
                <a:lnTo>
                  <a:pt x="141817" y="180489"/>
                </a:lnTo>
                <a:cubicBezTo>
                  <a:pt x="147599" y="180489"/>
                  <a:pt x="152287" y="175800"/>
                  <a:pt x="152287" y="170019"/>
                </a:cubicBezTo>
                <a:cubicBezTo>
                  <a:pt x="152287" y="135296"/>
                  <a:pt x="124156" y="107165"/>
                  <a:pt x="89433" y="107165"/>
                </a:cubicBezTo>
                <a:lnTo>
                  <a:pt x="68494" y="107165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694849" y="5551525"/>
            <a:ext cx="54939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9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Presenter</a:t>
            </a:r>
            <a:r>
              <a:rPr b="1" lang="en-US" sz="1279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s: Aayush Shah, Shashwat Agrawal, Ishaan Mondal, Kartik Goyal</a:t>
            </a:r>
            <a:endParaRPr b="0" i="0" sz="1600" u="none" cap="none" strike="noStrike"/>
          </a:p>
        </p:txBody>
      </p:sp>
      <p:sp>
        <p:nvSpPr>
          <p:cNvPr id="25" name="Google Shape;25;p4"/>
          <p:cNvSpPr/>
          <p:nvPr/>
        </p:nvSpPr>
        <p:spPr>
          <a:xfrm>
            <a:off x="383538" y="5984699"/>
            <a:ext cx="180489" cy="180489"/>
          </a:xfrm>
          <a:custGeom>
            <a:rect b="b" l="l" r="r" t="t"/>
            <a:pathLst>
              <a:path extrusionOk="0" h="180489" w="180489">
                <a:moveTo>
                  <a:pt x="95849" y="7121"/>
                </a:moveTo>
                <a:cubicBezTo>
                  <a:pt x="92395" y="5147"/>
                  <a:pt x="88129" y="5147"/>
                  <a:pt x="84639" y="7121"/>
                </a:cubicBezTo>
                <a:lnTo>
                  <a:pt x="5676" y="52243"/>
                </a:lnTo>
                <a:cubicBezTo>
                  <a:pt x="1234" y="54781"/>
                  <a:pt x="-952" y="59998"/>
                  <a:pt x="353" y="64934"/>
                </a:cubicBezTo>
                <a:cubicBezTo>
                  <a:pt x="1657" y="69869"/>
                  <a:pt x="6169" y="73323"/>
                  <a:pt x="11281" y="73323"/>
                </a:cubicBezTo>
                <a:lnTo>
                  <a:pt x="22561" y="73323"/>
                </a:lnTo>
                <a:lnTo>
                  <a:pt x="22561" y="146647"/>
                </a:lnTo>
                <a:lnTo>
                  <a:pt x="22561" y="146647"/>
                </a:lnTo>
                <a:lnTo>
                  <a:pt x="4512" y="160184"/>
                </a:lnTo>
                <a:cubicBezTo>
                  <a:pt x="1657" y="162299"/>
                  <a:pt x="0" y="165648"/>
                  <a:pt x="0" y="169208"/>
                </a:cubicBezTo>
                <a:cubicBezTo>
                  <a:pt x="0" y="175448"/>
                  <a:pt x="5041" y="180489"/>
                  <a:pt x="11281" y="180489"/>
                </a:cubicBezTo>
                <a:lnTo>
                  <a:pt x="169208" y="180489"/>
                </a:lnTo>
                <a:cubicBezTo>
                  <a:pt x="175448" y="180489"/>
                  <a:pt x="180489" y="175448"/>
                  <a:pt x="180489" y="169208"/>
                </a:cubicBezTo>
                <a:cubicBezTo>
                  <a:pt x="180489" y="165648"/>
                  <a:pt x="178832" y="162299"/>
                  <a:pt x="175976" y="160184"/>
                </a:cubicBezTo>
                <a:lnTo>
                  <a:pt x="157927" y="146647"/>
                </a:lnTo>
                <a:lnTo>
                  <a:pt x="157927" y="73323"/>
                </a:lnTo>
                <a:lnTo>
                  <a:pt x="169208" y="73323"/>
                </a:lnTo>
                <a:cubicBezTo>
                  <a:pt x="174319" y="73323"/>
                  <a:pt x="178796" y="69869"/>
                  <a:pt x="180101" y="64934"/>
                </a:cubicBezTo>
                <a:cubicBezTo>
                  <a:pt x="181405" y="59998"/>
                  <a:pt x="179219" y="54781"/>
                  <a:pt x="174778" y="52243"/>
                </a:cubicBezTo>
                <a:lnTo>
                  <a:pt x="95814" y="7121"/>
                </a:lnTo>
                <a:close/>
                <a:moveTo>
                  <a:pt x="141007" y="73323"/>
                </a:moveTo>
                <a:lnTo>
                  <a:pt x="141007" y="146647"/>
                </a:lnTo>
                <a:lnTo>
                  <a:pt x="118446" y="146647"/>
                </a:lnTo>
                <a:lnTo>
                  <a:pt x="118446" y="73323"/>
                </a:lnTo>
                <a:lnTo>
                  <a:pt x="141007" y="73323"/>
                </a:lnTo>
                <a:close/>
                <a:moveTo>
                  <a:pt x="101525" y="73323"/>
                </a:moveTo>
                <a:lnTo>
                  <a:pt x="101525" y="146647"/>
                </a:lnTo>
                <a:lnTo>
                  <a:pt x="78964" y="146647"/>
                </a:lnTo>
                <a:lnTo>
                  <a:pt x="78964" y="73323"/>
                </a:lnTo>
                <a:lnTo>
                  <a:pt x="101525" y="73323"/>
                </a:lnTo>
                <a:close/>
                <a:moveTo>
                  <a:pt x="62043" y="73323"/>
                </a:moveTo>
                <a:lnTo>
                  <a:pt x="62043" y="146647"/>
                </a:lnTo>
                <a:lnTo>
                  <a:pt x="39482" y="146647"/>
                </a:lnTo>
                <a:lnTo>
                  <a:pt x="39482" y="73323"/>
                </a:lnTo>
                <a:lnTo>
                  <a:pt x="62043" y="73323"/>
                </a:lnTo>
                <a:close/>
                <a:moveTo>
                  <a:pt x="90244" y="33842"/>
                </a:moveTo>
                <a:cubicBezTo>
                  <a:pt x="96470" y="33842"/>
                  <a:pt x="101525" y="38896"/>
                  <a:pt x="101525" y="45122"/>
                </a:cubicBezTo>
                <a:cubicBezTo>
                  <a:pt x="101525" y="51348"/>
                  <a:pt x="96470" y="56403"/>
                  <a:pt x="90244" y="56403"/>
                </a:cubicBezTo>
                <a:cubicBezTo>
                  <a:pt x="84018" y="56403"/>
                  <a:pt x="78964" y="51348"/>
                  <a:pt x="78964" y="45122"/>
                </a:cubicBezTo>
                <a:cubicBezTo>
                  <a:pt x="78964" y="38896"/>
                  <a:pt x="84018" y="33842"/>
                  <a:pt x="90244" y="33842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694881" y="5948601"/>
            <a:ext cx="1732690" cy="252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9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Institution:</a:t>
            </a:r>
            <a:r>
              <a:rPr b="0" i="0" lang="en-US" sz="1279" u="none" cap="none" strike="noStrike">
                <a:solidFill>
                  <a:srgbClr val="D1D5DC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IIT Bombay</a:t>
            </a:r>
            <a:endParaRPr b="0" i="0" sz="1600" u="none" cap="none" strike="noStrike"/>
          </a:p>
        </p:txBody>
      </p:sp>
      <p:sp>
        <p:nvSpPr>
          <p:cNvPr id="27" name="Google Shape;27;p4"/>
          <p:cNvSpPr/>
          <p:nvPr/>
        </p:nvSpPr>
        <p:spPr>
          <a:xfrm>
            <a:off x="3995565" y="5984699"/>
            <a:ext cx="157927" cy="180489"/>
          </a:xfrm>
          <a:custGeom>
            <a:rect b="b" l="l" r="r" t="t"/>
            <a:pathLst>
              <a:path extrusionOk="0" h="180489" w="157927">
                <a:moveTo>
                  <a:pt x="45122" y="0"/>
                </a:moveTo>
                <a:cubicBezTo>
                  <a:pt x="38883" y="0"/>
                  <a:pt x="33842" y="5041"/>
                  <a:pt x="33842" y="11281"/>
                </a:cubicBezTo>
                <a:lnTo>
                  <a:pt x="33842" y="22561"/>
                </a:lnTo>
                <a:lnTo>
                  <a:pt x="22561" y="22561"/>
                </a:lnTo>
                <a:cubicBezTo>
                  <a:pt x="10117" y="22561"/>
                  <a:pt x="0" y="32678"/>
                  <a:pt x="0" y="45122"/>
                </a:cubicBezTo>
                <a:lnTo>
                  <a:pt x="0" y="62043"/>
                </a:lnTo>
                <a:lnTo>
                  <a:pt x="157927" y="62043"/>
                </a:lnTo>
                <a:lnTo>
                  <a:pt x="157927" y="45122"/>
                </a:lnTo>
                <a:cubicBezTo>
                  <a:pt x="157927" y="32678"/>
                  <a:pt x="147810" y="22561"/>
                  <a:pt x="135366" y="22561"/>
                </a:cubicBezTo>
                <a:lnTo>
                  <a:pt x="124086" y="22561"/>
                </a:lnTo>
                <a:lnTo>
                  <a:pt x="124086" y="11281"/>
                </a:lnTo>
                <a:cubicBezTo>
                  <a:pt x="124086" y="5041"/>
                  <a:pt x="119045" y="0"/>
                  <a:pt x="112805" y="0"/>
                </a:cubicBezTo>
                <a:cubicBezTo>
                  <a:pt x="106566" y="0"/>
                  <a:pt x="101525" y="5041"/>
                  <a:pt x="101525" y="11281"/>
                </a:cubicBezTo>
                <a:lnTo>
                  <a:pt x="101525" y="22561"/>
                </a:lnTo>
                <a:lnTo>
                  <a:pt x="56403" y="22561"/>
                </a:lnTo>
                <a:lnTo>
                  <a:pt x="56403" y="11281"/>
                </a:lnTo>
                <a:cubicBezTo>
                  <a:pt x="56403" y="5041"/>
                  <a:pt x="51362" y="0"/>
                  <a:pt x="45122" y="0"/>
                </a:cubicBezTo>
                <a:close/>
                <a:moveTo>
                  <a:pt x="0" y="78964"/>
                </a:moveTo>
                <a:lnTo>
                  <a:pt x="0" y="146647"/>
                </a:lnTo>
                <a:cubicBezTo>
                  <a:pt x="0" y="159091"/>
                  <a:pt x="10117" y="169208"/>
                  <a:pt x="22561" y="169208"/>
                </a:cubicBezTo>
                <a:lnTo>
                  <a:pt x="135366" y="169208"/>
                </a:lnTo>
                <a:cubicBezTo>
                  <a:pt x="147810" y="169208"/>
                  <a:pt x="157927" y="159091"/>
                  <a:pt x="157927" y="146647"/>
                </a:cubicBezTo>
                <a:lnTo>
                  <a:pt x="157927" y="78964"/>
                </a:lnTo>
                <a:lnTo>
                  <a:pt x="0" y="78964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4295627" y="5948601"/>
            <a:ext cx="1831959" cy="252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9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Date:</a:t>
            </a:r>
            <a:r>
              <a:rPr b="0" i="0" lang="en-US" sz="1279" u="none" cap="none" strike="noStrike">
                <a:solidFill>
                  <a:srgbClr val="D1D5DC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r>
              <a:rPr lang="en-US" sz="1279">
                <a:solidFill>
                  <a:srgbClr val="D1D5DC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18/04/2026</a:t>
            </a:r>
            <a:endParaRPr b="0" i="0" sz="1600" u="none" cap="none" strike="noStrike"/>
          </a:p>
        </p:txBody>
      </p:sp>
      <p:sp>
        <p:nvSpPr>
          <p:cNvPr id="29" name="Google Shape;29;p4"/>
          <p:cNvSpPr/>
          <p:nvPr/>
        </p:nvSpPr>
        <p:spPr>
          <a:xfrm>
            <a:off x="360977" y="6204293"/>
            <a:ext cx="11470046" cy="6016"/>
          </a:xfrm>
          <a:custGeom>
            <a:rect b="b" l="l" r="r" t="t"/>
            <a:pathLst>
              <a:path extrusionOk="0" h="6016" w="11470046">
                <a:moveTo>
                  <a:pt x="0" y="0"/>
                </a:moveTo>
                <a:lnTo>
                  <a:pt x="11470046" y="0"/>
                </a:lnTo>
                <a:lnTo>
                  <a:pt x="11470046" y="6016"/>
                </a:lnTo>
                <a:lnTo>
                  <a:pt x="0" y="6016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>
            <a:noFill/>
          </a:ln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317500" y="375898"/>
            <a:ext cx="77946" cy="467677"/>
          </a:xfrm>
          <a:custGeom>
            <a:rect b="b" l="l" r="r" t="t"/>
            <a:pathLst>
              <a:path extrusionOk="0" h="381000" w="63500">
                <a:moveTo>
                  <a:pt x="0" y="0"/>
                </a:moveTo>
                <a:lnTo>
                  <a:pt x="63500" y="0"/>
                </a:lnTo>
                <a:lnTo>
                  <a:pt x="63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6" name="Google Shape;36;p5"/>
          <p:cNvSpPr/>
          <p:nvPr/>
        </p:nvSpPr>
        <p:spPr>
          <a:xfrm>
            <a:off x="512160" y="317500"/>
            <a:ext cx="65406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3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1 — Introduction &amp; Objectives</a:t>
            </a:r>
            <a:endParaRPr b="0" i="0" sz="1962" u="none" cap="none" strike="noStrike"/>
          </a:p>
        </p:txBody>
      </p:sp>
      <p:sp>
        <p:nvSpPr>
          <p:cNvPr id="37" name="Google Shape;37;p5"/>
          <p:cNvSpPr/>
          <p:nvPr/>
        </p:nvSpPr>
        <p:spPr>
          <a:xfrm>
            <a:off x="512160" y="512160"/>
            <a:ext cx="6647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9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Robotic Milling &amp; The Post-Processor Gap</a:t>
            </a:r>
            <a:endParaRPr b="0" i="0" sz="1962" u="none" cap="none" strike="noStrike"/>
          </a:p>
        </p:txBody>
      </p:sp>
      <p:sp>
        <p:nvSpPr>
          <p:cNvPr id="38" name="Google Shape;38;p5"/>
          <p:cNvSpPr/>
          <p:nvPr/>
        </p:nvSpPr>
        <p:spPr>
          <a:xfrm>
            <a:off x="317500" y="1017875"/>
            <a:ext cx="6927652" cy="2581751"/>
          </a:xfrm>
          <a:custGeom>
            <a:rect b="b" l="l" r="r" t="t"/>
            <a:pathLst>
              <a:path extrusionOk="0" h="1857375" w="6842125">
                <a:moveTo>
                  <a:pt x="31750" y="0"/>
                </a:moveTo>
                <a:lnTo>
                  <a:pt x="6778621" y="0"/>
                </a:lnTo>
                <a:cubicBezTo>
                  <a:pt x="6813693" y="0"/>
                  <a:pt x="6842125" y="28432"/>
                  <a:pt x="6842125" y="63504"/>
                </a:cubicBezTo>
                <a:lnTo>
                  <a:pt x="6842125" y="1793871"/>
                </a:lnTo>
                <a:cubicBezTo>
                  <a:pt x="6842125" y="1828943"/>
                  <a:pt x="6813693" y="1857375"/>
                  <a:pt x="6778621" y="1857375"/>
                </a:cubicBezTo>
                <a:lnTo>
                  <a:pt x="31750" y="1857375"/>
                </a:lnTo>
                <a:cubicBezTo>
                  <a:pt x="14227" y="1857375"/>
                  <a:pt x="0" y="1843148"/>
                  <a:pt x="0" y="1825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8726" rotWithShape="0" algn="bl" dir="5400000" dist="32484">
              <a:srgbClr val="000000">
                <a:alpha val="10196"/>
              </a:srgbClr>
            </a:outerShdw>
          </a:effectLst>
        </p:spPr>
        <p:txBody>
          <a:bodyPr anchorCtr="0" anchor="ctr" bIns="93550" lIns="93550" spcFirstLastPara="1" rIns="93550" wrap="square" tIns="9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317500" y="1017875"/>
            <a:ext cx="32147" cy="2581751"/>
          </a:xfrm>
          <a:custGeom>
            <a:rect b="b" l="l" r="r" t="t"/>
            <a:pathLst>
              <a:path extrusionOk="0" h="1857375" w="31750">
                <a:moveTo>
                  <a:pt x="31750" y="0"/>
                </a:moveTo>
                <a:lnTo>
                  <a:pt x="31750" y="0"/>
                </a:lnTo>
                <a:lnTo>
                  <a:pt x="31750" y="1857375"/>
                </a:lnTo>
                <a:lnTo>
                  <a:pt x="31750" y="1857375"/>
                </a:lnTo>
                <a:cubicBezTo>
                  <a:pt x="14227" y="1857375"/>
                  <a:pt x="0" y="1843148"/>
                  <a:pt x="0" y="1825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93550" lIns="93550" spcFirstLastPara="1" rIns="93550" wrap="square" tIns="9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30000" y="1194345"/>
            <a:ext cx="200918" cy="220663"/>
          </a:xfrm>
          <a:custGeom>
            <a:rect b="b" l="l" r="r" t="t"/>
            <a:pathLst>
              <a:path extrusionOk="0" h="158750" w="198438">
                <a:moveTo>
                  <a:pt x="109141" y="0"/>
                </a:moveTo>
                <a:cubicBezTo>
                  <a:pt x="109141" y="-5488"/>
                  <a:pt x="104707" y="-9922"/>
                  <a:pt x="99219" y="-9922"/>
                </a:cubicBezTo>
                <a:cubicBezTo>
                  <a:pt x="93731" y="-9922"/>
                  <a:pt x="89297" y="-5488"/>
                  <a:pt x="89297" y="0"/>
                </a:cubicBezTo>
                <a:lnTo>
                  <a:pt x="89297" y="19844"/>
                </a:lnTo>
                <a:lnTo>
                  <a:pt x="59531" y="19844"/>
                </a:lnTo>
                <a:cubicBezTo>
                  <a:pt x="43098" y="19844"/>
                  <a:pt x="29766" y="33176"/>
                  <a:pt x="29766" y="49609"/>
                </a:cubicBezTo>
                <a:lnTo>
                  <a:pt x="29766" y="119062"/>
                </a:lnTo>
                <a:cubicBezTo>
                  <a:pt x="29766" y="135496"/>
                  <a:pt x="43098" y="148828"/>
                  <a:pt x="59531" y="148828"/>
                </a:cubicBezTo>
                <a:lnTo>
                  <a:pt x="138906" y="148828"/>
                </a:lnTo>
                <a:cubicBezTo>
                  <a:pt x="155339" y="148828"/>
                  <a:pt x="168672" y="135496"/>
                  <a:pt x="168672" y="119062"/>
                </a:cubicBezTo>
                <a:lnTo>
                  <a:pt x="168672" y="49609"/>
                </a:lnTo>
                <a:cubicBezTo>
                  <a:pt x="168672" y="33176"/>
                  <a:pt x="155339" y="19844"/>
                  <a:pt x="138906" y="19844"/>
                </a:cubicBezTo>
                <a:lnTo>
                  <a:pt x="109141" y="19844"/>
                </a:lnTo>
                <a:lnTo>
                  <a:pt x="109141" y="0"/>
                </a:lnTo>
                <a:close/>
                <a:moveTo>
                  <a:pt x="49609" y="114102"/>
                </a:moveTo>
                <a:cubicBezTo>
                  <a:pt x="49609" y="109978"/>
                  <a:pt x="52927" y="106660"/>
                  <a:pt x="57051" y="106660"/>
                </a:cubicBezTo>
                <a:lnTo>
                  <a:pt x="66973" y="106660"/>
                </a:lnTo>
                <a:cubicBezTo>
                  <a:pt x="71096" y="106660"/>
                  <a:pt x="74414" y="109978"/>
                  <a:pt x="74414" y="114102"/>
                </a:cubicBezTo>
                <a:cubicBezTo>
                  <a:pt x="74414" y="118225"/>
                  <a:pt x="71096" y="121543"/>
                  <a:pt x="66973" y="121543"/>
                </a:cubicBezTo>
                <a:lnTo>
                  <a:pt x="57051" y="121543"/>
                </a:lnTo>
                <a:cubicBezTo>
                  <a:pt x="52927" y="121543"/>
                  <a:pt x="49609" y="118225"/>
                  <a:pt x="49609" y="114102"/>
                </a:cubicBezTo>
                <a:close/>
                <a:moveTo>
                  <a:pt x="86816" y="114102"/>
                </a:moveTo>
                <a:cubicBezTo>
                  <a:pt x="86816" y="109978"/>
                  <a:pt x="90134" y="106660"/>
                  <a:pt x="94258" y="106660"/>
                </a:cubicBezTo>
                <a:lnTo>
                  <a:pt x="104180" y="106660"/>
                </a:lnTo>
                <a:cubicBezTo>
                  <a:pt x="108303" y="106660"/>
                  <a:pt x="111621" y="109978"/>
                  <a:pt x="111621" y="114102"/>
                </a:cubicBezTo>
                <a:cubicBezTo>
                  <a:pt x="111621" y="118225"/>
                  <a:pt x="108303" y="121543"/>
                  <a:pt x="104180" y="121543"/>
                </a:cubicBezTo>
                <a:lnTo>
                  <a:pt x="94258" y="121543"/>
                </a:lnTo>
                <a:cubicBezTo>
                  <a:pt x="90134" y="121543"/>
                  <a:pt x="86816" y="118225"/>
                  <a:pt x="86816" y="114102"/>
                </a:cubicBezTo>
                <a:close/>
                <a:moveTo>
                  <a:pt x="124023" y="114102"/>
                </a:moveTo>
                <a:cubicBezTo>
                  <a:pt x="124023" y="109978"/>
                  <a:pt x="127341" y="106660"/>
                  <a:pt x="131465" y="106660"/>
                </a:cubicBezTo>
                <a:lnTo>
                  <a:pt x="141387" y="106660"/>
                </a:lnTo>
                <a:cubicBezTo>
                  <a:pt x="145510" y="106660"/>
                  <a:pt x="148828" y="109978"/>
                  <a:pt x="148828" y="114102"/>
                </a:cubicBezTo>
                <a:cubicBezTo>
                  <a:pt x="148828" y="118225"/>
                  <a:pt x="145510" y="121543"/>
                  <a:pt x="141387" y="121543"/>
                </a:cubicBezTo>
                <a:lnTo>
                  <a:pt x="131465" y="121543"/>
                </a:lnTo>
                <a:cubicBezTo>
                  <a:pt x="127341" y="121543"/>
                  <a:pt x="124023" y="118225"/>
                  <a:pt x="124023" y="114102"/>
                </a:cubicBezTo>
                <a:close/>
                <a:moveTo>
                  <a:pt x="69453" y="54570"/>
                </a:moveTo>
                <a:cubicBezTo>
                  <a:pt x="77667" y="54570"/>
                  <a:pt x="84336" y="61239"/>
                  <a:pt x="84336" y="69453"/>
                </a:cubicBezTo>
                <a:cubicBezTo>
                  <a:pt x="84336" y="77667"/>
                  <a:pt x="77667" y="84336"/>
                  <a:pt x="69453" y="84336"/>
                </a:cubicBezTo>
                <a:cubicBezTo>
                  <a:pt x="61239" y="84336"/>
                  <a:pt x="54570" y="77667"/>
                  <a:pt x="54570" y="69453"/>
                </a:cubicBezTo>
                <a:cubicBezTo>
                  <a:pt x="54570" y="61239"/>
                  <a:pt x="61239" y="54570"/>
                  <a:pt x="69453" y="54570"/>
                </a:cubicBezTo>
                <a:close/>
                <a:moveTo>
                  <a:pt x="114102" y="69453"/>
                </a:moveTo>
                <a:cubicBezTo>
                  <a:pt x="114102" y="61239"/>
                  <a:pt x="120770" y="54570"/>
                  <a:pt x="128984" y="54570"/>
                </a:cubicBezTo>
                <a:cubicBezTo>
                  <a:pt x="137198" y="54570"/>
                  <a:pt x="143867" y="61239"/>
                  <a:pt x="143867" y="69453"/>
                </a:cubicBezTo>
                <a:cubicBezTo>
                  <a:pt x="143867" y="77667"/>
                  <a:pt x="137198" y="84336"/>
                  <a:pt x="128984" y="84336"/>
                </a:cubicBezTo>
                <a:cubicBezTo>
                  <a:pt x="120770" y="84336"/>
                  <a:pt x="114102" y="77667"/>
                  <a:pt x="114102" y="69453"/>
                </a:cubicBezTo>
                <a:close/>
                <a:moveTo>
                  <a:pt x="19844" y="69453"/>
                </a:moveTo>
                <a:cubicBezTo>
                  <a:pt x="19844" y="63965"/>
                  <a:pt x="15410" y="59531"/>
                  <a:pt x="9922" y="59531"/>
                </a:cubicBezTo>
                <a:cubicBezTo>
                  <a:pt x="4434" y="59531"/>
                  <a:pt x="0" y="63965"/>
                  <a:pt x="0" y="69453"/>
                </a:cubicBezTo>
                <a:lnTo>
                  <a:pt x="0" y="99219"/>
                </a:lnTo>
                <a:cubicBezTo>
                  <a:pt x="0" y="104707"/>
                  <a:pt x="4434" y="109141"/>
                  <a:pt x="9922" y="109141"/>
                </a:cubicBezTo>
                <a:cubicBezTo>
                  <a:pt x="15410" y="109141"/>
                  <a:pt x="19844" y="104707"/>
                  <a:pt x="19844" y="99219"/>
                </a:cubicBezTo>
                <a:lnTo>
                  <a:pt x="19844" y="69453"/>
                </a:lnTo>
                <a:close/>
                <a:moveTo>
                  <a:pt x="188516" y="59531"/>
                </a:moveTo>
                <a:cubicBezTo>
                  <a:pt x="183028" y="59531"/>
                  <a:pt x="178594" y="63965"/>
                  <a:pt x="178594" y="69453"/>
                </a:cubicBezTo>
                <a:lnTo>
                  <a:pt x="178594" y="99219"/>
                </a:lnTo>
                <a:cubicBezTo>
                  <a:pt x="178594" y="104707"/>
                  <a:pt x="183028" y="109141"/>
                  <a:pt x="188516" y="109141"/>
                </a:cubicBezTo>
                <a:cubicBezTo>
                  <a:pt x="194004" y="109141"/>
                  <a:pt x="198438" y="104707"/>
                  <a:pt x="198438" y="99219"/>
                </a:cubicBezTo>
                <a:lnTo>
                  <a:pt x="198438" y="69453"/>
                </a:lnTo>
                <a:cubicBezTo>
                  <a:pt x="198438" y="63965"/>
                  <a:pt x="194004" y="59531"/>
                  <a:pt x="188516" y="59531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93550" lIns="93550" spcFirstLastPara="1" rIns="93550" wrap="square" tIns="9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695173" y="1150225"/>
            <a:ext cx="2853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What is Robotic Milling?</a:t>
            </a:r>
            <a:endParaRPr b="0" i="0" u="none" cap="none" strike="noStrike"/>
          </a:p>
        </p:txBody>
      </p:sp>
      <p:sp>
        <p:nvSpPr>
          <p:cNvPr id="42" name="Google Shape;42;p5"/>
          <p:cNvSpPr/>
          <p:nvPr/>
        </p:nvSpPr>
        <p:spPr>
          <a:xfrm>
            <a:off x="430000" y="1503167"/>
            <a:ext cx="67821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3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Robotic milling</a:t>
            </a:r>
            <a:r>
              <a:rPr b="0" i="0" lang="en-US" sz="1023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uses 6-DOF articulated industrial arms for subtractive machining — milling, drilling, trimming, contouring — replacing conventional CNC tools.</a:t>
            </a:r>
            <a:endParaRPr b="0" i="0" sz="1637" u="none" cap="none" strike="noStrike"/>
          </a:p>
        </p:txBody>
      </p:sp>
      <p:sp>
        <p:nvSpPr>
          <p:cNvPr id="43" name="Google Shape;43;p5"/>
          <p:cNvSpPr/>
          <p:nvPr/>
        </p:nvSpPr>
        <p:spPr>
          <a:xfrm>
            <a:off x="430000" y="2076700"/>
            <a:ext cx="6646188" cy="1390174"/>
          </a:xfrm>
          <a:custGeom>
            <a:rect b="b" l="l" r="r" t="t"/>
            <a:pathLst>
              <a:path extrusionOk="0" h="1000125" w="3286125">
                <a:moveTo>
                  <a:pt x="31754" y="0"/>
                </a:moveTo>
                <a:lnTo>
                  <a:pt x="3254371" y="0"/>
                </a:lnTo>
                <a:cubicBezTo>
                  <a:pt x="3271908" y="0"/>
                  <a:pt x="3286125" y="14217"/>
                  <a:pt x="3286125" y="31754"/>
                </a:cubicBezTo>
                <a:lnTo>
                  <a:pt x="3286125" y="968371"/>
                </a:lnTo>
                <a:cubicBezTo>
                  <a:pt x="3286125" y="985908"/>
                  <a:pt x="3271908" y="1000125"/>
                  <a:pt x="3254371" y="1000125"/>
                </a:cubicBezTo>
                <a:lnTo>
                  <a:pt x="31754" y="1000125"/>
                </a:lnTo>
                <a:cubicBezTo>
                  <a:pt x="14217" y="1000125"/>
                  <a:pt x="0" y="985908"/>
                  <a:pt x="0" y="968371"/>
                </a:cubicBezTo>
                <a:lnTo>
                  <a:pt x="0" y="31754"/>
                </a:lnTo>
                <a:cubicBezTo>
                  <a:pt x="0" y="14228"/>
                  <a:pt x="14228" y="0"/>
                  <a:pt x="31754" y="0"/>
                </a:cubicBezTo>
                <a:close/>
              </a:path>
            </a:pathLst>
          </a:custGeom>
          <a:solidFill>
            <a:srgbClr val="F9FAFB"/>
          </a:solidFill>
          <a:ln>
            <a:noFill/>
          </a:ln>
        </p:spPr>
        <p:txBody>
          <a:bodyPr anchorCtr="0" anchor="ctr" bIns="93550" lIns="93550" spcFirstLastPara="1" rIns="93550" wrap="square" tIns="9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4" name="Google Shape;44;p5"/>
          <p:cNvSpPr/>
          <p:nvPr/>
        </p:nvSpPr>
        <p:spPr>
          <a:xfrm>
            <a:off x="494271" y="2164925"/>
            <a:ext cx="44358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5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Key Advantages over CNC</a:t>
            </a:r>
            <a:endParaRPr b="0" i="0" sz="1837" u="none" cap="none" strike="noStrike"/>
          </a:p>
        </p:txBody>
      </p:sp>
      <p:sp>
        <p:nvSpPr>
          <p:cNvPr id="45" name="Google Shape;45;p5"/>
          <p:cNvSpPr/>
          <p:nvPr/>
        </p:nvSpPr>
        <p:spPr>
          <a:xfrm>
            <a:off x="512365" y="2473751"/>
            <a:ext cx="84386" cy="132397"/>
          </a:xfrm>
          <a:custGeom>
            <a:rect b="b" l="l" r="r" t="t"/>
            <a:pathLst>
              <a:path extrusionOk="0" h="95250" w="83344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3550" lIns="93550" spcFirstLastPara="1" rIns="93550" wrap="square" tIns="9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724283" y="2429631"/>
            <a:ext cx="18948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9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Larger reachable workspace</a:t>
            </a:r>
            <a:endParaRPr b="0" i="0" sz="1837" u="none" cap="none" strike="noStrike"/>
          </a:p>
        </p:txBody>
      </p:sp>
      <p:sp>
        <p:nvSpPr>
          <p:cNvPr id="47" name="Google Shape;47;p5"/>
          <p:cNvSpPr/>
          <p:nvPr/>
        </p:nvSpPr>
        <p:spPr>
          <a:xfrm>
            <a:off x="512365" y="2716397"/>
            <a:ext cx="84386" cy="132397"/>
          </a:xfrm>
          <a:custGeom>
            <a:rect b="b" l="l" r="r" t="t"/>
            <a:pathLst>
              <a:path extrusionOk="0" h="95250" w="83344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3550" lIns="93550" spcFirstLastPara="1" rIns="93550" wrap="square" tIns="9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724283" y="2672279"/>
            <a:ext cx="17412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9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Full orientation dexterity</a:t>
            </a:r>
            <a:endParaRPr b="0" i="0" sz="1837" u="none" cap="none" strike="noStrike"/>
          </a:p>
        </p:txBody>
      </p:sp>
      <p:sp>
        <p:nvSpPr>
          <p:cNvPr id="49" name="Google Shape;49;p5"/>
          <p:cNvSpPr/>
          <p:nvPr/>
        </p:nvSpPr>
        <p:spPr>
          <a:xfrm>
            <a:off x="512365" y="2959043"/>
            <a:ext cx="84386" cy="132397"/>
          </a:xfrm>
          <a:custGeom>
            <a:rect b="b" l="l" r="r" t="t"/>
            <a:pathLst>
              <a:path extrusionOk="0" h="95250" w="83344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3550" lIns="93550" spcFirstLastPara="1" rIns="93550" wrap="square" tIns="9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724283" y="2914926"/>
            <a:ext cx="19935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9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Access to complex undercuts</a:t>
            </a:r>
            <a:endParaRPr b="0" i="0" sz="1837" u="none" cap="none" strike="noStrike"/>
          </a:p>
        </p:txBody>
      </p:sp>
      <p:sp>
        <p:nvSpPr>
          <p:cNvPr id="51" name="Google Shape;51;p5"/>
          <p:cNvSpPr/>
          <p:nvPr/>
        </p:nvSpPr>
        <p:spPr>
          <a:xfrm>
            <a:off x="512365" y="3201690"/>
            <a:ext cx="84386" cy="132398"/>
          </a:xfrm>
          <a:custGeom>
            <a:rect b="b" l="l" r="r" t="t"/>
            <a:pathLst>
              <a:path extrusionOk="0" h="95250" w="83344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3550" lIns="93550" spcFirstLastPara="1" rIns="93550" wrap="square" tIns="9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724283" y="3157574"/>
            <a:ext cx="20046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9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Freeform geometry capability</a:t>
            </a:r>
            <a:endParaRPr b="0" i="0" sz="1837" u="none" cap="none" strike="noStrike"/>
          </a:p>
        </p:txBody>
      </p:sp>
      <p:sp>
        <p:nvSpPr>
          <p:cNvPr id="53" name="Google Shape;53;p5"/>
          <p:cNvSpPr/>
          <p:nvPr/>
        </p:nvSpPr>
        <p:spPr>
          <a:xfrm>
            <a:off x="317500" y="3686982"/>
            <a:ext cx="6927652" cy="2857580"/>
          </a:xfrm>
          <a:custGeom>
            <a:rect b="b" l="l" r="r" t="t"/>
            <a:pathLst>
              <a:path extrusionOk="0" h="2055813" w="6842125">
                <a:moveTo>
                  <a:pt x="31750" y="0"/>
                </a:moveTo>
                <a:lnTo>
                  <a:pt x="6778621" y="0"/>
                </a:lnTo>
                <a:cubicBezTo>
                  <a:pt x="6813693" y="0"/>
                  <a:pt x="6842125" y="28432"/>
                  <a:pt x="6842125" y="63504"/>
                </a:cubicBezTo>
                <a:lnTo>
                  <a:pt x="6842125" y="1992308"/>
                </a:lnTo>
                <a:cubicBezTo>
                  <a:pt x="6842125" y="2027381"/>
                  <a:pt x="6813693" y="2055813"/>
                  <a:pt x="6778621" y="2055812"/>
                </a:cubicBezTo>
                <a:lnTo>
                  <a:pt x="31750" y="2055813"/>
                </a:lnTo>
                <a:cubicBezTo>
                  <a:pt x="14227" y="2055813"/>
                  <a:pt x="0" y="2041586"/>
                  <a:pt x="0" y="202406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8726" rotWithShape="0" algn="bl" dir="5400000" dist="32484">
              <a:srgbClr val="000000">
                <a:alpha val="10196"/>
              </a:srgbClr>
            </a:outerShdw>
          </a:effectLst>
        </p:spPr>
        <p:txBody>
          <a:bodyPr anchorCtr="0" anchor="ctr" bIns="93550" lIns="93550" spcFirstLastPara="1" rIns="93550" wrap="square" tIns="9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317500" y="3686982"/>
            <a:ext cx="32147" cy="2857580"/>
          </a:xfrm>
          <a:custGeom>
            <a:rect b="b" l="l" r="r" t="t"/>
            <a:pathLst>
              <a:path extrusionOk="0" h="2055813" w="31750">
                <a:moveTo>
                  <a:pt x="31750" y="0"/>
                </a:moveTo>
                <a:lnTo>
                  <a:pt x="31750" y="0"/>
                </a:lnTo>
                <a:lnTo>
                  <a:pt x="31750" y="2055813"/>
                </a:lnTo>
                <a:lnTo>
                  <a:pt x="31750" y="2055813"/>
                </a:lnTo>
                <a:cubicBezTo>
                  <a:pt x="14227" y="2055813"/>
                  <a:pt x="0" y="2041586"/>
                  <a:pt x="0" y="202406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93550" lIns="93550" spcFirstLastPara="1" rIns="93550" wrap="square" tIns="9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50089" y="3863452"/>
            <a:ext cx="160734" cy="220663"/>
          </a:xfrm>
          <a:custGeom>
            <a:rect b="b" l="l" r="r" t="t"/>
            <a:pathLst>
              <a:path extrusionOk="0" h="158750" w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93550" lIns="93550" spcFirstLastPara="1" rIns="93550" wrap="square" tIns="9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95173" y="3819325"/>
            <a:ext cx="56151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Fundamental Technical Gap — Post-Processors</a:t>
            </a:r>
            <a:endParaRPr b="0" i="0" u="none" cap="none" strike="noStrike"/>
          </a:p>
        </p:txBody>
      </p:sp>
      <p:sp>
        <p:nvSpPr>
          <p:cNvPr id="57" name="Google Shape;57;p5"/>
          <p:cNvSpPr/>
          <p:nvPr/>
        </p:nvSpPr>
        <p:spPr>
          <a:xfrm>
            <a:off x="430000" y="4172274"/>
            <a:ext cx="33750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CNC Milling (Mature Ecosystem)</a:t>
            </a:r>
            <a:endParaRPr b="0" i="0" u="none" cap="none" strike="noStrike"/>
          </a:p>
        </p:txBody>
      </p:sp>
      <p:sp>
        <p:nvSpPr>
          <p:cNvPr id="58" name="Google Shape;58;p5"/>
          <p:cNvSpPr/>
          <p:nvPr/>
        </p:nvSpPr>
        <p:spPr>
          <a:xfrm>
            <a:off x="430000" y="4481103"/>
            <a:ext cx="3366900" cy="13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G-code is universal </a:t>
            </a:r>
            <a:r>
              <a:rPr lang="en-US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fairly universal, p</a:t>
            </a:r>
            <a:r>
              <a:rPr b="0" i="0" lang="en-US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ost-processors are mature, validated, commercially available for virtually every CAM–machine pairing.</a:t>
            </a:r>
            <a:endParaRPr b="0" i="0" u="none" cap="none" strike="noStrike"/>
          </a:p>
        </p:txBody>
      </p:sp>
      <p:sp>
        <p:nvSpPr>
          <p:cNvPr id="59" name="Google Shape;59;p5"/>
          <p:cNvSpPr/>
          <p:nvPr/>
        </p:nvSpPr>
        <p:spPr>
          <a:xfrm>
            <a:off x="3837133" y="4172274"/>
            <a:ext cx="33750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Robotic Milling (Fragmented Ecosystem)</a:t>
            </a:r>
            <a:endParaRPr b="0" i="0" u="none" cap="none" strike="noStrike"/>
          </a:p>
        </p:txBody>
      </p:sp>
      <p:sp>
        <p:nvSpPr>
          <p:cNvPr id="60" name="Google Shape;60;p5"/>
          <p:cNvSpPr/>
          <p:nvPr/>
        </p:nvSpPr>
        <p:spPr>
          <a:xfrm>
            <a:off x="3837125" y="4481104"/>
            <a:ext cx="3366900" cy="14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No universal standard — Mitsubishi, FANUC, KUKA, ABB, Yaskawa each use </a:t>
            </a:r>
            <a:r>
              <a:rPr b="1" i="0" lang="en-US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proprietary motion languages</a:t>
            </a:r>
            <a:r>
              <a:rPr b="0" i="0" lang="en-US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and coordinate conventions.</a:t>
            </a:r>
            <a:endParaRPr b="0" i="0" u="none" cap="none" strike="noStrike"/>
          </a:p>
        </p:txBody>
      </p:sp>
      <p:sp>
        <p:nvSpPr>
          <p:cNvPr id="61" name="Google Shape;61;p5"/>
          <p:cNvSpPr/>
          <p:nvPr/>
        </p:nvSpPr>
        <p:spPr>
          <a:xfrm>
            <a:off x="7372844" y="982158"/>
            <a:ext cx="4629150" cy="5548590"/>
          </a:xfrm>
          <a:custGeom>
            <a:rect b="b" l="l" r="r" t="t"/>
            <a:pathLst>
              <a:path extrusionOk="0" h="3984625" w="4572000">
                <a:moveTo>
                  <a:pt x="31750" y="0"/>
                </a:moveTo>
                <a:lnTo>
                  <a:pt x="4540250" y="0"/>
                </a:lnTo>
                <a:cubicBezTo>
                  <a:pt x="4557773" y="0"/>
                  <a:pt x="4572000" y="14227"/>
                  <a:pt x="4572000" y="31750"/>
                </a:cubicBezTo>
                <a:lnTo>
                  <a:pt x="4572000" y="3921110"/>
                </a:lnTo>
                <a:cubicBezTo>
                  <a:pt x="4572000" y="3956188"/>
                  <a:pt x="4543563" y="3984625"/>
                  <a:pt x="4508485" y="3984625"/>
                </a:cubicBezTo>
                <a:lnTo>
                  <a:pt x="63515" y="3984625"/>
                </a:lnTo>
                <a:cubicBezTo>
                  <a:pt x="28437" y="3984625"/>
                  <a:pt x="0" y="3956188"/>
                  <a:pt x="0" y="392111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8726" rotWithShape="0" algn="bl" dir="5400000" dist="32484">
              <a:srgbClr val="000000">
                <a:alpha val="10196"/>
              </a:srgbClr>
            </a:outerShdw>
          </a:effectLst>
        </p:spPr>
        <p:txBody>
          <a:bodyPr anchorCtr="0" anchor="ctr" bIns="93550" lIns="93550" spcFirstLastPara="1" rIns="93550" wrap="square" tIns="9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62" name="Google Shape;62;p5"/>
          <p:cNvSpPr/>
          <p:nvPr/>
        </p:nvSpPr>
        <p:spPr>
          <a:xfrm>
            <a:off x="7372844" y="1017877"/>
            <a:ext cx="4629150" cy="44212"/>
          </a:xfrm>
          <a:custGeom>
            <a:rect b="b" l="l" r="r" t="t"/>
            <a:pathLst>
              <a:path extrusionOk="0" h="31750" w="4572000">
                <a:moveTo>
                  <a:pt x="31750" y="0"/>
                </a:moveTo>
                <a:lnTo>
                  <a:pt x="4540250" y="0"/>
                </a:lnTo>
                <a:cubicBezTo>
                  <a:pt x="4557773" y="0"/>
                  <a:pt x="4572000" y="14227"/>
                  <a:pt x="4572000" y="31750"/>
                </a:cubicBezTo>
                <a:lnTo>
                  <a:pt x="4572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3550" lIns="93550" spcFirstLastPara="1" rIns="93550" wrap="square" tIns="93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7433111" y="1172772"/>
            <a:ext cx="4507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Post-Processor Gap</a:t>
            </a:r>
            <a:endParaRPr b="0" i="0" u="none" cap="none" strike="noStrike"/>
          </a:p>
        </p:txBody>
      </p:sp>
      <p:grpSp>
        <p:nvGrpSpPr>
          <p:cNvPr id="64" name="Google Shape;64;p5"/>
          <p:cNvGrpSpPr/>
          <p:nvPr/>
        </p:nvGrpSpPr>
        <p:grpSpPr>
          <a:xfrm>
            <a:off x="7469459" y="1681602"/>
            <a:ext cx="4435831" cy="1460563"/>
            <a:chOff x="7397753" y="1381125"/>
            <a:chExt cx="4381500" cy="1047900"/>
          </a:xfrm>
        </p:grpSpPr>
        <p:sp>
          <p:nvSpPr>
            <p:cNvPr id="65" name="Google Shape;65;p5"/>
            <p:cNvSpPr/>
            <p:nvPr/>
          </p:nvSpPr>
          <p:spPr>
            <a:xfrm>
              <a:off x="7397753" y="1381125"/>
              <a:ext cx="4381500" cy="1047900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5"/>
            <p:cNvSpPr txBox="1"/>
            <p:nvPr/>
          </p:nvSpPr>
          <p:spPr>
            <a:xfrm>
              <a:off x="7397753" y="1409700"/>
              <a:ext cx="438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95">
                  <a:solidFill>
                    <a:srgbClr val="008236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CNC Milling Pipeline</a:t>
              </a:r>
              <a:endParaRPr b="1" sz="895">
                <a:solidFill>
                  <a:srgbClr val="008236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7477125" y="1714500"/>
              <a:ext cx="209700" cy="209700"/>
            </a:xfrm>
            <a:prstGeom prst="roundRect">
              <a:avLst>
                <a:gd fmla="val 18181" name="adj"/>
              </a:avLst>
            </a:prstGeom>
            <a:solidFill>
              <a:srgbClr val="FFED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7524750" y="1762125"/>
              <a:ext cx="114300" cy="114300"/>
            </a:xfrm>
            <a:prstGeom prst="rect">
              <a:avLst/>
            </a:prstGeom>
            <a:solidFill>
              <a:srgbClr val="F549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5"/>
            <p:cNvSpPr txBox="1"/>
            <p:nvPr/>
          </p:nvSpPr>
          <p:spPr>
            <a:xfrm>
              <a:off x="7429500" y="1952625"/>
              <a:ext cx="3048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19">
                  <a:solidFill>
                    <a:srgbClr val="1F2937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CAD</a:t>
              </a:r>
              <a:endParaRPr b="1" sz="819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cxnSp>
          <p:nvCxnSpPr>
            <p:cNvPr id="70" name="Google Shape;70;p5"/>
            <p:cNvCxnSpPr/>
            <p:nvPr/>
          </p:nvCxnSpPr>
          <p:spPr>
            <a:xfrm>
              <a:off x="7715250" y="1819275"/>
              <a:ext cx="333300" cy="0"/>
            </a:xfrm>
            <a:prstGeom prst="straightConnector1">
              <a:avLst/>
            </a:prstGeom>
            <a:solidFill>
              <a:srgbClr val="FFFFFF"/>
            </a:solidFill>
            <a:ln cap="flat" cmpd="sng" w="97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" name="Google Shape;71;p5"/>
            <p:cNvSpPr/>
            <p:nvPr/>
          </p:nvSpPr>
          <p:spPr>
            <a:xfrm>
              <a:off x="8096250" y="1714500"/>
              <a:ext cx="209700" cy="209700"/>
            </a:xfrm>
            <a:prstGeom prst="roundRect">
              <a:avLst>
                <a:gd fmla="val 18181" name="adj"/>
              </a:avLst>
            </a:prstGeom>
            <a:solidFill>
              <a:srgbClr val="FFED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8143875" y="1762125"/>
              <a:ext cx="114300" cy="114300"/>
            </a:xfrm>
            <a:prstGeom prst="rect">
              <a:avLst/>
            </a:prstGeom>
            <a:solidFill>
              <a:srgbClr val="F549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5"/>
            <p:cNvSpPr txBox="1"/>
            <p:nvPr/>
          </p:nvSpPr>
          <p:spPr>
            <a:xfrm>
              <a:off x="8048625" y="1952625"/>
              <a:ext cx="3048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19">
                  <a:solidFill>
                    <a:srgbClr val="1F2937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CAM</a:t>
              </a:r>
              <a:endParaRPr b="1" sz="819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cxnSp>
          <p:nvCxnSpPr>
            <p:cNvPr id="74" name="Google Shape;74;p5"/>
            <p:cNvCxnSpPr/>
            <p:nvPr/>
          </p:nvCxnSpPr>
          <p:spPr>
            <a:xfrm>
              <a:off x="8334375" y="1819275"/>
              <a:ext cx="333300" cy="0"/>
            </a:xfrm>
            <a:prstGeom prst="straightConnector1">
              <a:avLst/>
            </a:prstGeom>
            <a:solidFill>
              <a:srgbClr val="FFFFFF"/>
            </a:solidFill>
            <a:ln cap="flat" cmpd="sng" w="97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" name="Google Shape;75;p5"/>
            <p:cNvSpPr/>
            <p:nvPr/>
          </p:nvSpPr>
          <p:spPr>
            <a:xfrm>
              <a:off x="8715375" y="1714500"/>
              <a:ext cx="209700" cy="209700"/>
            </a:xfrm>
            <a:prstGeom prst="roundRect">
              <a:avLst>
                <a:gd fmla="val 18181" name="adj"/>
              </a:avLst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8763000" y="1762125"/>
              <a:ext cx="114300" cy="114300"/>
            </a:xfrm>
            <a:prstGeom prst="rect">
              <a:avLst/>
            </a:prstGeom>
            <a:solidFill>
              <a:srgbClr val="00A6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5"/>
            <p:cNvSpPr txBox="1"/>
            <p:nvPr/>
          </p:nvSpPr>
          <p:spPr>
            <a:xfrm>
              <a:off x="8524875" y="1952625"/>
              <a:ext cx="5907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96">
                  <a:solidFill>
                    <a:srgbClr val="1F2937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Post-Processor</a:t>
              </a:r>
              <a:endParaRPr b="1" sz="696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cxnSp>
          <p:nvCxnSpPr>
            <p:cNvPr id="78" name="Google Shape;78;p5"/>
            <p:cNvCxnSpPr/>
            <p:nvPr/>
          </p:nvCxnSpPr>
          <p:spPr>
            <a:xfrm>
              <a:off x="8953500" y="1819275"/>
              <a:ext cx="333300" cy="0"/>
            </a:xfrm>
            <a:prstGeom prst="straightConnector1">
              <a:avLst/>
            </a:prstGeom>
            <a:solidFill>
              <a:srgbClr val="FFFFFF"/>
            </a:solidFill>
            <a:ln cap="flat" cmpd="sng" w="97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" name="Google Shape;79;p5"/>
            <p:cNvSpPr/>
            <p:nvPr/>
          </p:nvSpPr>
          <p:spPr>
            <a:xfrm>
              <a:off x="9334500" y="1714500"/>
              <a:ext cx="209700" cy="209700"/>
            </a:xfrm>
            <a:prstGeom prst="roundRect">
              <a:avLst>
                <a:gd fmla="val 18181" name="adj"/>
              </a:avLst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9382125" y="1762125"/>
              <a:ext cx="114300" cy="114300"/>
            </a:xfrm>
            <a:prstGeom prst="rect">
              <a:avLst/>
            </a:prstGeom>
            <a:solidFill>
              <a:srgbClr val="00A6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 txBox="1"/>
            <p:nvPr/>
          </p:nvSpPr>
          <p:spPr>
            <a:xfrm>
              <a:off x="9239250" y="1952625"/>
              <a:ext cx="4002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19">
                  <a:solidFill>
                    <a:srgbClr val="1F2937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G-code</a:t>
              </a:r>
              <a:endParaRPr b="1" sz="819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cxnSp>
          <p:nvCxnSpPr>
            <p:cNvPr id="82" name="Google Shape;82;p5"/>
            <p:cNvCxnSpPr/>
            <p:nvPr/>
          </p:nvCxnSpPr>
          <p:spPr>
            <a:xfrm>
              <a:off x="9572625" y="1819275"/>
              <a:ext cx="333300" cy="0"/>
            </a:xfrm>
            <a:prstGeom prst="straightConnector1">
              <a:avLst/>
            </a:prstGeom>
            <a:solidFill>
              <a:srgbClr val="FFFFFF"/>
            </a:solidFill>
            <a:ln cap="flat" cmpd="sng" w="97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3" name="Google Shape;83;p5"/>
            <p:cNvSpPr/>
            <p:nvPr/>
          </p:nvSpPr>
          <p:spPr>
            <a:xfrm>
              <a:off x="9953625" y="1714500"/>
              <a:ext cx="209700" cy="209700"/>
            </a:xfrm>
            <a:prstGeom prst="roundRect">
              <a:avLst>
                <a:gd fmla="val 18181" name="adj"/>
              </a:avLst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10001250" y="1762125"/>
              <a:ext cx="114300" cy="114300"/>
            </a:xfrm>
            <a:prstGeom prst="rect">
              <a:avLst/>
            </a:prstGeom>
            <a:solidFill>
              <a:srgbClr val="00A6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9810750" y="1952625"/>
              <a:ext cx="495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57">
                  <a:solidFill>
                    <a:srgbClr val="1F2937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CNC Controller</a:t>
              </a:r>
              <a:endParaRPr b="1" sz="757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7469459" y="3341095"/>
            <a:ext cx="4435831" cy="1460563"/>
            <a:chOff x="7397753" y="2571750"/>
            <a:chExt cx="4381500" cy="1047900"/>
          </a:xfrm>
        </p:grpSpPr>
        <p:sp>
          <p:nvSpPr>
            <p:cNvPr id="87" name="Google Shape;87;p5"/>
            <p:cNvSpPr/>
            <p:nvPr/>
          </p:nvSpPr>
          <p:spPr>
            <a:xfrm>
              <a:off x="7397753" y="2571750"/>
              <a:ext cx="4381500" cy="1047900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5"/>
            <p:cNvSpPr txBox="1"/>
            <p:nvPr/>
          </p:nvSpPr>
          <p:spPr>
            <a:xfrm>
              <a:off x="7397753" y="2600325"/>
              <a:ext cx="438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95">
                  <a:solidFill>
                    <a:srgbClr val="C10007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Robotic Milling Pipeline</a:t>
              </a:r>
              <a:endParaRPr b="1" sz="895">
                <a:solidFill>
                  <a:srgbClr val="C10007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7477125" y="2905125"/>
              <a:ext cx="209700" cy="209700"/>
            </a:xfrm>
            <a:prstGeom prst="roundRect">
              <a:avLst>
                <a:gd fmla="val 18181" name="adj"/>
              </a:avLst>
            </a:prstGeom>
            <a:solidFill>
              <a:srgbClr val="FFED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7524750" y="2952750"/>
              <a:ext cx="114300" cy="114300"/>
            </a:xfrm>
            <a:prstGeom prst="rect">
              <a:avLst/>
            </a:prstGeom>
            <a:solidFill>
              <a:srgbClr val="F549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5"/>
            <p:cNvSpPr txBox="1"/>
            <p:nvPr/>
          </p:nvSpPr>
          <p:spPr>
            <a:xfrm>
              <a:off x="7429500" y="3143250"/>
              <a:ext cx="3048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19">
                  <a:solidFill>
                    <a:srgbClr val="1F2937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CAD</a:t>
              </a:r>
              <a:endParaRPr b="1" sz="819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cxnSp>
          <p:nvCxnSpPr>
            <p:cNvPr id="92" name="Google Shape;92;p5"/>
            <p:cNvCxnSpPr/>
            <p:nvPr/>
          </p:nvCxnSpPr>
          <p:spPr>
            <a:xfrm>
              <a:off x="7715250" y="3009900"/>
              <a:ext cx="333300" cy="0"/>
            </a:xfrm>
            <a:prstGeom prst="straightConnector1">
              <a:avLst/>
            </a:prstGeom>
            <a:solidFill>
              <a:srgbClr val="FFFFFF"/>
            </a:solidFill>
            <a:ln cap="flat" cmpd="sng" w="97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3" name="Google Shape;93;p5"/>
            <p:cNvSpPr/>
            <p:nvPr/>
          </p:nvSpPr>
          <p:spPr>
            <a:xfrm>
              <a:off x="8096250" y="2905125"/>
              <a:ext cx="209700" cy="209700"/>
            </a:xfrm>
            <a:prstGeom prst="roundRect">
              <a:avLst>
                <a:gd fmla="val 18181" name="adj"/>
              </a:avLst>
            </a:prstGeom>
            <a:solidFill>
              <a:srgbClr val="FFED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8143875" y="2952750"/>
              <a:ext cx="114300" cy="114300"/>
            </a:xfrm>
            <a:prstGeom prst="rect">
              <a:avLst/>
            </a:prstGeom>
            <a:solidFill>
              <a:srgbClr val="F549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5"/>
            <p:cNvSpPr txBox="1"/>
            <p:nvPr/>
          </p:nvSpPr>
          <p:spPr>
            <a:xfrm>
              <a:off x="8048625" y="3143250"/>
              <a:ext cx="3048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19">
                  <a:solidFill>
                    <a:srgbClr val="1F2937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CAM</a:t>
              </a:r>
              <a:endParaRPr b="1" sz="819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cxnSp>
          <p:nvCxnSpPr>
            <p:cNvPr id="96" name="Google Shape;96;p5"/>
            <p:cNvCxnSpPr/>
            <p:nvPr/>
          </p:nvCxnSpPr>
          <p:spPr>
            <a:xfrm>
              <a:off x="8334375" y="3009900"/>
              <a:ext cx="333300" cy="0"/>
            </a:xfrm>
            <a:prstGeom prst="straightConnector1">
              <a:avLst/>
            </a:prstGeom>
            <a:solidFill>
              <a:srgbClr val="FFFFFF"/>
            </a:solidFill>
            <a:ln cap="flat" cmpd="sng" w="97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" name="Google Shape;97;p5"/>
            <p:cNvSpPr/>
            <p:nvPr/>
          </p:nvSpPr>
          <p:spPr>
            <a:xfrm>
              <a:off x="8715375" y="2905125"/>
              <a:ext cx="209700" cy="209700"/>
            </a:xfrm>
            <a:prstGeom prst="roundRect">
              <a:avLst>
                <a:gd fmla="val 18181" name="adj"/>
              </a:avLst>
            </a:prstGeom>
            <a:solidFill>
              <a:srgbClr val="FF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8763000" y="2952750"/>
              <a:ext cx="114300" cy="114300"/>
            </a:xfrm>
            <a:prstGeom prst="rect">
              <a:avLst/>
            </a:prstGeom>
            <a:solidFill>
              <a:srgbClr val="E700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5"/>
            <p:cNvSpPr txBox="1"/>
            <p:nvPr/>
          </p:nvSpPr>
          <p:spPr>
            <a:xfrm>
              <a:off x="8524875" y="3143250"/>
              <a:ext cx="5907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96">
                  <a:solidFill>
                    <a:srgbClr val="1F2937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Post-Processor</a:t>
              </a:r>
              <a:endParaRPr b="1" sz="696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cxnSp>
          <p:nvCxnSpPr>
            <p:cNvPr id="100" name="Google Shape;100;p5"/>
            <p:cNvCxnSpPr/>
            <p:nvPr/>
          </p:nvCxnSpPr>
          <p:spPr>
            <a:xfrm>
              <a:off x="8953500" y="3009900"/>
              <a:ext cx="333300" cy="0"/>
            </a:xfrm>
            <a:prstGeom prst="straightConnector1">
              <a:avLst/>
            </a:prstGeom>
            <a:solidFill>
              <a:srgbClr val="FFFFFF"/>
            </a:solidFill>
            <a:ln cap="flat" cmpd="sng" w="19500">
              <a:solidFill>
                <a:srgbClr val="E7000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1" name="Google Shape;101;p5"/>
            <p:cNvSpPr/>
            <p:nvPr/>
          </p:nvSpPr>
          <p:spPr>
            <a:xfrm>
              <a:off x="9334500" y="2905125"/>
              <a:ext cx="209700" cy="209700"/>
            </a:xfrm>
            <a:prstGeom prst="roundRect">
              <a:avLst>
                <a:gd fmla="val 18181" name="adj"/>
              </a:avLst>
            </a:prstGeom>
            <a:solidFill>
              <a:srgbClr val="FF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9382125" y="2952750"/>
              <a:ext cx="114300" cy="114300"/>
            </a:xfrm>
            <a:prstGeom prst="rect">
              <a:avLst/>
            </a:prstGeom>
            <a:solidFill>
              <a:srgbClr val="E700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5"/>
            <p:cNvSpPr txBox="1"/>
            <p:nvPr/>
          </p:nvSpPr>
          <p:spPr>
            <a:xfrm>
              <a:off x="9191625" y="3143250"/>
              <a:ext cx="4953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96">
                  <a:solidFill>
                    <a:srgbClr val="1F2937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Joint + TCP</a:t>
              </a:r>
              <a:endParaRPr b="1" sz="696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cxnSp>
          <p:nvCxnSpPr>
            <p:cNvPr id="104" name="Google Shape;104;p5"/>
            <p:cNvCxnSpPr/>
            <p:nvPr/>
          </p:nvCxnSpPr>
          <p:spPr>
            <a:xfrm>
              <a:off x="9572625" y="3009900"/>
              <a:ext cx="333300" cy="0"/>
            </a:xfrm>
            <a:prstGeom prst="straightConnector1">
              <a:avLst/>
            </a:prstGeom>
            <a:solidFill>
              <a:srgbClr val="FFFFFF"/>
            </a:solidFill>
            <a:ln cap="flat" cmpd="sng" w="19500">
              <a:solidFill>
                <a:srgbClr val="E7000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" name="Google Shape;105;p5"/>
            <p:cNvSpPr/>
            <p:nvPr/>
          </p:nvSpPr>
          <p:spPr>
            <a:xfrm>
              <a:off x="9953625" y="2905125"/>
              <a:ext cx="209700" cy="209700"/>
            </a:xfrm>
            <a:prstGeom prst="roundRect">
              <a:avLst>
                <a:gd fmla="val 18181" name="adj"/>
              </a:avLst>
            </a:prstGeom>
            <a:solidFill>
              <a:srgbClr val="FF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10001250" y="2952750"/>
              <a:ext cx="114300" cy="114300"/>
            </a:xfrm>
            <a:prstGeom prst="rect">
              <a:avLst/>
            </a:prstGeom>
            <a:solidFill>
              <a:srgbClr val="E700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5"/>
            <p:cNvSpPr txBox="1"/>
            <p:nvPr/>
          </p:nvSpPr>
          <p:spPr>
            <a:xfrm>
              <a:off x="9810750" y="3143250"/>
              <a:ext cx="495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57">
                  <a:solidFill>
                    <a:srgbClr val="1F2937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Robot Controller</a:t>
              </a:r>
              <a:endParaRPr b="1" sz="757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</p:grpSp>
      <p:sp>
        <p:nvSpPr>
          <p:cNvPr id="108" name="Google Shape;108;p5"/>
          <p:cNvSpPr/>
          <p:nvPr/>
        </p:nvSpPr>
        <p:spPr>
          <a:xfrm>
            <a:off x="7380879" y="5000890"/>
            <a:ext cx="4613077" cy="1594485"/>
          </a:xfrm>
          <a:custGeom>
            <a:rect b="b" l="l" r="r" t="t"/>
            <a:pathLst>
              <a:path extrusionOk="0" h="1285875" w="4556125">
                <a:moveTo>
                  <a:pt x="63497" y="0"/>
                </a:moveTo>
                <a:lnTo>
                  <a:pt x="4492628" y="0"/>
                </a:lnTo>
                <a:cubicBezTo>
                  <a:pt x="4527697" y="0"/>
                  <a:pt x="4556125" y="28428"/>
                  <a:pt x="4556125" y="63497"/>
                </a:cubicBezTo>
                <a:lnTo>
                  <a:pt x="4556125" y="1222378"/>
                </a:lnTo>
                <a:cubicBezTo>
                  <a:pt x="4556125" y="1257447"/>
                  <a:pt x="4527697" y="1285875"/>
                  <a:pt x="4492628" y="1285875"/>
                </a:cubicBezTo>
                <a:lnTo>
                  <a:pt x="63497" y="1285875"/>
                </a:lnTo>
                <a:cubicBezTo>
                  <a:pt x="28428" y="1285875"/>
                  <a:pt x="0" y="1257447"/>
                  <a:pt x="0" y="1222378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gradFill>
            <a:gsLst>
              <a:gs pos="0">
                <a:srgbClr val="EFF6FF"/>
              </a:gs>
              <a:gs pos="100000">
                <a:srgbClr val="DBEAFE"/>
              </a:gs>
            </a:gsLst>
            <a:lin ang="0" scaled="0"/>
          </a:gradFill>
          <a:ln cap="flat" cmpd="sng" w="19500">
            <a:solidFill>
              <a:srgbClr val="8EC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7540148" y="5142206"/>
            <a:ext cx="3366900" cy="309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RoboDK: The Bridging Platform</a:t>
            </a:r>
            <a:endParaRPr b="1" i="0" u="none" strike="noStrike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7501430" y="5664722"/>
            <a:ext cx="148074" cy="132794"/>
          </a:xfrm>
          <a:custGeom>
            <a:rect b="b" l="l" r="r" t="t"/>
            <a:pathLst>
              <a:path extrusionOk="0" h="111125" w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11" name="Google Shape;111;p5"/>
          <p:cNvSpPr/>
          <p:nvPr/>
        </p:nvSpPr>
        <p:spPr>
          <a:xfrm>
            <a:off x="7723461" y="5602450"/>
            <a:ext cx="2652000" cy="1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Accepts toolpaths from Fusion 360</a:t>
            </a:r>
            <a:endParaRPr sz="1000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501430" y="5890425"/>
            <a:ext cx="148074" cy="132794"/>
          </a:xfrm>
          <a:custGeom>
            <a:rect b="b" l="l" r="r" t="t"/>
            <a:pathLst>
              <a:path extrusionOk="0" h="111125" w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13" name="Google Shape;113;p5"/>
          <p:cNvSpPr/>
          <p:nvPr/>
        </p:nvSpPr>
        <p:spPr>
          <a:xfrm>
            <a:off x="7723461" y="5828153"/>
            <a:ext cx="3059100" cy="1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Full kinematic simulation &amp; verification</a:t>
            </a:r>
            <a:endParaRPr sz="1000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501430" y="6116128"/>
            <a:ext cx="148074" cy="132794"/>
          </a:xfrm>
          <a:custGeom>
            <a:rect b="b" l="l" r="r" t="t"/>
            <a:pathLst>
              <a:path extrusionOk="0" h="111125" w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15" name="Google Shape;115;p5"/>
          <p:cNvSpPr/>
          <p:nvPr/>
        </p:nvSpPr>
        <p:spPr>
          <a:xfrm>
            <a:off x="7723461" y="6053856"/>
            <a:ext cx="2948100" cy="1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Generates controller-specific programs</a:t>
            </a:r>
            <a:endParaRPr sz="1000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501430" y="6341831"/>
            <a:ext cx="148074" cy="132794"/>
          </a:xfrm>
          <a:custGeom>
            <a:rect b="b" l="l" r="r" t="t"/>
            <a:pathLst>
              <a:path extrusionOk="0" h="111125" w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17" name="Google Shape;117;p5"/>
          <p:cNvSpPr/>
          <p:nvPr/>
        </p:nvSpPr>
        <p:spPr>
          <a:xfrm>
            <a:off x="7723461" y="6279559"/>
            <a:ext cx="3528000" cy="1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intervention point enabling this workflow</a:t>
            </a:r>
            <a:endParaRPr sz="1000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381000" y="447708"/>
            <a:ext cx="88964" cy="533781"/>
          </a:xfrm>
          <a:custGeom>
            <a:rect b="b" l="l" r="r" t="t"/>
            <a:pathLst>
              <a:path extrusionOk="0" h="457200" w="76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24" name="Google Shape;124;p6"/>
          <p:cNvSpPr/>
          <p:nvPr/>
        </p:nvSpPr>
        <p:spPr>
          <a:xfrm>
            <a:off x="603359" y="381000"/>
            <a:ext cx="39138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6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1 — Introduction &amp; Objectives</a:t>
            </a:r>
            <a:endParaRPr b="0" i="0" sz="1868" u="none" cap="none" strike="noStrike"/>
          </a:p>
        </p:txBody>
      </p:sp>
      <p:sp>
        <p:nvSpPr>
          <p:cNvPr id="125" name="Google Shape;125;p6"/>
          <p:cNvSpPr/>
          <p:nvPr/>
        </p:nvSpPr>
        <p:spPr>
          <a:xfrm>
            <a:off x="603359" y="603359"/>
            <a:ext cx="40359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2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Research Objectives</a:t>
            </a:r>
            <a:endParaRPr b="0" i="0" sz="1868" u="none" cap="none" strike="noStrike"/>
          </a:p>
        </p:txBody>
      </p:sp>
      <p:sp>
        <p:nvSpPr>
          <p:cNvPr id="126" name="Google Shape;126;p6"/>
          <p:cNvSpPr/>
          <p:nvPr/>
        </p:nvSpPr>
        <p:spPr>
          <a:xfrm>
            <a:off x="2689820" y="2137877"/>
            <a:ext cx="2190750" cy="2724150"/>
          </a:xfrm>
          <a:custGeom>
            <a:rect b="b" l="l" r="r" t="t"/>
            <a:pathLst>
              <a:path extrusionOk="0" h="2724150" w="219075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2647956"/>
                </a:lnTo>
                <a:cubicBezTo>
                  <a:pt x="2190750" y="2690037"/>
                  <a:pt x="2156637" y="2724150"/>
                  <a:pt x="2114556" y="2724150"/>
                </a:cubicBezTo>
                <a:lnTo>
                  <a:pt x="76194" y="2724150"/>
                </a:lnTo>
                <a:cubicBezTo>
                  <a:pt x="34142" y="2724150"/>
                  <a:pt x="0" y="2690008"/>
                  <a:pt x="0" y="26479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EFF6FF"/>
              </a:gs>
              <a:gs pos="100000">
                <a:srgbClr val="DBEAFE"/>
              </a:gs>
            </a:gsLst>
            <a:lin ang="2700000" scaled="0"/>
          </a:gradFill>
          <a:ln>
            <a:noFill/>
          </a:ln>
          <a:effectLst>
            <a:outerShdw blurRad="5715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2689820" y="2137877"/>
            <a:ext cx="2190750" cy="38100"/>
          </a:xfrm>
          <a:custGeom>
            <a:rect b="b" l="l" r="r" t="t"/>
            <a:pathLst>
              <a:path extrusionOk="0" h="38100" w="219075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2848629" y="2315736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2801004" y="2297932"/>
            <a:ext cx="47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</a:t>
            </a:r>
            <a:endParaRPr b="0" i="0" sz="1600" u="none" cap="none" strike="noStrike"/>
          </a:p>
        </p:txBody>
      </p:sp>
      <p:sp>
        <p:nvSpPr>
          <p:cNvPr id="130" name="Google Shape;130;p6"/>
          <p:cNvSpPr/>
          <p:nvPr/>
        </p:nvSpPr>
        <p:spPr>
          <a:xfrm>
            <a:off x="3305829" y="2372886"/>
            <a:ext cx="1333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TCP Calibration</a:t>
            </a:r>
            <a:endParaRPr b="0" i="0" sz="1600" u="none" cap="none" strike="noStrike"/>
          </a:p>
        </p:txBody>
      </p:sp>
      <p:sp>
        <p:nvSpPr>
          <p:cNvPr id="131" name="Google Shape;131;p6"/>
          <p:cNvSpPr/>
          <p:nvPr/>
        </p:nvSpPr>
        <p:spPr>
          <a:xfrm>
            <a:off x="2804120" y="2728427"/>
            <a:ext cx="2038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Characterize and resolve TCP-to-flange calibration for spindle-mounted milling tool, including handle geometry challenges and pose variability</a:t>
            </a:r>
            <a:endParaRPr b="0" i="0" sz="1600" u="none" cap="none" strike="noStrike"/>
          </a:p>
        </p:txBody>
      </p:sp>
      <p:sp>
        <p:nvSpPr>
          <p:cNvPr id="132" name="Google Shape;132;p6"/>
          <p:cNvSpPr/>
          <p:nvPr/>
        </p:nvSpPr>
        <p:spPr>
          <a:xfrm>
            <a:off x="7307560" y="2137877"/>
            <a:ext cx="2190750" cy="2724150"/>
          </a:xfrm>
          <a:custGeom>
            <a:rect b="b" l="l" r="r" t="t"/>
            <a:pathLst>
              <a:path extrusionOk="0" h="2724150" w="219075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2647956"/>
                </a:lnTo>
                <a:cubicBezTo>
                  <a:pt x="2190750" y="2690037"/>
                  <a:pt x="2156637" y="2724150"/>
                  <a:pt x="2114556" y="2724150"/>
                </a:cubicBezTo>
                <a:lnTo>
                  <a:pt x="76194" y="2724150"/>
                </a:lnTo>
                <a:cubicBezTo>
                  <a:pt x="34142" y="2724150"/>
                  <a:pt x="0" y="2690008"/>
                  <a:pt x="0" y="26479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FEF2F2"/>
              </a:gs>
              <a:gs pos="100000">
                <a:srgbClr val="FFE2E2"/>
              </a:gs>
            </a:gsLst>
            <a:lin ang="2700000" scaled="0"/>
          </a:gradFill>
          <a:ln>
            <a:noFill/>
          </a:ln>
          <a:effectLst>
            <a:outerShdw blurRad="5715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7307560" y="2137877"/>
            <a:ext cx="2190750" cy="38100"/>
          </a:xfrm>
          <a:custGeom>
            <a:rect b="b" l="l" r="r" t="t"/>
            <a:pathLst>
              <a:path extrusionOk="0" h="38100" w="219075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7421860" y="2347427"/>
            <a:ext cx="342900" cy="381000"/>
          </a:xfrm>
          <a:custGeom>
            <a:rect b="b" l="l" r="r" t="t"/>
            <a:pathLst>
              <a:path extrusionOk="0" h="381000" w="342900">
                <a:moveTo>
                  <a:pt x="171450" y="0"/>
                </a:moveTo>
                <a:lnTo>
                  <a:pt x="171450" y="0"/>
                </a:lnTo>
                <a:cubicBezTo>
                  <a:pt x="266076" y="0"/>
                  <a:pt x="342900" y="76824"/>
                  <a:pt x="342900" y="171450"/>
                </a:cubicBezTo>
                <a:lnTo>
                  <a:pt x="342900" y="209550"/>
                </a:lnTo>
                <a:cubicBezTo>
                  <a:pt x="342900" y="304176"/>
                  <a:pt x="266076" y="381000"/>
                  <a:pt x="171450" y="381000"/>
                </a:cubicBezTo>
                <a:lnTo>
                  <a:pt x="171450" y="381000"/>
                </a:lnTo>
                <a:cubicBezTo>
                  <a:pt x="76824" y="381000"/>
                  <a:pt x="0" y="304176"/>
                  <a:pt x="0" y="2095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7374235" y="2320721"/>
            <a:ext cx="438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4</a:t>
            </a:r>
            <a:endParaRPr b="0" i="0" sz="1600" u="none" cap="none" strike="noStrike"/>
          </a:p>
        </p:txBody>
      </p:sp>
      <p:sp>
        <p:nvSpPr>
          <p:cNvPr id="136" name="Google Shape;136;p6"/>
          <p:cNvSpPr/>
          <p:nvPr/>
        </p:nvSpPr>
        <p:spPr>
          <a:xfrm>
            <a:off x="7840960" y="2271227"/>
            <a:ext cx="1628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Failure </a:t>
            </a:r>
            <a:r>
              <a:rPr b="1" lang="en-US" sz="135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Identification</a:t>
            </a:r>
            <a:endParaRPr b="0" i="0" sz="1600" u="none" cap="none" strike="noStrike"/>
          </a:p>
        </p:txBody>
      </p:sp>
      <p:sp>
        <p:nvSpPr>
          <p:cNvPr id="137" name="Google Shape;137;p6"/>
          <p:cNvSpPr/>
          <p:nvPr/>
        </p:nvSpPr>
        <p:spPr>
          <a:xfrm>
            <a:off x="7421860" y="2880827"/>
            <a:ext cx="2038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Identify, document, and resolve systematic failure modes in code export, file parsing, and controller upload pipeline</a:t>
            </a:r>
            <a:endParaRPr b="0" i="0" sz="1600" u="none" cap="none" strike="noStrike"/>
          </a:p>
        </p:txBody>
      </p:sp>
      <p:sp>
        <p:nvSpPr>
          <p:cNvPr id="138" name="Google Shape;138;p6"/>
          <p:cNvSpPr/>
          <p:nvPr/>
        </p:nvSpPr>
        <p:spPr>
          <a:xfrm>
            <a:off x="9616380" y="2137877"/>
            <a:ext cx="2190750" cy="2724150"/>
          </a:xfrm>
          <a:custGeom>
            <a:rect b="b" l="l" r="r" t="t"/>
            <a:pathLst>
              <a:path extrusionOk="0" h="2724150" w="219075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2647956"/>
                </a:lnTo>
                <a:cubicBezTo>
                  <a:pt x="2190750" y="2690037"/>
                  <a:pt x="2156637" y="2724150"/>
                  <a:pt x="2114556" y="2724150"/>
                </a:cubicBezTo>
                <a:lnTo>
                  <a:pt x="76194" y="2724150"/>
                </a:lnTo>
                <a:cubicBezTo>
                  <a:pt x="34142" y="2724150"/>
                  <a:pt x="0" y="2690008"/>
                  <a:pt x="0" y="26479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FAF5FF"/>
              </a:gs>
              <a:gs pos="100000">
                <a:srgbClr val="F3E8FF"/>
              </a:gs>
            </a:gsLst>
            <a:lin ang="2700000" scaled="0"/>
          </a:gradFill>
          <a:ln>
            <a:noFill/>
          </a:ln>
          <a:effectLst>
            <a:outerShdw blurRad="5715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9616380" y="2137877"/>
            <a:ext cx="2190750" cy="38100"/>
          </a:xfrm>
          <a:custGeom>
            <a:rect b="b" l="l" r="r" t="t"/>
            <a:pathLst>
              <a:path extrusionOk="0" h="38100" w="219075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81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9730680" y="2271227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981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9683055" y="2253423"/>
            <a:ext cx="47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5</a:t>
            </a:r>
            <a:endParaRPr b="0" i="0" sz="1600" u="none" cap="none" strike="noStrike"/>
          </a:p>
        </p:txBody>
      </p:sp>
      <p:sp>
        <p:nvSpPr>
          <p:cNvPr id="142" name="Google Shape;142;p6"/>
          <p:cNvSpPr/>
          <p:nvPr/>
        </p:nvSpPr>
        <p:spPr>
          <a:xfrm>
            <a:off x="10187880" y="2328377"/>
            <a:ext cx="1543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API-Based Analysis</a:t>
            </a:r>
            <a:endParaRPr b="0" i="0" sz="1600" u="none" cap="none" strike="noStrike"/>
          </a:p>
        </p:txBody>
      </p:sp>
      <p:sp>
        <p:nvSpPr>
          <p:cNvPr id="143" name="Google Shape;143;p6"/>
          <p:cNvSpPr/>
          <p:nvPr/>
        </p:nvSpPr>
        <p:spPr>
          <a:xfrm>
            <a:off x="9730680" y="2728427"/>
            <a:ext cx="2038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Lay computational groundwork for jerk and stiffness analysis using RoboDK Python API for dynamic performance optimization</a:t>
            </a:r>
            <a:endParaRPr b="0" i="0" sz="1600" u="none" cap="none" strike="noStrike"/>
          </a:p>
        </p:txBody>
      </p:sp>
      <p:sp>
        <p:nvSpPr>
          <p:cNvPr id="144" name="Google Shape;144;p6"/>
          <p:cNvSpPr/>
          <p:nvPr/>
        </p:nvSpPr>
        <p:spPr>
          <a:xfrm>
            <a:off x="360767" y="2137877"/>
            <a:ext cx="2190750" cy="2724150"/>
          </a:xfrm>
          <a:custGeom>
            <a:rect b="b" l="l" r="r" t="t"/>
            <a:pathLst>
              <a:path extrusionOk="0" h="2724150" w="219075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2647956"/>
                </a:lnTo>
                <a:cubicBezTo>
                  <a:pt x="2190750" y="2690037"/>
                  <a:pt x="2156637" y="2724150"/>
                  <a:pt x="2114556" y="2724150"/>
                </a:cubicBezTo>
                <a:lnTo>
                  <a:pt x="76194" y="2724150"/>
                </a:lnTo>
                <a:cubicBezTo>
                  <a:pt x="34142" y="2724150"/>
                  <a:pt x="0" y="2690008"/>
                  <a:pt x="0" y="26479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F0FDF4"/>
              </a:gs>
              <a:gs pos="100000">
                <a:srgbClr val="DCFCE7"/>
              </a:gs>
            </a:gsLst>
            <a:lin ang="2700006" scaled="0"/>
          </a:gradFill>
          <a:ln>
            <a:noFill/>
          </a:ln>
          <a:effectLst>
            <a:outerShdw blurRad="57150" rotWithShape="0" algn="bl" dir="54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360767" y="2137877"/>
            <a:ext cx="2190750" cy="38100"/>
          </a:xfrm>
          <a:custGeom>
            <a:rect b="b" l="l" r="r" t="t"/>
            <a:pathLst>
              <a:path extrusionOk="0" h="38100" w="219075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75067" y="2347427"/>
            <a:ext cx="371475" cy="381000"/>
          </a:xfrm>
          <a:custGeom>
            <a:rect b="b" l="l" r="r" t="t"/>
            <a:pathLst>
              <a:path extrusionOk="0" h="381000" w="371475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95263"/>
                </a:lnTo>
                <a:cubicBezTo>
                  <a:pt x="371475" y="297774"/>
                  <a:pt x="288249" y="381000"/>
                  <a:pt x="185738" y="381000"/>
                </a:cubicBezTo>
                <a:lnTo>
                  <a:pt x="185738" y="381000"/>
                </a:lnTo>
                <a:cubicBezTo>
                  <a:pt x="83226" y="381000"/>
                  <a:pt x="0" y="297774"/>
                  <a:pt x="0" y="195263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27442" y="2320721"/>
            <a:ext cx="466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</a:t>
            </a:r>
            <a:endParaRPr b="0" i="0" sz="1600" u="none" cap="none" strike="noStrike"/>
          </a:p>
        </p:txBody>
      </p:sp>
      <p:sp>
        <p:nvSpPr>
          <p:cNvPr id="148" name="Google Shape;148;p6"/>
          <p:cNvSpPr/>
          <p:nvPr/>
        </p:nvSpPr>
        <p:spPr>
          <a:xfrm>
            <a:off x="925818" y="2271227"/>
            <a:ext cx="1600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Toolpath Exploration and Selection</a:t>
            </a:r>
            <a:endParaRPr b="0" i="0" sz="1600" u="none" cap="none" strike="noStrike"/>
          </a:p>
        </p:txBody>
      </p:sp>
      <p:sp>
        <p:nvSpPr>
          <p:cNvPr id="149" name="Google Shape;149;p6"/>
          <p:cNvSpPr/>
          <p:nvPr/>
        </p:nvSpPr>
        <p:spPr>
          <a:xfrm>
            <a:off x="44503" y="3183502"/>
            <a:ext cx="246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Investigate and compare different toolpath strategies in Fusion 360, analyzing their suitability for various geometries and identifying optimal toolpaths for accurate and efficient machining.</a:t>
            </a:r>
            <a:endParaRPr sz="1200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001071" y="2137877"/>
            <a:ext cx="2190750" cy="2724150"/>
          </a:xfrm>
          <a:custGeom>
            <a:rect b="b" l="l" r="r" t="t"/>
            <a:pathLst>
              <a:path extrusionOk="0" h="2724150" w="219075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2647956"/>
                </a:lnTo>
                <a:cubicBezTo>
                  <a:pt x="2190750" y="2690037"/>
                  <a:pt x="2156637" y="2724150"/>
                  <a:pt x="2114556" y="2724150"/>
                </a:cubicBezTo>
                <a:lnTo>
                  <a:pt x="76194" y="2724150"/>
                </a:lnTo>
                <a:cubicBezTo>
                  <a:pt x="34142" y="2724150"/>
                  <a:pt x="0" y="2690008"/>
                  <a:pt x="0" y="26479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FFF7ED"/>
              </a:gs>
              <a:gs pos="100000">
                <a:srgbClr val="FFEDD4"/>
              </a:gs>
            </a:gsLst>
            <a:lin ang="2700006" scaled="0"/>
          </a:gradFill>
          <a:ln>
            <a:noFill/>
          </a:ln>
          <a:effectLst>
            <a:outerShdw blurRad="57150" rotWithShape="0" algn="bl" dir="54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5001071" y="2137877"/>
            <a:ext cx="2190750" cy="38100"/>
          </a:xfrm>
          <a:custGeom>
            <a:rect b="b" l="l" r="r" t="t"/>
            <a:pathLst>
              <a:path extrusionOk="0" h="38100" w="219075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5115371" y="2347427"/>
            <a:ext cx="361950" cy="381000"/>
          </a:xfrm>
          <a:custGeom>
            <a:rect b="b" l="l" r="r" t="t"/>
            <a:pathLst>
              <a:path extrusionOk="0" h="381000" w="361950">
                <a:moveTo>
                  <a:pt x="180975" y="0"/>
                </a:moveTo>
                <a:lnTo>
                  <a:pt x="180975" y="0"/>
                </a:lnTo>
                <a:cubicBezTo>
                  <a:pt x="280858" y="0"/>
                  <a:pt x="361950" y="81092"/>
                  <a:pt x="361950" y="180975"/>
                </a:cubicBezTo>
                <a:lnTo>
                  <a:pt x="361950" y="200025"/>
                </a:lnTo>
                <a:cubicBezTo>
                  <a:pt x="361950" y="299908"/>
                  <a:pt x="280858" y="381000"/>
                  <a:pt x="180975" y="381000"/>
                </a:cubicBezTo>
                <a:lnTo>
                  <a:pt x="180975" y="381000"/>
                </a:lnTo>
                <a:cubicBezTo>
                  <a:pt x="81092" y="381000"/>
                  <a:pt x="0" y="299908"/>
                  <a:pt x="0" y="200025"/>
                </a:cubicBezTo>
                <a:lnTo>
                  <a:pt x="0" y="180975"/>
                </a:lnTo>
                <a:cubicBezTo>
                  <a:pt x="0" y="81092"/>
                  <a:pt x="81092" y="0"/>
                  <a:pt x="180975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5067746" y="2311819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</a:t>
            </a:r>
            <a:endParaRPr b="0" i="0" sz="1600" u="none" cap="none" strike="noStrike"/>
          </a:p>
        </p:txBody>
      </p:sp>
      <p:sp>
        <p:nvSpPr>
          <p:cNvPr id="154" name="Google Shape;154;p6"/>
          <p:cNvSpPr/>
          <p:nvPr/>
        </p:nvSpPr>
        <p:spPr>
          <a:xfrm>
            <a:off x="5557688" y="2271227"/>
            <a:ext cx="1609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Workflow Validation</a:t>
            </a:r>
            <a:endParaRPr b="0" i="0" sz="1600" u="none" cap="none" strike="noStrike"/>
          </a:p>
        </p:txBody>
      </p:sp>
      <p:sp>
        <p:nvSpPr>
          <p:cNvPr id="155" name="Google Shape;155;p6"/>
          <p:cNvSpPr/>
          <p:nvPr/>
        </p:nvSpPr>
        <p:spPr>
          <a:xfrm>
            <a:off x="5115371" y="2880827"/>
            <a:ext cx="2038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Establish validated end-to-end simulation-based workflow from Fusion 360 CAD/CAM to physically executable motion programs on a Mitsubishi robot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/>
          <p:nvPr/>
        </p:nvSpPr>
        <p:spPr>
          <a:xfrm>
            <a:off x="337729" y="388388"/>
            <a:ext cx="67546" cy="405274"/>
          </a:xfrm>
          <a:custGeom>
            <a:rect b="b" l="l" r="r" t="t"/>
            <a:pathLst>
              <a:path extrusionOk="0" h="405274" w="67546">
                <a:moveTo>
                  <a:pt x="0" y="0"/>
                </a:moveTo>
                <a:lnTo>
                  <a:pt x="67546" y="0"/>
                </a:lnTo>
                <a:lnTo>
                  <a:pt x="67546" y="405274"/>
                </a:lnTo>
                <a:lnTo>
                  <a:pt x="0" y="40527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62" name="Google Shape;162;p7"/>
          <p:cNvSpPr/>
          <p:nvPr/>
        </p:nvSpPr>
        <p:spPr>
          <a:xfrm>
            <a:off x="506593" y="337729"/>
            <a:ext cx="47535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1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2 — Methodology</a:t>
            </a:r>
            <a:endParaRPr b="0" i="0" sz="1600" u="none" cap="none" strike="noStrike"/>
          </a:p>
        </p:txBody>
      </p:sp>
      <p:sp>
        <p:nvSpPr>
          <p:cNvPr id="163" name="Google Shape;163;p7"/>
          <p:cNvSpPr/>
          <p:nvPr/>
        </p:nvSpPr>
        <p:spPr>
          <a:xfrm>
            <a:off x="506593" y="506593"/>
            <a:ext cx="48465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3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End-to-End Workflow Architecture</a:t>
            </a:r>
            <a:endParaRPr b="0" i="0" sz="1600" u="none" cap="none" strike="noStrike"/>
          </a:p>
        </p:txBody>
      </p:sp>
      <p:sp>
        <p:nvSpPr>
          <p:cNvPr id="164" name="Google Shape;164;p7"/>
          <p:cNvSpPr/>
          <p:nvPr/>
        </p:nvSpPr>
        <p:spPr>
          <a:xfrm>
            <a:off x="337729" y="945640"/>
            <a:ext cx="11516543" cy="1789961"/>
          </a:xfrm>
          <a:custGeom>
            <a:rect b="b" l="l" r="r" t="t"/>
            <a:pathLst>
              <a:path extrusionOk="0" h="1789961" w="11516543">
                <a:moveTo>
                  <a:pt x="67553" y="0"/>
                </a:moveTo>
                <a:lnTo>
                  <a:pt x="11448990" y="0"/>
                </a:lnTo>
                <a:cubicBezTo>
                  <a:pt x="11486298" y="0"/>
                  <a:pt x="11516543" y="30245"/>
                  <a:pt x="11516543" y="67553"/>
                </a:cubicBezTo>
                <a:lnTo>
                  <a:pt x="11516543" y="1722408"/>
                </a:lnTo>
                <a:cubicBezTo>
                  <a:pt x="11516543" y="1759717"/>
                  <a:pt x="11486298" y="1789961"/>
                  <a:pt x="11448990" y="1789961"/>
                </a:cubicBezTo>
                <a:lnTo>
                  <a:pt x="67553" y="1789961"/>
                </a:lnTo>
                <a:cubicBezTo>
                  <a:pt x="30245" y="1789961"/>
                  <a:pt x="0" y="1759717"/>
                  <a:pt x="0" y="1722408"/>
                </a:cubicBezTo>
                <a:lnTo>
                  <a:pt x="0" y="67553"/>
                </a:lnTo>
                <a:cubicBezTo>
                  <a:pt x="0" y="30245"/>
                  <a:pt x="30245" y="0"/>
                  <a:pt x="6755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659" rotWithShape="0" algn="bl" dir="5400000" dist="33773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396831" y="1046958"/>
            <a:ext cx="113982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Complete Pipeline — Four Major Stages</a:t>
            </a:r>
            <a:endParaRPr b="0" i="0" sz="1600" u="none" cap="none" strike="noStrike"/>
          </a:p>
        </p:txBody>
      </p:sp>
      <p:sp>
        <p:nvSpPr>
          <p:cNvPr id="166" name="Google Shape;166;p7"/>
          <p:cNvSpPr/>
          <p:nvPr/>
        </p:nvSpPr>
        <p:spPr>
          <a:xfrm>
            <a:off x="447490" y="1359360"/>
            <a:ext cx="2271224" cy="1266482"/>
          </a:xfrm>
          <a:custGeom>
            <a:rect b="b" l="l" r="r" t="t"/>
            <a:pathLst>
              <a:path extrusionOk="0" h="1266482" w="2271224">
                <a:moveTo>
                  <a:pt x="67541" y="0"/>
                </a:moveTo>
                <a:lnTo>
                  <a:pt x="2203683" y="0"/>
                </a:lnTo>
                <a:cubicBezTo>
                  <a:pt x="2240985" y="0"/>
                  <a:pt x="2271224" y="30239"/>
                  <a:pt x="2271224" y="67541"/>
                </a:cubicBezTo>
                <a:lnTo>
                  <a:pt x="2271224" y="1198941"/>
                </a:lnTo>
                <a:cubicBezTo>
                  <a:pt x="2271224" y="1236243"/>
                  <a:pt x="2240985" y="1266482"/>
                  <a:pt x="2203683" y="1266482"/>
                </a:cubicBezTo>
                <a:lnTo>
                  <a:pt x="67541" y="1266482"/>
                </a:lnTo>
                <a:cubicBezTo>
                  <a:pt x="30239" y="1266482"/>
                  <a:pt x="0" y="1236243"/>
                  <a:pt x="0" y="1198941"/>
                </a:cubicBezTo>
                <a:lnTo>
                  <a:pt x="0" y="67541"/>
                </a:lnTo>
                <a:cubicBezTo>
                  <a:pt x="0" y="30264"/>
                  <a:pt x="30264" y="0"/>
                  <a:pt x="67541" y="0"/>
                </a:cubicBezTo>
                <a:close/>
              </a:path>
            </a:pathLst>
          </a:custGeom>
          <a:gradFill>
            <a:gsLst>
              <a:gs pos="0">
                <a:srgbClr val="FFF7ED"/>
              </a:gs>
              <a:gs pos="100000">
                <a:srgbClr val="FFEDD4"/>
              </a:gs>
            </a:gsLst>
            <a:lin ang="0" scaled="0"/>
          </a:gradFill>
          <a:ln cap="flat" cmpd="sng" w="25400">
            <a:solidFill>
              <a:srgbClr val="FF89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1378353" y="1435351"/>
            <a:ext cx="405274" cy="405274"/>
          </a:xfrm>
          <a:custGeom>
            <a:rect b="b" l="l" r="r" t="t"/>
            <a:pathLst>
              <a:path extrusionOk="0" h="405274" w="405274">
                <a:moveTo>
                  <a:pt x="202637" y="0"/>
                </a:moveTo>
                <a:lnTo>
                  <a:pt x="202637" y="0"/>
                </a:lnTo>
                <a:cubicBezTo>
                  <a:pt x="314476" y="0"/>
                  <a:pt x="405274" y="90799"/>
                  <a:pt x="405274" y="202637"/>
                </a:cubicBezTo>
                <a:lnTo>
                  <a:pt x="405274" y="202637"/>
                </a:lnTo>
                <a:cubicBezTo>
                  <a:pt x="405274" y="314476"/>
                  <a:pt x="314476" y="405274"/>
                  <a:pt x="202637" y="405274"/>
                </a:cubicBezTo>
                <a:lnTo>
                  <a:pt x="202637" y="405274"/>
                </a:lnTo>
                <a:cubicBezTo>
                  <a:pt x="90799" y="405274"/>
                  <a:pt x="0" y="314476"/>
                  <a:pt x="0" y="202637"/>
                </a:cubicBezTo>
                <a:lnTo>
                  <a:pt x="0" y="202637"/>
                </a:lnTo>
                <a:cubicBezTo>
                  <a:pt x="0" y="90799"/>
                  <a:pt x="90799" y="0"/>
                  <a:pt x="202637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1496558" y="1553547"/>
            <a:ext cx="168864" cy="168864"/>
          </a:xfrm>
          <a:custGeom>
            <a:rect b="b" l="l" r="r" t="t"/>
            <a:pathLst>
              <a:path extrusionOk="0" h="168864" w="168864">
                <a:moveTo>
                  <a:pt x="73977" y="-825"/>
                </a:moveTo>
                <a:cubicBezTo>
                  <a:pt x="80507" y="-4584"/>
                  <a:pt x="88555" y="-4584"/>
                  <a:pt x="95085" y="-825"/>
                </a:cubicBezTo>
                <a:lnTo>
                  <a:pt x="153099" y="32651"/>
                </a:lnTo>
                <a:cubicBezTo>
                  <a:pt x="159630" y="36411"/>
                  <a:pt x="163653" y="43403"/>
                  <a:pt x="163653" y="50923"/>
                </a:cubicBezTo>
                <a:lnTo>
                  <a:pt x="163653" y="117875"/>
                </a:lnTo>
                <a:cubicBezTo>
                  <a:pt x="163653" y="125428"/>
                  <a:pt x="159630" y="132387"/>
                  <a:pt x="153099" y="136147"/>
                </a:cubicBezTo>
                <a:lnTo>
                  <a:pt x="95085" y="169689"/>
                </a:lnTo>
                <a:cubicBezTo>
                  <a:pt x="88555" y="173449"/>
                  <a:pt x="80507" y="173449"/>
                  <a:pt x="73977" y="169689"/>
                </a:cubicBezTo>
                <a:lnTo>
                  <a:pt x="15996" y="136213"/>
                </a:lnTo>
                <a:cubicBezTo>
                  <a:pt x="9466" y="132453"/>
                  <a:pt x="5442" y="125461"/>
                  <a:pt x="5442" y="117941"/>
                </a:cubicBezTo>
                <a:lnTo>
                  <a:pt x="5442" y="50989"/>
                </a:lnTo>
                <a:cubicBezTo>
                  <a:pt x="5442" y="43436"/>
                  <a:pt x="9466" y="36477"/>
                  <a:pt x="15996" y="32717"/>
                </a:cubicBezTo>
                <a:lnTo>
                  <a:pt x="73977" y="-825"/>
                </a:lnTo>
                <a:close/>
                <a:moveTo>
                  <a:pt x="142512" y="117908"/>
                </a:moveTo>
                <a:lnTo>
                  <a:pt x="142512" y="63126"/>
                </a:lnTo>
                <a:lnTo>
                  <a:pt x="95085" y="90501"/>
                </a:lnTo>
                <a:lnTo>
                  <a:pt x="95085" y="145283"/>
                </a:lnTo>
                <a:lnTo>
                  <a:pt x="142512" y="11790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89706" y="1874396"/>
            <a:ext cx="2186700" cy="20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4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Fusion 360</a:t>
            </a:r>
            <a:endParaRPr b="1" sz="1064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93928" y="2077031"/>
            <a:ext cx="2178300" cy="16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1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CAD + CAM</a:t>
            </a:r>
            <a:endParaRPr b="0" sz="931">
              <a:solidFill>
                <a:srgbClr val="6B728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98150" y="2279666"/>
            <a:ext cx="2169900" cy="27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98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Part geometry, stock, toolpath, post-processor export</a:t>
            </a:r>
            <a:endParaRPr b="0" sz="798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2976077" y="1891284"/>
            <a:ext cx="202637" cy="202637"/>
          </a:xfrm>
          <a:custGeom>
            <a:rect b="b" l="l" r="r" t="t"/>
            <a:pathLst>
              <a:path extrusionOk="0" h="202637" w="202637">
                <a:moveTo>
                  <a:pt x="198917" y="110263"/>
                </a:moveTo>
                <a:cubicBezTo>
                  <a:pt x="203864" y="105316"/>
                  <a:pt x="203864" y="97282"/>
                  <a:pt x="198917" y="92334"/>
                </a:cubicBezTo>
                <a:lnTo>
                  <a:pt x="135593" y="29010"/>
                </a:lnTo>
                <a:cubicBezTo>
                  <a:pt x="130646" y="24063"/>
                  <a:pt x="122611" y="24063"/>
                  <a:pt x="117664" y="29010"/>
                </a:cubicBezTo>
                <a:cubicBezTo>
                  <a:pt x="112717" y="33958"/>
                  <a:pt x="112717" y="41992"/>
                  <a:pt x="117664" y="46939"/>
                </a:cubicBezTo>
                <a:lnTo>
                  <a:pt x="159379" y="88654"/>
                </a:lnTo>
                <a:lnTo>
                  <a:pt x="12665" y="88654"/>
                </a:lnTo>
                <a:cubicBezTo>
                  <a:pt x="5660" y="88654"/>
                  <a:pt x="0" y="94313"/>
                  <a:pt x="0" y="101319"/>
                </a:cubicBezTo>
                <a:cubicBezTo>
                  <a:pt x="0" y="108324"/>
                  <a:pt x="5660" y="113983"/>
                  <a:pt x="12665" y="113983"/>
                </a:cubicBezTo>
                <a:lnTo>
                  <a:pt x="159379" y="113983"/>
                </a:lnTo>
                <a:lnTo>
                  <a:pt x="117664" y="155698"/>
                </a:lnTo>
                <a:cubicBezTo>
                  <a:pt x="112717" y="160645"/>
                  <a:pt x="112717" y="168680"/>
                  <a:pt x="117664" y="173627"/>
                </a:cubicBezTo>
                <a:cubicBezTo>
                  <a:pt x="122611" y="178574"/>
                  <a:pt x="130646" y="178574"/>
                  <a:pt x="135593" y="173627"/>
                </a:cubicBezTo>
                <a:lnTo>
                  <a:pt x="198917" y="110303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3436068" y="1359360"/>
            <a:ext cx="2271224" cy="1266482"/>
          </a:xfrm>
          <a:custGeom>
            <a:rect b="b" l="l" r="r" t="t"/>
            <a:pathLst>
              <a:path extrusionOk="0" h="1266482" w="2271224">
                <a:moveTo>
                  <a:pt x="67541" y="0"/>
                </a:moveTo>
                <a:lnTo>
                  <a:pt x="2203683" y="0"/>
                </a:lnTo>
                <a:cubicBezTo>
                  <a:pt x="2240985" y="0"/>
                  <a:pt x="2271224" y="30239"/>
                  <a:pt x="2271224" y="67541"/>
                </a:cubicBezTo>
                <a:lnTo>
                  <a:pt x="2271224" y="1198941"/>
                </a:lnTo>
                <a:cubicBezTo>
                  <a:pt x="2271224" y="1236243"/>
                  <a:pt x="2240985" y="1266482"/>
                  <a:pt x="2203683" y="1266482"/>
                </a:cubicBezTo>
                <a:lnTo>
                  <a:pt x="67541" y="1266482"/>
                </a:lnTo>
                <a:cubicBezTo>
                  <a:pt x="30239" y="1266482"/>
                  <a:pt x="0" y="1236243"/>
                  <a:pt x="0" y="1198941"/>
                </a:cubicBezTo>
                <a:lnTo>
                  <a:pt x="0" y="67541"/>
                </a:lnTo>
                <a:cubicBezTo>
                  <a:pt x="0" y="30264"/>
                  <a:pt x="30264" y="0"/>
                  <a:pt x="67541" y="0"/>
                </a:cubicBezTo>
                <a:close/>
              </a:path>
            </a:pathLst>
          </a:custGeom>
          <a:gradFill>
            <a:gsLst>
              <a:gs pos="0">
                <a:srgbClr val="EFF6FF"/>
              </a:gs>
              <a:gs pos="100000">
                <a:srgbClr val="DBEAFE"/>
              </a:gs>
            </a:gsLst>
            <a:lin ang="0" scaled="0"/>
          </a:gradFill>
          <a:ln cap="flat" cmpd="sng" w="25400">
            <a:solidFill>
              <a:srgbClr val="2B7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4367022" y="1435351"/>
            <a:ext cx="405274" cy="405274"/>
          </a:xfrm>
          <a:custGeom>
            <a:rect b="b" l="l" r="r" t="t"/>
            <a:pathLst>
              <a:path extrusionOk="0" h="405274" w="405274">
                <a:moveTo>
                  <a:pt x="202637" y="0"/>
                </a:moveTo>
                <a:lnTo>
                  <a:pt x="202637" y="0"/>
                </a:lnTo>
                <a:cubicBezTo>
                  <a:pt x="314476" y="0"/>
                  <a:pt x="405274" y="90799"/>
                  <a:pt x="405274" y="202637"/>
                </a:cubicBezTo>
                <a:lnTo>
                  <a:pt x="405274" y="202637"/>
                </a:lnTo>
                <a:cubicBezTo>
                  <a:pt x="405274" y="314476"/>
                  <a:pt x="314476" y="405274"/>
                  <a:pt x="202637" y="405274"/>
                </a:cubicBezTo>
                <a:lnTo>
                  <a:pt x="202637" y="405274"/>
                </a:lnTo>
                <a:cubicBezTo>
                  <a:pt x="90799" y="405274"/>
                  <a:pt x="0" y="314476"/>
                  <a:pt x="0" y="202637"/>
                </a:cubicBezTo>
                <a:lnTo>
                  <a:pt x="0" y="202637"/>
                </a:lnTo>
                <a:cubicBezTo>
                  <a:pt x="0" y="90799"/>
                  <a:pt x="90799" y="0"/>
                  <a:pt x="202637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354615" y="2803147"/>
            <a:ext cx="5690726" cy="3343512"/>
          </a:xfrm>
          <a:custGeom>
            <a:rect b="b" l="l" r="r" t="t"/>
            <a:pathLst>
              <a:path extrusionOk="0" h="3343512" w="5690726">
                <a:moveTo>
                  <a:pt x="33773" y="0"/>
                </a:moveTo>
                <a:lnTo>
                  <a:pt x="5623187" y="0"/>
                </a:lnTo>
                <a:cubicBezTo>
                  <a:pt x="5660488" y="0"/>
                  <a:pt x="5690726" y="30238"/>
                  <a:pt x="5690726" y="67539"/>
                </a:cubicBezTo>
                <a:lnTo>
                  <a:pt x="5690726" y="3275974"/>
                </a:lnTo>
                <a:cubicBezTo>
                  <a:pt x="5690726" y="3313274"/>
                  <a:pt x="5660488" y="3343512"/>
                  <a:pt x="5623187" y="3343512"/>
                </a:cubicBezTo>
                <a:lnTo>
                  <a:pt x="33773" y="3343512"/>
                </a:lnTo>
                <a:cubicBezTo>
                  <a:pt x="15121" y="3343512"/>
                  <a:pt x="0" y="3328392"/>
                  <a:pt x="0" y="330974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659" rotWithShape="0" algn="bl" dir="5400000" dist="33773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354615" y="2803147"/>
            <a:ext cx="33773" cy="3343512"/>
          </a:xfrm>
          <a:custGeom>
            <a:rect b="b" l="l" r="r" t="t"/>
            <a:pathLst>
              <a:path extrusionOk="0" h="3343512" w="33773">
                <a:moveTo>
                  <a:pt x="33773" y="0"/>
                </a:moveTo>
                <a:lnTo>
                  <a:pt x="33773" y="0"/>
                </a:lnTo>
                <a:lnTo>
                  <a:pt x="33773" y="3343512"/>
                </a:lnTo>
                <a:lnTo>
                  <a:pt x="33773" y="3343512"/>
                </a:lnTo>
                <a:cubicBezTo>
                  <a:pt x="15121" y="3343512"/>
                  <a:pt x="0" y="3328392"/>
                  <a:pt x="0" y="330974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493928" y="2938238"/>
            <a:ext cx="168864" cy="168864"/>
          </a:xfrm>
          <a:custGeom>
            <a:rect b="b" l="l" r="r" t="t"/>
            <a:pathLst>
              <a:path extrusionOk="0" h="168864" w="168864">
                <a:moveTo>
                  <a:pt x="84432" y="0"/>
                </a:moveTo>
                <a:cubicBezTo>
                  <a:pt x="85949" y="0"/>
                  <a:pt x="87466" y="330"/>
                  <a:pt x="88852" y="956"/>
                </a:cubicBezTo>
                <a:lnTo>
                  <a:pt x="150988" y="27309"/>
                </a:lnTo>
                <a:cubicBezTo>
                  <a:pt x="158244" y="30376"/>
                  <a:pt x="163653" y="37533"/>
                  <a:pt x="163620" y="46174"/>
                </a:cubicBezTo>
                <a:cubicBezTo>
                  <a:pt x="163455" y="78891"/>
                  <a:pt x="149999" y="138752"/>
                  <a:pt x="93172" y="165962"/>
                </a:cubicBezTo>
                <a:cubicBezTo>
                  <a:pt x="87664" y="168600"/>
                  <a:pt x="81266" y="168600"/>
                  <a:pt x="75758" y="165962"/>
                </a:cubicBezTo>
                <a:cubicBezTo>
                  <a:pt x="18898" y="138752"/>
                  <a:pt x="5475" y="78891"/>
                  <a:pt x="5310" y="46174"/>
                </a:cubicBezTo>
                <a:cubicBezTo>
                  <a:pt x="5277" y="37533"/>
                  <a:pt x="10686" y="30376"/>
                  <a:pt x="17942" y="27309"/>
                </a:cubicBezTo>
                <a:lnTo>
                  <a:pt x="80046" y="956"/>
                </a:lnTo>
                <a:cubicBezTo>
                  <a:pt x="81431" y="330"/>
                  <a:pt x="82915" y="0"/>
                  <a:pt x="84432" y="0"/>
                </a:cubicBezTo>
                <a:close/>
                <a:moveTo>
                  <a:pt x="84432" y="22032"/>
                </a:moveTo>
                <a:lnTo>
                  <a:pt x="84432" y="146734"/>
                </a:lnTo>
                <a:cubicBezTo>
                  <a:pt x="129946" y="124702"/>
                  <a:pt x="142182" y="75890"/>
                  <a:pt x="142479" y="46669"/>
                </a:cubicBezTo>
                <a:lnTo>
                  <a:pt x="84432" y="22064"/>
                </a:lnTo>
                <a:lnTo>
                  <a:pt x="84432" y="22064"/>
                </a:ln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485227" y="1553547"/>
            <a:ext cx="168864" cy="168864"/>
          </a:xfrm>
          <a:custGeom>
            <a:rect b="b" l="l" r="r" t="t"/>
            <a:pathLst>
              <a:path extrusionOk="0" h="168864" w="168864">
                <a:moveTo>
                  <a:pt x="21108" y="10554"/>
                </a:moveTo>
                <a:cubicBezTo>
                  <a:pt x="9466" y="10554"/>
                  <a:pt x="0" y="20020"/>
                  <a:pt x="0" y="31662"/>
                </a:cubicBezTo>
                <a:lnTo>
                  <a:pt x="0" y="116094"/>
                </a:lnTo>
                <a:cubicBezTo>
                  <a:pt x="0" y="127737"/>
                  <a:pt x="9466" y="137202"/>
                  <a:pt x="21108" y="137202"/>
                </a:cubicBezTo>
                <a:lnTo>
                  <a:pt x="68601" y="137202"/>
                </a:lnTo>
                <a:lnTo>
                  <a:pt x="63324" y="153033"/>
                </a:lnTo>
                <a:lnTo>
                  <a:pt x="39578" y="153033"/>
                </a:lnTo>
                <a:cubicBezTo>
                  <a:pt x="35191" y="153033"/>
                  <a:pt x="31662" y="156562"/>
                  <a:pt x="31662" y="160949"/>
                </a:cubicBezTo>
                <a:cubicBezTo>
                  <a:pt x="31662" y="165335"/>
                  <a:pt x="35191" y="168864"/>
                  <a:pt x="39578" y="168864"/>
                </a:cubicBezTo>
                <a:lnTo>
                  <a:pt x="129287" y="168864"/>
                </a:lnTo>
                <a:cubicBezTo>
                  <a:pt x="133673" y="168864"/>
                  <a:pt x="137202" y="165335"/>
                  <a:pt x="137202" y="160949"/>
                </a:cubicBezTo>
                <a:cubicBezTo>
                  <a:pt x="137202" y="156562"/>
                  <a:pt x="133673" y="153033"/>
                  <a:pt x="129287" y="153033"/>
                </a:cubicBezTo>
                <a:lnTo>
                  <a:pt x="105540" y="153033"/>
                </a:lnTo>
                <a:lnTo>
                  <a:pt x="100263" y="137202"/>
                </a:lnTo>
                <a:lnTo>
                  <a:pt x="147756" y="137202"/>
                </a:lnTo>
                <a:cubicBezTo>
                  <a:pt x="159399" y="137202"/>
                  <a:pt x="168864" y="127737"/>
                  <a:pt x="168864" y="116094"/>
                </a:cubicBezTo>
                <a:lnTo>
                  <a:pt x="168864" y="31662"/>
                </a:lnTo>
                <a:cubicBezTo>
                  <a:pt x="168864" y="20020"/>
                  <a:pt x="159399" y="10554"/>
                  <a:pt x="147756" y="10554"/>
                </a:cubicBezTo>
                <a:lnTo>
                  <a:pt x="21108" y="10554"/>
                </a:lnTo>
                <a:close/>
                <a:moveTo>
                  <a:pt x="31662" y="31662"/>
                </a:moveTo>
                <a:lnTo>
                  <a:pt x="137202" y="31662"/>
                </a:lnTo>
                <a:cubicBezTo>
                  <a:pt x="143040" y="31662"/>
                  <a:pt x="147756" y="36378"/>
                  <a:pt x="147756" y="42216"/>
                </a:cubicBezTo>
                <a:lnTo>
                  <a:pt x="147756" y="94986"/>
                </a:lnTo>
                <a:cubicBezTo>
                  <a:pt x="147756" y="100824"/>
                  <a:pt x="143040" y="105540"/>
                  <a:pt x="137202" y="105540"/>
                </a:cubicBezTo>
                <a:lnTo>
                  <a:pt x="31662" y="105540"/>
                </a:lnTo>
                <a:cubicBezTo>
                  <a:pt x="25824" y="105540"/>
                  <a:pt x="21108" y="100824"/>
                  <a:pt x="21108" y="94986"/>
                </a:cubicBezTo>
                <a:lnTo>
                  <a:pt x="21108" y="42216"/>
                </a:lnTo>
                <a:cubicBezTo>
                  <a:pt x="21108" y="36378"/>
                  <a:pt x="25824" y="31662"/>
                  <a:pt x="31662" y="316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751446" y="2904465"/>
            <a:ext cx="21615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Multi Stage Validation</a:t>
            </a:r>
            <a:endParaRPr b="0" i="0" sz="1600" u="none" cap="none" strike="noStrike"/>
          </a:p>
        </p:txBody>
      </p:sp>
      <p:sp>
        <p:nvSpPr>
          <p:cNvPr id="180" name="Google Shape;180;p7"/>
          <p:cNvSpPr/>
          <p:nvPr/>
        </p:nvSpPr>
        <p:spPr>
          <a:xfrm>
            <a:off x="3478282" y="1874396"/>
            <a:ext cx="2186700" cy="20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4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RoboDK</a:t>
            </a:r>
            <a:endParaRPr b="1" sz="1064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72820" y="3208421"/>
            <a:ext cx="55386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4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architectural spine:</a:t>
            </a:r>
            <a:r>
              <a:rPr b="0" i="0" lang="en-US" sz="1064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Two</a:t>
            </a:r>
            <a:r>
              <a:rPr lang="en-US" sz="1064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r>
              <a:rPr b="0" i="0" lang="en-US" sz="1064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layer verification eliminating risk of discovering errors only at physical execution.</a:t>
            </a:r>
            <a:endParaRPr b="0" i="0" sz="1600" u="none" cap="none" strike="noStrike"/>
          </a:p>
        </p:txBody>
      </p:sp>
      <p:sp>
        <p:nvSpPr>
          <p:cNvPr id="182" name="Google Shape;182;p7"/>
          <p:cNvSpPr/>
          <p:nvPr/>
        </p:nvSpPr>
        <p:spPr>
          <a:xfrm>
            <a:off x="472820" y="3681241"/>
            <a:ext cx="5471202" cy="1063845"/>
          </a:xfrm>
          <a:custGeom>
            <a:rect b="b" l="l" r="r" t="t"/>
            <a:pathLst>
              <a:path extrusionOk="0" h="1063845" w="5471202">
                <a:moveTo>
                  <a:pt x="33777" y="0"/>
                </a:moveTo>
                <a:lnTo>
                  <a:pt x="5437425" y="0"/>
                </a:lnTo>
                <a:cubicBezTo>
                  <a:pt x="5456080" y="0"/>
                  <a:pt x="5471202" y="15123"/>
                  <a:pt x="5471202" y="33777"/>
                </a:cubicBezTo>
                <a:lnTo>
                  <a:pt x="5471202" y="1030068"/>
                </a:lnTo>
                <a:cubicBezTo>
                  <a:pt x="5471202" y="1048722"/>
                  <a:pt x="5456080" y="1063845"/>
                  <a:pt x="5437425" y="1063845"/>
                </a:cubicBezTo>
                <a:lnTo>
                  <a:pt x="33777" y="1063845"/>
                </a:lnTo>
                <a:cubicBezTo>
                  <a:pt x="15123" y="1063845"/>
                  <a:pt x="0" y="1048722"/>
                  <a:pt x="0" y="1030068"/>
                </a:cubicBezTo>
                <a:lnTo>
                  <a:pt x="0" y="33777"/>
                </a:lnTo>
                <a:cubicBezTo>
                  <a:pt x="0" y="15123"/>
                  <a:pt x="15123" y="0"/>
                  <a:pt x="33777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3482502" y="2077031"/>
            <a:ext cx="2178300" cy="16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1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Simulation + Validation</a:t>
            </a:r>
            <a:endParaRPr b="0" sz="931">
              <a:solidFill>
                <a:srgbClr val="6B728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40366" y="3748787"/>
            <a:ext cx="53952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1" u="none" cap="none" strike="noStrike">
                <a:solidFill>
                  <a:srgbClr val="193CB8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Layer 1 — RoboDK (Kinematic Level)</a:t>
            </a:r>
            <a:endParaRPr b="0" i="0" sz="1600" u="none" cap="none" strike="noStrike"/>
          </a:p>
        </p:txBody>
      </p:sp>
      <p:sp>
        <p:nvSpPr>
          <p:cNvPr id="185" name="Google Shape;185;p7"/>
          <p:cNvSpPr/>
          <p:nvPr/>
        </p:nvSpPr>
        <p:spPr>
          <a:xfrm>
            <a:off x="559363" y="3985197"/>
            <a:ext cx="88654" cy="101319"/>
          </a:xfrm>
          <a:custGeom>
            <a:rect b="b" l="l" r="r" t="t"/>
            <a:pathLst>
              <a:path extrusionOk="0" h="101319" w="88654">
                <a:moveTo>
                  <a:pt x="86042" y="13872"/>
                </a:moveTo>
                <a:cubicBezTo>
                  <a:pt x="88871" y="15930"/>
                  <a:pt x="89505" y="19888"/>
                  <a:pt x="87447" y="22718"/>
                </a:cubicBezTo>
                <a:lnTo>
                  <a:pt x="36787" y="92374"/>
                </a:lnTo>
                <a:cubicBezTo>
                  <a:pt x="35699" y="93878"/>
                  <a:pt x="34017" y="94808"/>
                  <a:pt x="32157" y="94966"/>
                </a:cubicBezTo>
                <a:cubicBezTo>
                  <a:pt x="30297" y="95125"/>
                  <a:pt x="28496" y="94432"/>
                  <a:pt x="27190" y="93126"/>
                </a:cubicBezTo>
                <a:lnTo>
                  <a:pt x="1860" y="67796"/>
                </a:lnTo>
                <a:cubicBezTo>
                  <a:pt x="-613" y="65323"/>
                  <a:pt x="-613" y="61306"/>
                  <a:pt x="1860" y="58832"/>
                </a:cubicBezTo>
                <a:cubicBezTo>
                  <a:pt x="4334" y="56358"/>
                  <a:pt x="8351" y="56358"/>
                  <a:pt x="10824" y="58832"/>
                </a:cubicBezTo>
                <a:lnTo>
                  <a:pt x="30910" y="78918"/>
                </a:lnTo>
                <a:lnTo>
                  <a:pt x="77216" y="15257"/>
                </a:lnTo>
                <a:cubicBezTo>
                  <a:pt x="79274" y="12427"/>
                  <a:pt x="83232" y="11794"/>
                  <a:pt x="86061" y="13852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486721" y="2279666"/>
            <a:ext cx="2169900" cy="27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98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TCP setup, kinematic simulation, reachability checks</a:t>
            </a:r>
            <a:endParaRPr b="0" sz="798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717673" y="3951424"/>
            <a:ext cx="12327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Reachability validation</a:t>
            </a:r>
            <a:endParaRPr b="0" i="0" sz="1600" u="none" cap="none" strike="noStrike"/>
          </a:p>
        </p:txBody>
      </p:sp>
      <p:sp>
        <p:nvSpPr>
          <p:cNvPr id="188" name="Google Shape;188;p7"/>
          <p:cNvSpPr/>
          <p:nvPr/>
        </p:nvSpPr>
        <p:spPr>
          <a:xfrm>
            <a:off x="559363" y="4170947"/>
            <a:ext cx="88654" cy="101319"/>
          </a:xfrm>
          <a:custGeom>
            <a:rect b="b" l="l" r="r" t="t"/>
            <a:pathLst>
              <a:path extrusionOk="0" h="101319" w="88654">
                <a:moveTo>
                  <a:pt x="86042" y="13872"/>
                </a:moveTo>
                <a:cubicBezTo>
                  <a:pt x="88871" y="15930"/>
                  <a:pt x="89505" y="19888"/>
                  <a:pt x="87447" y="22718"/>
                </a:cubicBezTo>
                <a:lnTo>
                  <a:pt x="36787" y="92374"/>
                </a:lnTo>
                <a:cubicBezTo>
                  <a:pt x="35699" y="93878"/>
                  <a:pt x="34017" y="94808"/>
                  <a:pt x="32157" y="94966"/>
                </a:cubicBezTo>
                <a:cubicBezTo>
                  <a:pt x="30297" y="95125"/>
                  <a:pt x="28496" y="94432"/>
                  <a:pt x="27190" y="93126"/>
                </a:cubicBezTo>
                <a:lnTo>
                  <a:pt x="1860" y="67796"/>
                </a:lnTo>
                <a:cubicBezTo>
                  <a:pt x="-613" y="65323"/>
                  <a:pt x="-613" y="61306"/>
                  <a:pt x="1860" y="58832"/>
                </a:cubicBezTo>
                <a:cubicBezTo>
                  <a:pt x="4334" y="56358"/>
                  <a:pt x="8351" y="56358"/>
                  <a:pt x="10824" y="58832"/>
                </a:cubicBezTo>
                <a:lnTo>
                  <a:pt x="30910" y="78918"/>
                </a:lnTo>
                <a:lnTo>
                  <a:pt x="77216" y="15257"/>
                </a:lnTo>
                <a:cubicBezTo>
                  <a:pt x="79274" y="12427"/>
                  <a:pt x="83232" y="11794"/>
                  <a:pt x="86061" y="13852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5964650" y="1908162"/>
            <a:ext cx="168864" cy="168864"/>
          </a:xfrm>
          <a:custGeom>
            <a:rect b="b" l="l" r="r" t="t"/>
            <a:pathLst>
              <a:path extrusionOk="0" h="168864" w="168864">
                <a:moveTo>
                  <a:pt x="165764" y="91886"/>
                </a:moveTo>
                <a:cubicBezTo>
                  <a:pt x="169887" y="87763"/>
                  <a:pt x="169887" y="81068"/>
                  <a:pt x="165764" y="76945"/>
                </a:cubicBezTo>
                <a:lnTo>
                  <a:pt x="112994" y="24175"/>
                </a:lnTo>
                <a:cubicBezTo>
                  <a:pt x="108871" y="20053"/>
                  <a:pt x="102176" y="20053"/>
                  <a:pt x="98053" y="24175"/>
                </a:cubicBezTo>
                <a:cubicBezTo>
                  <a:pt x="93931" y="28298"/>
                  <a:pt x="93931" y="34993"/>
                  <a:pt x="98053" y="39116"/>
                </a:cubicBezTo>
                <a:lnTo>
                  <a:pt x="132816" y="73878"/>
                </a:lnTo>
                <a:lnTo>
                  <a:pt x="10554" y="73878"/>
                </a:lnTo>
                <a:cubicBezTo>
                  <a:pt x="4716" y="73878"/>
                  <a:pt x="0" y="78594"/>
                  <a:pt x="0" y="84432"/>
                </a:cubicBezTo>
                <a:cubicBezTo>
                  <a:pt x="0" y="90270"/>
                  <a:pt x="4716" y="94986"/>
                  <a:pt x="10554" y="94986"/>
                </a:cubicBezTo>
                <a:lnTo>
                  <a:pt x="132816" y="94986"/>
                </a:lnTo>
                <a:lnTo>
                  <a:pt x="98053" y="129748"/>
                </a:lnTo>
                <a:cubicBezTo>
                  <a:pt x="93931" y="133871"/>
                  <a:pt x="93931" y="140566"/>
                  <a:pt x="98053" y="144689"/>
                </a:cubicBezTo>
                <a:cubicBezTo>
                  <a:pt x="102176" y="148812"/>
                  <a:pt x="108871" y="148812"/>
                  <a:pt x="112994" y="144689"/>
                </a:cubicBezTo>
                <a:lnTo>
                  <a:pt x="165764" y="91919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717673" y="4137175"/>
            <a:ext cx="1131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Singularity detection</a:t>
            </a:r>
            <a:endParaRPr b="0" i="0" sz="1600" u="none" cap="none" strike="noStrike"/>
          </a:p>
        </p:txBody>
      </p:sp>
      <p:sp>
        <p:nvSpPr>
          <p:cNvPr id="191" name="Google Shape;191;p7"/>
          <p:cNvSpPr/>
          <p:nvPr/>
        </p:nvSpPr>
        <p:spPr>
          <a:xfrm>
            <a:off x="559363" y="4356698"/>
            <a:ext cx="88654" cy="101319"/>
          </a:xfrm>
          <a:custGeom>
            <a:rect b="b" l="l" r="r" t="t"/>
            <a:pathLst>
              <a:path extrusionOk="0" h="101319" w="88654">
                <a:moveTo>
                  <a:pt x="86042" y="13872"/>
                </a:moveTo>
                <a:cubicBezTo>
                  <a:pt x="88871" y="15930"/>
                  <a:pt x="89505" y="19888"/>
                  <a:pt x="87447" y="22718"/>
                </a:cubicBezTo>
                <a:lnTo>
                  <a:pt x="36787" y="92374"/>
                </a:lnTo>
                <a:cubicBezTo>
                  <a:pt x="35699" y="93878"/>
                  <a:pt x="34017" y="94808"/>
                  <a:pt x="32157" y="94966"/>
                </a:cubicBezTo>
                <a:cubicBezTo>
                  <a:pt x="30297" y="95125"/>
                  <a:pt x="28496" y="94432"/>
                  <a:pt x="27190" y="93126"/>
                </a:cubicBezTo>
                <a:lnTo>
                  <a:pt x="1860" y="67796"/>
                </a:lnTo>
                <a:cubicBezTo>
                  <a:pt x="-613" y="65323"/>
                  <a:pt x="-613" y="61306"/>
                  <a:pt x="1860" y="58832"/>
                </a:cubicBezTo>
                <a:cubicBezTo>
                  <a:pt x="4334" y="56358"/>
                  <a:pt x="8351" y="56358"/>
                  <a:pt x="10824" y="58832"/>
                </a:cubicBezTo>
                <a:lnTo>
                  <a:pt x="30910" y="78918"/>
                </a:lnTo>
                <a:lnTo>
                  <a:pt x="77216" y="15257"/>
                </a:lnTo>
                <a:cubicBezTo>
                  <a:pt x="79274" y="12427"/>
                  <a:pt x="83232" y="11794"/>
                  <a:pt x="86061" y="13852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6484706" y="1359360"/>
            <a:ext cx="2271224" cy="1266482"/>
          </a:xfrm>
          <a:custGeom>
            <a:rect b="b" l="l" r="r" t="t"/>
            <a:pathLst>
              <a:path extrusionOk="0" h="1266482" w="2271224">
                <a:moveTo>
                  <a:pt x="67541" y="0"/>
                </a:moveTo>
                <a:lnTo>
                  <a:pt x="2203683" y="0"/>
                </a:lnTo>
                <a:cubicBezTo>
                  <a:pt x="2240985" y="0"/>
                  <a:pt x="2271224" y="30239"/>
                  <a:pt x="2271224" y="67541"/>
                </a:cubicBezTo>
                <a:lnTo>
                  <a:pt x="2271224" y="1198941"/>
                </a:lnTo>
                <a:cubicBezTo>
                  <a:pt x="2271224" y="1236243"/>
                  <a:pt x="2240985" y="1266482"/>
                  <a:pt x="2203683" y="1266482"/>
                </a:cubicBezTo>
                <a:lnTo>
                  <a:pt x="67541" y="1266482"/>
                </a:lnTo>
                <a:cubicBezTo>
                  <a:pt x="30239" y="1266482"/>
                  <a:pt x="0" y="1236243"/>
                  <a:pt x="0" y="1198941"/>
                </a:cubicBezTo>
                <a:lnTo>
                  <a:pt x="0" y="67541"/>
                </a:lnTo>
                <a:cubicBezTo>
                  <a:pt x="0" y="30264"/>
                  <a:pt x="30264" y="0"/>
                  <a:pt x="67541" y="0"/>
                </a:cubicBezTo>
                <a:close/>
              </a:path>
            </a:pathLst>
          </a:custGeom>
          <a:gradFill>
            <a:gsLst>
              <a:gs pos="0">
                <a:srgbClr val="F0FDF4"/>
              </a:gs>
              <a:gs pos="100000">
                <a:srgbClr val="DCFCE7"/>
              </a:gs>
            </a:gsLst>
            <a:lin ang="0" scaled="0"/>
          </a:gradFill>
          <a:ln cap="flat" cmpd="sng" w="25400">
            <a:solidFill>
              <a:srgbClr val="00C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717673" y="4322925"/>
            <a:ext cx="11736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Joint limit compliance</a:t>
            </a:r>
            <a:endParaRPr b="0" i="0" sz="1600" u="none" cap="none" strike="noStrike"/>
          </a:p>
        </p:txBody>
      </p:sp>
      <p:sp>
        <p:nvSpPr>
          <p:cNvPr id="194" name="Google Shape;194;p7"/>
          <p:cNvSpPr/>
          <p:nvPr/>
        </p:nvSpPr>
        <p:spPr>
          <a:xfrm>
            <a:off x="559363" y="4542449"/>
            <a:ext cx="88654" cy="101319"/>
          </a:xfrm>
          <a:custGeom>
            <a:rect b="b" l="l" r="r" t="t"/>
            <a:pathLst>
              <a:path extrusionOk="0" h="101319" w="88654">
                <a:moveTo>
                  <a:pt x="86042" y="13872"/>
                </a:moveTo>
                <a:cubicBezTo>
                  <a:pt x="88871" y="15930"/>
                  <a:pt x="89505" y="19888"/>
                  <a:pt x="87447" y="22718"/>
                </a:cubicBezTo>
                <a:lnTo>
                  <a:pt x="36787" y="92374"/>
                </a:lnTo>
                <a:cubicBezTo>
                  <a:pt x="35699" y="93878"/>
                  <a:pt x="34017" y="94808"/>
                  <a:pt x="32157" y="94966"/>
                </a:cubicBezTo>
                <a:cubicBezTo>
                  <a:pt x="30297" y="95125"/>
                  <a:pt x="28496" y="94432"/>
                  <a:pt x="27190" y="93126"/>
                </a:cubicBezTo>
                <a:lnTo>
                  <a:pt x="1860" y="67796"/>
                </a:lnTo>
                <a:cubicBezTo>
                  <a:pt x="-613" y="65323"/>
                  <a:pt x="-613" y="61306"/>
                  <a:pt x="1860" y="58832"/>
                </a:cubicBezTo>
                <a:cubicBezTo>
                  <a:pt x="4334" y="56358"/>
                  <a:pt x="8351" y="56358"/>
                  <a:pt x="10824" y="58832"/>
                </a:cubicBezTo>
                <a:lnTo>
                  <a:pt x="30910" y="78918"/>
                </a:lnTo>
                <a:lnTo>
                  <a:pt x="77216" y="15257"/>
                </a:lnTo>
                <a:cubicBezTo>
                  <a:pt x="79274" y="12427"/>
                  <a:pt x="83232" y="11794"/>
                  <a:pt x="86061" y="13852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7415565" y="1435351"/>
            <a:ext cx="405274" cy="405274"/>
          </a:xfrm>
          <a:custGeom>
            <a:rect b="b" l="l" r="r" t="t"/>
            <a:pathLst>
              <a:path extrusionOk="0" h="405274" w="405274">
                <a:moveTo>
                  <a:pt x="202637" y="0"/>
                </a:moveTo>
                <a:lnTo>
                  <a:pt x="202637" y="0"/>
                </a:lnTo>
                <a:cubicBezTo>
                  <a:pt x="314476" y="0"/>
                  <a:pt x="405274" y="90799"/>
                  <a:pt x="405274" y="202637"/>
                </a:cubicBezTo>
                <a:lnTo>
                  <a:pt x="405274" y="202637"/>
                </a:lnTo>
                <a:cubicBezTo>
                  <a:pt x="405274" y="314476"/>
                  <a:pt x="314476" y="405274"/>
                  <a:pt x="202637" y="405274"/>
                </a:cubicBezTo>
                <a:lnTo>
                  <a:pt x="202637" y="405274"/>
                </a:lnTo>
                <a:cubicBezTo>
                  <a:pt x="90799" y="405274"/>
                  <a:pt x="0" y="314476"/>
                  <a:pt x="0" y="202637"/>
                </a:cubicBezTo>
                <a:lnTo>
                  <a:pt x="0" y="202637"/>
                </a:lnTo>
                <a:cubicBezTo>
                  <a:pt x="0" y="90799"/>
                  <a:pt x="90799" y="0"/>
                  <a:pt x="202637" y="0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717673" y="4508676"/>
            <a:ext cx="996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Frame consistency</a:t>
            </a:r>
            <a:endParaRPr b="0" i="0" sz="1600" u="none" cap="none" strike="noStrike"/>
          </a:p>
        </p:txBody>
      </p:sp>
      <p:sp>
        <p:nvSpPr>
          <p:cNvPr id="197" name="Google Shape;197;p7"/>
          <p:cNvSpPr/>
          <p:nvPr/>
        </p:nvSpPr>
        <p:spPr>
          <a:xfrm>
            <a:off x="472820" y="4812632"/>
            <a:ext cx="5471202" cy="1063845"/>
          </a:xfrm>
          <a:custGeom>
            <a:rect b="b" l="l" r="r" t="t"/>
            <a:pathLst>
              <a:path extrusionOk="0" h="1063845" w="5471202">
                <a:moveTo>
                  <a:pt x="33777" y="0"/>
                </a:moveTo>
                <a:lnTo>
                  <a:pt x="5437425" y="0"/>
                </a:lnTo>
                <a:cubicBezTo>
                  <a:pt x="5456080" y="0"/>
                  <a:pt x="5471202" y="15123"/>
                  <a:pt x="5471202" y="33777"/>
                </a:cubicBezTo>
                <a:lnTo>
                  <a:pt x="5471202" y="1030068"/>
                </a:lnTo>
                <a:cubicBezTo>
                  <a:pt x="5471202" y="1048722"/>
                  <a:pt x="5456080" y="1063845"/>
                  <a:pt x="5437425" y="1063845"/>
                </a:cubicBezTo>
                <a:lnTo>
                  <a:pt x="33777" y="1063845"/>
                </a:lnTo>
                <a:cubicBezTo>
                  <a:pt x="15123" y="1063845"/>
                  <a:pt x="0" y="1048722"/>
                  <a:pt x="0" y="1030068"/>
                </a:cubicBezTo>
                <a:lnTo>
                  <a:pt x="0" y="33777"/>
                </a:lnTo>
                <a:cubicBezTo>
                  <a:pt x="0" y="15123"/>
                  <a:pt x="15123" y="0"/>
                  <a:pt x="33777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7533770" y="1553547"/>
            <a:ext cx="168864" cy="168864"/>
          </a:xfrm>
          <a:custGeom>
            <a:rect b="b" l="l" r="r" t="t"/>
            <a:pathLst>
              <a:path extrusionOk="0" h="168864" w="168864">
                <a:moveTo>
                  <a:pt x="58047" y="7916"/>
                </a:moveTo>
                <a:cubicBezTo>
                  <a:pt x="58047" y="3529"/>
                  <a:pt x="54518" y="0"/>
                  <a:pt x="50132" y="0"/>
                </a:cubicBezTo>
                <a:cubicBezTo>
                  <a:pt x="45745" y="0"/>
                  <a:pt x="42216" y="3529"/>
                  <a:pt x="42216" y="7916"/>
                </a:cubicBezTo>
                <a:lnTo>
                  <a:pt x="42216" y="21108"/>
                </a:lnTo>
                <a:cubicBezTo>
                  <a:pt x="30574" y="21108"/>
                  <a:pt x="21108" y="30574"/>
                  <a:pt x="21108" y="42216"/>
                </a:cubicBezTo>
                <a:lnTo>
                  <a:pt x="7916" y="42216"/>
                </a:lnTo>
                <a:cubicBezTo>
                  <a:pt x="3529" y="42216"/>
                  <a:pt x="0" y="45745"/>
                  <a:pt x="0" y="50132"/>
                </a:cubicBezTo>
                <a:cubicBezTo>
                  <a:pt x="0" y="54518"/>
                  <a:pt x="3529" y="58047"/>
                  <a:pt x="7916" y="58047"/>
                </a:cubicBezTo>
                <a:lnTo>
                  <a:pt x="21108" y="58047"/>
                </a:lnTo>
                <a:lnTo>
                  <a:pt x="21108" y="76517"/>
                </a:lnTo>
                <a:lnTo>
                  <a:pt x="7916" y="76517"/>
                </a:lnTo>
                <a:cubicBezTo>
                  <a:pt x="3529" y="76517"/>
                  <a:pt x="0" y="80046"/>
                  <a:pt x="0" y="84432"/>
                </a:cubicBezTo>
                <a:cubicBezTo>
                  <a:pt x="0" y="88819"/>
                  <a:pt x="3529" y="92348"/>
                  <a:pt x="7916" y="92348"/>
                </a:cubicBezTo>
                <a:lnTo>
                  <a:pt x="21108" y="92348"/>
                </a:lnTo>
                <a:lnTo>
                  <a:pt x="21108" y="110817"/>
                </a:lnTo>
                <a:lnTo>
                  <a:pt x="7916" y="110817"/>
                </a:lnTo>
                <a:cubicBezTo>
                  <a:pt x="3529" y="110817"/>
                  <a:pt x="0" y="114346"/>
                  <a:pt x="0" y="118733"/>
                </a:cubicBezTo>
                <a:cubicBezTo>
                  <a:pt x="0" y="123119"/>
                  <a:pt x="3529" y="126648"/>
                  <a:pt x="7916" y="126648"/>
                </a:cubicBezTo>
                <a:lnTo>
                  <a:pt x="21108" y="126648"/>
                </a:lnTo>
                <a:cubicBezTo>
                  <a:pt x="21108" y="138291"/>
                  <a:pt x="30574" y="147756"/>
                  <a:pt x="42216" y="147756"/>
                </a:cubicBezTo>
                <a:lnTo>
                  <a:pt x="42216" y="160949"/>
                </a:lnTo>
                <a:cubicBezTo>
                  <a:pt x="42216" y="165335"/>
                  <a:pt x="45745" y="168864"/>
                  <a:pt x="50132" y="168864"/>
                </a:cubicBezTo>
                <a:cubicBezTo>
                  <a:pt x="54518" y="168864"/>
                  <a:pt x="58047" y="165335"/>
                  <a:pt x="58047" y="160949"/>
                </a:cubicBezTo>
                <a:lnTo>
                  <a:pt x="58047" y="147756"/>
                </a:lnTo>
                <a:lnTo>
                  <a:pt x="76517" y="147756"/>
                </a:lnTo>
                <a:lnTo>
                  <a:pt x="76517" y="160949"/>
                </a:lnTo>
                <a:cubicBezTo>
                  <a:pt x="76517" y="165335"/>
                  <a:pt x="80046" y="168864"/>
                  <a:pt x="84432" y="168864"/>
                </a:cubicBezTo>
                <a:cubicBezTo>
                  <a:pt x="88819" y="168864"/>
                  <a:pt x="92348" y="165335"/>
                  <a:pt x="92348" y="160949"/>
                </a:cubicBezTo>
                <a:lnTo>
                  <a:pt x="92348" y="147756"/>
                </a:lnTo>
                <a:lnTo>
                  <a:pt x="110817" y="147756"/>
                </a:lnTo>
                <a:lnTo>
                  <a:pt x="110817" y="160949"/>
                </a:lnTo>
                <a:cubicBezTo>
                  <a:pt x="110817" y="165335"/>
                  <a:pt x="114346" y="168864"/>
                  <a:pt x="118733" y="168864"/>
                </a:cubicBezTo>
                <a:cubicBezTo>
                  <a:pt x="123119" y="168864"/>
                  <a:pt x="126648" y="165335"/>
                  <a:pt x="126648" y="160949"/>
                </a:cubicBezTo>
                <a:lnTo>
                  <a:pt x="126648" y="147756"/>
                </a:lnTo>
                <a:cubicBezTo>
                  <a:pt x="138291" y="147756"/>
                  <a:pt x="147756" y="138291"/>
                  <a:pt x="147756" y="126648"/>
                </a:cubicBezTo>
                <a:lnTo>
                  <a:pt x="160949" y="126648"/>
                </a:lnTo>
                <a:cubicBezTo>
                  <a:pt x="165335" y="126648"/>
                  <a:pt x="168864" y="123119"/>
                  <a:pt x="168864" y="118733"/>
                </a:cubicBezTo>
                <a:cubicBezTo>
                  <a:pt x="168864" y="114346"/>
                  <a:pt x="165335" y="110817"/>
                  <a:pt x="160949" y="110817"/>
                </a:cubicBezTo>
                <a:lnTo>
                  <a:pt x="147756" y="110817"/>
                </a:lnTo>
                <a:lnTo>
                  <a:pt x="147756" y="92348"/>
                </a:lnTo>
                <a:lnTo>
                  <a:pt x="160949" y="92348"/>
                </a:lnTo>
                <a:cubicBezTo>
                  <a:pt x="165335" y="92348"/>
                  <a:pt x="168864" y="88819"/>
                  <a:pt x="168864" y="84432"/>
                </a:cubicBezTo>
                <a:cubicBezTo>
                  <a:pt x="168864" y="80046"/>
                  <a:pt x="165335" y="76517"/>
                  <a:pt x="160949" y="76517"/>
                </a:cubicBezTo>
                <a:lnTo>
                  <a:pt x="147756" y="76517"/>
                </a:lnTo>
                <a:lnTo>
                  <a:pt x="147756" y="58047"/>
                </a:lnTo>
                <a:lnTo>
                  <a:pt x="160949" y="58047"/>
                </a:lnTo>
                <a:cubicBezTo>
                  <a:pt x="165335" y="58047"/>
                  <a:pt x="168864" y="54518"/>
                  <a:pt x="168864" y="50132"/>
                </a:cubicBezTo>
                <a:cubicBezTo>
                  <a:pt x="168864" y="45745"/>
                  <a:pt x="165335" y="42216"/>
                  <a:pt x="160949" y="42216"/>
                </a:cubicBezTo>
                <a:lnTo>
                  <a:pt x="147756" y="42216"/>
                </a:lnTo>
                <a:cubicBezTo>
                  <a:pt x="147756" y="30574"/>
                  <a:pt x="138291" y="21108"/>
                  <a:pt x="126648" y="21108"/>
                </a:cubicBezTo>
                <a:lnTo>
                  <a:pt x="126648" y="7916"/>
                </a:lnTo>
                <a:cubicBezTo>
                  <a:pt x="126648" y="3529"/>
                  <a:pt x="123119" y="0"/>
                  <a:pt x="118733" y="0"/>
                </a:cubicBezTo>
                <a:cubicBezTo>
                  <a:pt x="114346" y="0"/>
                  <a:pt x="110817" y="3529"/>
                  <a:pt x="110817" y="7916"/>
                </a:cubicBezTo>
                <a:lnTo>
                  <a:pt x="110817" y="21108"/>
                </a:lnTo>
                <a:lnTo>
                  <a:pt x="92348" y="21108"/>
                </a:lnTo>
                <a:lnTo>
                  <a:pt x="92348" y="7916"/>
                </a:lnTo>
                <a:cubicBezTo>
                  <a:pt x="92348" y="3529"/>
                  <a:pt x="88819" y="0"/>
                  <a:pt x="84432" y="0"/>
                </a:cubicBezTo>
                <a:cubicBezTo>
                  <a:pt x="80046" y="0"/>
                  <a:pt x="76517" y="3529"/>
                  <a:pt x="76517" y="7916"/>
                </a:cubicBezTo>
                <a:lnTo>
                  <a:pt x="76517" y="21108"/>
                </a:lnTo>
                <a:lnTo>
                  <a:pt x="58047" y="21108"/>
                </a:lnTo>
                <a:lnTo>
                  <a:pt x="58047" y="7916"/>
                </a:lnTo>
                <a:close/>
                <a:moveTo>
                  <a:pt x="52770" y="42216"/>
                </a:moveTo>
                <a:lnTo>
                  <a:pt x="116094" y="42216"/>
                </a:lnTo>
                <a:cubicBezTo>
                  <a:pt x="121932" y="42216"/>
                  <a:pt x="126648" y="46932"/>
                  <a:pt x="126648" y="52770"/>
                </a:cubicBezTo>
                <a:lnTo>
                  <a:pt x="126648" y="116094"/>
                </a:lnTo>
                <a:cubicBezTo>
                  <a:pt x="126648" y="121932"/>
                  <a:pt x="121932" y="126648"/>
                  <a:pt x="116094" y="126648"/>
                </a:cubicBezTo>
                <a:lnTo>
                  <a:pt x="52770" y="126648"/>
                </a:lnTo>
                <a:cubicBezTo>
                  <a:pt x="46932" y="126648"/>
                  <a:pt x="42216" y="121932"/>
                  <a:pt x="42216" y="116094"/>
                </a:cubicBezTo>
                <a:lnTo>
                  <a:pt x="42216" y="52770"/>
                </a:lnTo>
                <a:cubicBezTo>
                  <a:pt x="42216" y="46932"/>
                  <a:pt x="46932" y="42216"/>
                  <a:pt x="52770" y="42216"/>
                </a:cubicBezTo>
                <a:close/>
                <a:moveTo>
                  <a:pt x="58047" y="58047"/>
                </a:moveTo>
                <a:lnTo>
                  <a:pt x="58047" y="110817"/>
                </a:lnTo>
                <a:lnTo>
                  <a:pt x="110817" y="110817"/>
                </a:lnTo>
                <a:lnTo>
                  <a:pt x="110817" y="58047"/>
                </a:lnTo>
                <a:lnTo>
                  <a:pt x="58047" y="580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540366" y="4880177"/>
            <a:ext cx="53952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1" u="none" cap="none" strike="noStrike">
                <a:solidFill>
                  <a:srgbClr val="01663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Layer 2 — RT Toolbox 3 (Controller Level)</a:t>
            </a:r>
            <a:endParaRPr b="0" i="0" sz="1600" u="none" cap="none" strike="noStrike"/>
          </a:p>
        </p:txBody>
      </p:sp>
      <p:sp>
        <p:nvSpPr>
          <p:cNvPr id="200" name="Google Shape;200;p7"/>
          <p:cNvSpPr/>
          <p:nvPr/>
        </p:nvSpPr>
        <p:spPr>
          <a:xfrm>
            <a:off x="559363" y="5116587"/>
            <a:ext cx="88654" cy="101319"/>
          </a:xfrm>
          <a:custGeom>
            <a:rect b="b" l="l" r="r" t="t"/>
            <a:pathLst>
              <a:path extrusionOk="0" h="101319" w="88654">
                <a:moveTo>
                  <a:pt x="86042" y="13872"/>
                </a:moveTo>
                <a:cubicBezTo>
                  <a:pt x="88871" y="15930"/>
                  <a:pt x="89505" y="19888"/>
                  <a:pt x="87447" y="22718"/>
                </a:cubicBezTo>
                <a:lnTo>
                  <a:pt x="36787" y="92374"/>
                </a:lnTo>
                <a:cubicBezTo>
                  <a:pt x="35699" y="93878"/>
                  <a:pt x="34017" y="94808"/>
                  <a:pt x="32157" y="94966"/>
                </a:cubicBezTo>
                <a:cubicBezTo>
                  <a:pt x="30297" y="95125"/>
                  <a:pt x="28496" y="94432"/>
                  <a:pt x="27190" y="93126"/>
                </a:cubicBezTo>
                <a:lnTo>
                  <a:pt x="1860" y="67796"/>
                </a:lnTo>
                <a:cubicBezTo>
                  <a:pt x="-613" y="65323"/>
                  <a:pt x="-613" y="61306"/>
                  <a:pt x="1860" y="58832"/>
                </a:cubicBezTo>
                <a:cubicBezTo>
                  <a:pt x="4334" y="56358"/>
                  <a:pt x="8351" y="56358"/>
                  <a:pt x="10824" y="58832"/>
                </a:cubicBezTo>
                <a:lnTo>
                  <a:pt x="30910" y="78918"/>
                </a:lnTo>
                <a:lnTo>
                  <a:pt x="77216" y="15257"/>
                </a:lnTo>
                <a:cubicBezTo>
                  <a:pt x="79274" y="12427"/>
                  <a:pt x="83232" y="11794"/>
                  <a:pt x="86061" y="13852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6526921" y="1874396"/>
            <a:ext cx="2186700" cy="20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4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RT Toolbox 3</a:t>
            </a:r>
            <a:endParaRPr b="1" sz="1064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17673" y="5082814"/>
            <a:ext cx="11145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Syntax compatibility</a:t>
            </a:r>
            <a:endParaRPr b="0" i="0" sz="1600" u="none" cap="none" strike="noStrike"/>
          </a:p>
        </p:txBody>
      </p:sp>
      <p:sp>
        <p:nvSpPr>
          <p:cNvPr id="203" name="Google Shape;203;p7"/>
          <p:cNvSpPr/>
          <p:nvPr/>
        </p:nvSpPr>
        <p:spPr>
          <a:xfrm>
            <a:off x="559363" y="5302338"/>
            <a:ext cx="88654" cy="101319"/>
          </a:xfrm>
          <a:custGeom>
            <a:rect b="b" l="l" r="r" t="t"/>
            <a:pathLst>
              <a:path extrusionOk="0" h="101319" w="88654">
                <a:moveTo>
                  <a:pt x="86042" y="13872"/>
                </a:moveTo>
                <a:cubicBezTo>
                  <a:pt x="88871" y="15930"/>
                  <a:pt x="89505" y="19888"/>
                  <a:pt x="87447" y="22718"/>
                </a:cubicBezTo>
                <a:lnTo>
                  <a:pt x="36787" y="92374"/>
                </a:lnTo>
                <a:cubicBezTo>
                  <a:pt x="35699" y="93878"/>
                  <a:pt x="34017" y="94808"/>
                  <a:pt x="32157" y="94966"/>
                </a:cubicBezTo>
                <a:cubicBezTo>
                  <a:pt x="30297" y="95125"/>
                  <a:pt x="28496" y="94432"/>
                  <a:pt x="27190" y="93126"/>
                </a:cubicBezTo>
                <a:lnTo>
                  <a:pt x="1860" y="67796"/>
                </a:lnTo>
                <a:cubicBezTo>
                  <a:pt x="-613" y="65323"/>
                  <a:pt x="-613" y="61306"/>
                  <a:pt x="1860" y="58832"/>
                </a:cubicBezTo>
                <a:cubicBezTo>
                  <a:pt x="4334" y="56358"/>
                  <a:pt x="8351" y="56358"/>
                  <a:pt x="10824" y="58832"/>
                </a:cubicBezTo>
                <a:lnTo>
                  <a:pt x="30910" y="78918"/>
                </a:lnTo>
                <a:lnTo>
                  <a:pt x="77216" y="15257"/>
                </a:lnTo>
                <a:cubicBezTo>
                  <a:pt x="79274" y="12427"/>
                  <a:pt x="83232" y="11794"/>
                  <a:pt x="86061" y="13852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6531140" y="2077031"/>
            <a:ext cx="2178300" cy="16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1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Controller-Native Sim</a:t>
            </a:r>
            <a:endParaRPr b="0" sz="931">
              <a:solidFill>
                <a:srgbClr val="6B728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717673" y="5268565"/>
            <a:ext cx="1511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Motion command validation</a:t>
            </a:r>
            <a:endParaRPr b="0" i="0" sz="1600" u="none" cap="none" strike="noStrike"/>
          </a:p>
        </p:txBody>
      </p:sp>
      <p:sp>
        <p:nvSpPr>
          <p:cNvPr id="206" name="Google Shape;206;p7"/>
          <p:cNvSpPr/>
          <p:nvPr/>
        </p:nvSpPr>
        <p:spPr>
          <a:xfrm>
            <a:off x="559363" y="5488089"/>
            <a:ext cx="88654" cy="101319"/>
          </a:xfrm>
          <a:custGeom>
            <a:rect b="b" l="l" r="r" t="t"/>
            <a:pathLst>
              <a:path extrusionOk="0" h="101319" w="88654">
                <a:moveTo>
                  <a:pt x="86042" y="13872"/>
                </a:moveTo>
                <a:cubicBezTo>
                  <a:pt x="88871" y="15930"/>
                  <a:pt x="89505" y="19888"/>
                  <a:pt x="87447" y="22718"/>
                </a:cubicBezTo>
                <a:lnTo>
                  <a:pt x="36787" y="92374"/>
                </a:lnTo>
                <a:cubicBezTo>
                  <a:pt x="35699" y="93878"/>
                  <a:pt x="34017" y="94808"/>
                  <a:pt x="32157" y="94966"/>
                </a:cubicBezTo>
                <a:cubicBezTo>
                  <a:pt x="30297" y="95125"/>
                  <a:pt x="28496" y="94432"/>
                  <a:pt x="27190" y="93126"/>
                </a:cubicBezTo>
                <a:lnTo>
                  <a:pt x="1860" y="67796"/>
                </a:lnTo>
                <a:cubicBezTo>
                  <a:pt x="-613" y="65323"/>
                  <a:pt x="-613" y="61306"/>
                  <a:pt x="1860" y="58832"/>
                </a:cubicBezTo>
                <a:cubicBezTo>
                  <a:pt x="4334" y="56358"/>
                  <a:pt x="8351" y="56358"/>
                  <a:pt x="10824" y="58832"/>
                </a:cubicBezTo>
                <a:lnTo>
                  <a:pt x="30910" y="78918"/>
                </a:lnTo>
                <a:lnTo>
                  <a:pt x="77216" y="15257"/>
                </a:lnTo>
                <a:cubicBezTo>
                  <a:pt x="79274" y="12427"/>
                  <a:pt x="83232" y="11794"/>
                  <a:pt x="86061" y="13852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6535360" y="2279666"/>
            <a:ext cx="2169900" cy="27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98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Parser validation, syntax verification, program execution</a:t>
            </a:r>
            <a:endParaRPr b="0" sz="798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717673" y="5454316"/>
            <a:ext cx="15789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Program structure verification</a:t>
            </a:r>
            <a:endParaRPr b="0" i="0" sz="1600" u="none" cap="none" strike="noStrike"/>
          </a:p>
        </p:txBody>
      </p:sp>
      <p:sp>
        <p:nvSpPr>
          <p:cNvPr id="209" name="Google Shape;209;p7"/>
          <p:cNvSpPr/>
          <p:nvPr/>
        </p:nvSpPr>
        <p:spPr>
          <a:xfrm>
            <a:off x="559363" y="5673839"/>
            <a:ext cx="88654" cy="101319"/>
          </a:xfrm>
          <a:custGeom>
            <a:rect b="b" l="l" r="r" t="t"/>
            <a:pathLst>
              <a:path extrusionOk="0" h="101319" w="88654">
                <a:moveTo>
                  <a:pt x="86042" y="13872"/>
                </a:moveTo>
                <a:cubicBezTo>
                  <a:pt x="88871" y="15930"/>
                  <a:pt x="89505" y="19888"/>
                  <a:pt x="87447" y="22718"/>
                </a:cubicBezTo>
                <a:lnTo>
                  <a:pt x="36787" y="92374"/>
                </a:lnTo>
                <a:cubicBezTo>
                  <a:pt x="35699" y="93878"/>
                  <a:pt x="34017" y="94808"/>
                  <a:pt x="32157" y="94966"/>
                </a:cubicBezTo>
                <a:cubicBezTo>
                  <a:pt x="30297" y="95125"/>
                  <a:pt x="28496" y="94432"/>
                  <a:pt x="27190" y="93126"/>
                </a:cubicBezTo>
                <a:lnTo>
                  <a:pt x="1860" y="67796"/>
                </a:lnTo>
                <a:cubicBezTo>
                  <a:pt x="-613" y="65323"/>
                  <a:pt x="-613" y="61306"/>
                  <a:pt x="1860" y="58832"/>
                </a:cubicBezTo>
                <a:cubicBezTo>
                  <a:pt x="4334" y="56358"/>
                  <a:pt x="8351" y="56358"/>
                  <a:pt x="10824" y="58832"/>
                </a:cubicBezTo>
                <a:lnTo>
                  <a:pt x="30910" y="78918"/>
                </a:lnTo>
                <a:lnTo>
                  <a:pt x="77216" y="15257"/>
                </a:lnTo>
                <a:cubicBezTo>
                  <a:pt x="79274" y="12427"/>
                  <a:pt x="83232" y="11794"/>
                  <a:pt x="86061" y="13852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9013288" y="1891274"/>
            <a:ext cx="168864" cy="168864"/>
          </a:xfrm>
          <a:custGeom>
            <a:rect b="b" l="l" r="r" t="t"/>
            <a:pathLst>
              <a:path extrusionOk="0" h="168864" w="168864">
                <a:moveTo>
                  <a:pt x="165764" y="91886"/>
                </a:moveTo>
                <a:cubicBezTo>
                  <a:pt x="169887" y="87763"/>
                  <a:pt x="169887" y="81068"/>
                  <a:pt x="165764" y="76945"/>
                </a:cubicBezTo>
                <a:lnTo>
                  <a:pt x="112994" y="24175"/>
                </a:lnTo>
                <a:cubicBezTo>
                  <a:pt x="108871" y="20053"/>
                  <a:pt x="102176" y="20053"/>
                  <a:pt x="98053" y="24175"/>
                </a:cubicBezTo>
                <a:cubicBezTo>
                  <a:pt x="93931" y="28298"/>
                  <a:pt x="93931" y="34993"/>
                  <a:pt x="98053" y="39116"/>
                </a:cubicBezTo>
                <a:lnTo>
                  <a:pt x="132816" y="73878"/>
                </a:lnTo>
                <a:lnTo>
                  <a:pt x="10554" y="73878"/>
                </a:lnTo>
                <a:cubicBezTo>
                  <a:pt x="4716" y="73878"/>
                  <a:pt x="0" y="78594"/>
                  <a:pt x="0" y="84432"/>
                </a:cubicBezTo>
                <a:cubicBezTo>
                  <a:pt x="0" y="90270"/>
                  <a:pt x="4716" y="94986"/>
                  <a:pt x="10554" y="94986"/>
                </a:cubicBezTo>
                <a:lnTo>
                  <a:pt x="132816" y="94986"/>
                </a:lnTo>
                <a:lnTo>
                  <a:pt x="98053" y="129748"/>
                </a:lnTo>
                <a:cubicBezTo>
                  <a:pt x="93931" y="133871"/>
                  <a:pt x="93931" y="140566"/>
                  <a:pt x="98053" y="144689"/>
                </a:cubicBezTo>
                <a:cubicBezTo>
                  <a:pt x="102176" y="148812"/>
                  <a:pt x="108871" y="148812"/>
                  <a:pt x="112994" y="144689"/>
                </a:cubicBezTo>
                <a:lnTo>
                  <a:pt x="165764" y="91919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717673" y="5640066"/>
            <a:ext cx="12918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Controller-native parser</a:t>
            </a:r>
            <a:endParaRPr b="0" i="0" sz="1600" u="none" cap="none" strike="noStrike"/>
          </a:p>
        </p:txBody>
      </p:sp>
      <p:sp>
        <p:nvSpPr>
          <p:cNvPr id="212" name="Google Shape;212;p7"/>
          <p:cNvSpPr/>
          <p:nvPr/>
        </p:nvSpPr>
        <p:spPr>
          <a:xfrm>
            <a:off x="6161611" y="2803147"/>
            <a:ext cx="5690726" cy="3343512"/>
          </a:xfrm>
          <a:custGeom>
            <a:rect b="b" l="l" r="r" t="t"/>
            <a:pathLst>
              <a:path extrusionOk="0" h="3343512" w="5690726">
                <a:moveTo>
                  <a:pt x="33773" y="0"/>
                </a:moveTo>
                <a:lnTo>
                  <a:pt x="5623187" y="0"/>
                </a:lnTo>
                <a:cubicBezTo>
                  <a:pt x="5660488" y="0"/>
                  <a:pt x="5690726" y="30238"/>
                  <a:pt x="5690726" y="67539"/>
                </a:cubicBezTo>
                <a:lnTo>
                  <a:pt x="5690726" y="3275974"/>
                </a:lnTo>
                <a:cubicBezTo>
                  <a:pt x="5690726" y="3313274"/>
                  <a:pt x="5660488" y="3343512"/>
                  <a:pt x="5623187" y="3343512"/>
                </a:cubicBezTo>
                <a:lnTo>
                  <a:pt x="33773" y="3343512"/>
                </a:lnTo>
                <a:cubicBezTo>
                  <a:pt x="15121" y="3343512"/>
                  <a:pt x="0" y="3328392"/>
                  <a:pt x="0" y="330974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659" rotWithShape="0" algn="bl" dir="5400000" dist="33773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6161611" y="2803147"/>
            <a:ext cx="33773" cy="3343512"/>
          </a:xfrm>
          <a:custGeom>
            <a:rect b="b" l="l" r="r" t="t"/>
            <a:pathLst>
              <a:path extrusionOk="0" h="3343512" w="33773">
                <a:moveTo>
                  <a:pt x="33773" y="0"/>
                </a:moveTo>
                <a:lnTo>
                  <a:pt x="33773" y="0"/>
                </a:lnTo>
                <a:lnTo>
                  <a:pt x="33773" y="3343512"/>
                </a:lnTo>
                <a:lnTo>
                  <a:pt x="33773" y="3343512"/>
                </a:lnTo>
                <a:cubicBezTo>
                  <a:pt x="15121" y="3343512"/>
                  <a:pt x="0" y="3328392"/>
                  <a:pt x="0" y="330974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6300924" y="2938238"/>
            <a:ext cx="168864" cy="168864"/>
          </a:xfrm>
          <a:custGeom>
            <a:rect b="b" l="l" r="r" t="t"/>
            <a:pathLst>
              <a:path extrusionOk="0" h="168864" w="168864">
                <a:moveTo>
                  <a:pt x="84432" y="168864"/>
                </a:moveTo>
                <a:cubicBezTo>
                  <a:pt x="131031" y="168864"/>
                  <a:pt x="168864" y="131031"/>
                  <a:pt x="168864" y="84432"/>
                </a:cubicBezTo>
                <a:cubicBezTo>
                  <a:pt x="168864" y="37833"/>
                  <a:pt x="131031" y="0"/>
                  <a:pt x="84432" y="0"/>
                </a:cubicBezTo>
                <a:cubicBezTo>
                  <a:pt x="37833" y="0"/>
                  <a:pt x="0" y="37833"/>
                  <a:pt x="0" y="84432"/>
                </a:cubicBezTo>
                <a:cubicBezTo>
                  <a:pt x="0" y="131031"/>
                  <a:pt x="37833" y="168864"/>
                  <a:pt x="84432" y="168864"/>
                </a:cubicBezTo>
                <a:close/>
                <a:moveTo>
                  <a:pt x="84432" y="44855"/>
                </a:moveTo>
                <a:cubicBezTo>
                  <a:pt x="88819" y="44855"/>
                  <a:pt x="92348" y="48384"/>
                  <a:pt x="92348" y="52770"/>
                </a:cubicBezTo>
                <a:lnTo>
                  <a:pt x="92348" y="89709"/>
                </a:lnTo>
                <a:cubicBezTo>
                  <a:pt x="92348" y="94096"/>
                  <a:pt x="88819" y="97625"/>
                  <a:pt x="84432" y="97625"/>
                </a:cubicBezTo>
                <a:cubicBezTo>
                  <a:pt x="80046" y="97625"/>
                  <a:pt x="76517" y="94096"/>
                  <a:pt x="76517" y="89709"/>
                </a:cubicBezTo>
                <a:lnTo>
                  <a:pt x="76517" y="52770"/>
                </a:lnTo>
                <a:cubicBezTo>
                  <a:pt x="76517" y="48384"/>
                  <a:pt x="80046" y="44855"/>
                  <a:pt x="84432" y="44855"/>
                </a:cubicBezTo>
                <a:close/>
                <a:moveTo>
                  <a:pt x="75626" y="116094"/>
                </a:moveTo>
                <a:cubicBezTo>
                  <a:pt x="75426" y="112825"/>
                  <a:pt x="77056" y="109716"/>
                  <a:pt x="79858" y="108021"/>
                </a:cubicBezTo>
                <a:cubicBezTo>
                  <a:pt x="82660" y="106326"/>
                  <a:pt x="86171" y="106326"/>
                  <a:pt x="88973" y="108021"/>
                </a:cubicBezTo>
                <a:cubicBezTo>
                  <a:pt x="91775" y="109716"/>
                  <a:pt x="93405" y="112825"/>
                  <a:pt x="93205" y="116094"/>
                </a:cubicBezTo>
                <a:cubicBezTo>
                  <a:pt x="93405" y="119363"/>
                  <a:pt x="91775" y="122473"/>
                  <a:pt x="88973" y="124168"/>
                </a:cubicBezTo>
                <a:cubicBezTo>
                  <a:pt x="86171" y="125863"/>
                  <a:pt x="82660" y="125863"/>
                  <a:pt x="79858" y="124168"/>
                </a:cubicBezTo>
                <a:cubicBezTo>
                  <a:pt x="77056" y="122473"/>
                  <a:pt x="75426" y="119363"/>
                  <a:pt x="75626" y="116094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9478023" y="1359360"/>
            <a:ext cx="2271224" cy="1266482"/>
          </a:xfrm>
          <a:custGeom>
            <a:rect b="b" l="l" r="r" t="t"/>
            <a:pathLst>
              <a:path extrusionOk="0" h="1266482" w="2271224">
                <a:moveTo>
                  <a:pt x="67541" y="0"/>
                </a:moveTo>
                <a:lnTo>
                  <a:pt x="2203683" y="0"/>
                </a:lnTo>
                <a:cubicBezTo>
                  <a:pt x="2240985" y="0"/>
                  <a:pt x="2271224" y="30239"/>
                  <a:pt x="2271224" y="67541"/>
                </a:cubicBezTo>
                <a:lnTo>
                  <a:pt x="2271224" y="1198941"/>
                </a:lnTo>
                <a:cubicBezTo>
                  <a:pt x="2271224" y="1236243"/>
                  <a:pt x="2240985" y="1266482"/>
                  <a:pt x="2203683" y="1266482"/>
                </a:cubicBezTo>
                <a:lnTo>
                  <a:pt x="67541" y="1266482"/>
                </a:lnTo>
                <a:cubicBezTo>
                  <a:pt x="30239" y="1266482"/>
                  <a:pt x="0" y="1236243"/>
                  <a:pt x="0" y="1198941"/>
                </a:cubicBezTo>
                <a:lnTo>
                  <a:pt x="0" y="67541"/>
                </a:lnTo>
                <a:cubicBezTo>
                  <a:pt x="0" y="30264"/>
                  <a:pt x="30264" y="0"/>
                  <a:pt x="67541" y="0"/>
                </a:cubicBezTo>
                <a:close/>
              </a:path>
            </a:pathLst>
          </a:custGeom>
          <a:gradFill>
            <a:gsLst>
              <a:gs pos="0">
                <a:srgbClr val="FEF2F2"/>
              </a:gs>
              <a:gs pos="100000">
                <a:srgbClr val="FFE2E2"/>
              </a:gs>
            </a:gsLst>
            <a:lin ang="0" scaled="0"/>
          </a:gradFill>
          <a:ln cap="flat" cmpd="sng" w="25400">
            <a:solidFill>
              <a:srgbClr val="FB2C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6558442" y="2904465"/>
            <a:ext cx="26259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Why </a:t>
            </a:r>
            <a:r>
              <a:rPr b="1" lang="en-US" sz="133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Validation </a:t>
            </a:r>
            <a:r>
              <a:rPr b="1" i="0" lang="en-US" sz="133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is Necessary</a:t>
            </a:r>
            <a:endParaRPr b="0" i="0" sz="1600" u="none" cap="none" strike="noStrike"/>
          </a:p>
        </p:txBody>
      </p:sp>
      <p:sp>
        <p:nvSpPr>
          <p:cNvPr id="217" name="Google Shape;217;p7"/>
          <p:cNvSpPr/>
          <p:nvPr/>
        </p:nvSpPr>
        <p:spPr>
          <a:xfrm>
            <a:off x="10411016" y="1435351"/>
            <a:ext cx="405274" cy="405274"/>
          </a:xfrm>
          <a:custGeom>
            <a:rect b="b" l="l" r="r" t="t"/>
            <a:pathLst>
              <a:path extrusionOk="0" h="405274" w="405274">
                <a:moveTo>
                  <a:pt x="202637" y="0"/>
                </a:moveTo>
                <a:lnTo>
                  <a:pt x="202637" y="0"/>
                </a:lnTo>
                <a:cubicBezTo>
                  <a:pt x="314476" y="0"/>
                  <a:pt x="405274" y="90799"/>
                  <a:pt x="405274" y="202637"/>
                </a:cubicBezTo>
                <a:lnTo>
                  <a:pt x="405274" y="202637"/>
                </a:lnTo>
                <a:cubicBezTo>
                  <a:pt x="405274" y="314476"/>
                  <a:pt x="314476" y="405274"/>
                  <a:pt x="202637" y="405274"/>
                </a:cubicBezTo>
                <a:lnTo>
                  <a:pt x="202637" y="405274"/>
                </a:lnTo>
                <a:cubicBezTo>
                  <a:pt x="90799" y="405274"/>
                  <a:pt x="0" y="314476"/>
                  <a:pt x="0" y="202637"/>
                </a:cubicBezTo>
                <a:lnTo>
                  <a:pt x="0" y="202637"/>
                </a:lnTo>
                <a:cubicBezTo>
                  <a:pt x="0" y="90799"/>
                  <a:pt x="90799" y="0"/>
                  <a:pt x="202637" y="0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6279816" y="3208421"/>
            <a:ext cx="55386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4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Robot post-processors are fragmented and unreliable, making CAD/CAM outputs inherently untrustworthy.</a:t>
            </a:r>
            <a:endParaRPr b="0" i="0" sz="1600" u="none" cap="none" strike="noStrike"/>
          </a:p>
        </p:txBody>
      </p:sp>
      <p:sp>
        <p:nvSpPr>
          <p:cNvPr id="219" name="Google Shape;219;p7"/>
          <p:cNvSpPr/>
          <p:nvPr/>
        </p:nvSpPr>
        <p:spPr>
          <a:xfrm>
            <a:off x="6279816" y="3681241"/>
            <a:ext cx="5471202" cy="2364100"/>
          </a:xfrm>
          <a:custGeom>
            <a:rect b="b" l="l" r="r" t="t"/>
            <a:pathLst>
              <a:path extrusionOk="0" h="2364100" w="5471202">
                <a:moveTo>
                  <a:pt x="33783" y="0"/>
                </a:moveTo>
                <a:lnTo>
                  <a:pt x="5437419" y="0"/>
                </a:lnTo>
                <a:cubicBezTo>
                  <a:pt x="5456077" y="0"/>
                  <a:pt x="5471202" y="15125"/>
                  <a:pt x="5471202" y="33783"/>
                </a:cubicBezTo>
                <a:lnTo>
                  <a:pt x="5471202" y="2330317"/>
                </a:lnTo>
                <a:cubicBezTo>
                  <a:pt x="5471202" y="2348975"/>
                  <a:pt x="5456077" y="2364100"/>
                  <a:pt x="5437419" y="2364100"/>
                </a:cubicBezTo>
                <a:lnTo>
                  <a:pt x="33783" y="2364100"/>
                </a:lnTo>
                <a:cubicBezTo>
                  <a:pt x="15125" y="2364100"/>
                  <a:pt x="0" y="2348975"/>
                  <a:pt x="0" y="2330317"/>
                </a:cubicBezTo>
                <a:lnTo>
                  <a:pt x="0" y="33783"/>
                </a:lnTo>
                <a:cubicBezTo>
                  <a:pt x="0" y="15138"/>
                  <a:pt x="15138" y="0"/>
                  <a:pt x="33783" y="0"/>
                </a:cubicBezTo>
                <a:close/>
              </a:path>
            </a:pathLst>
          </a:cu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10508075" y="1553547"/>
            <a:ext cx="211080" cy="168864"/>
          </a:xfrm>
          <a:custGeom>
            <a:rect b="b" l="l" r="r" t="t"/>
            <a:pathLst>
              <a:path extrusionOk="0" h="168864" w="211080">
                <a:moveTo>
                  <a:pt x="116094" y="0"/>
                </a:moveTo>
                <a:cubicBezTo>
                  <a:pt x="116094" y="-5838"/>
                  <a:pt x="111378" y="-10554"/>
                  <a:pt x="105540" y="-10554"/>
                </a:cubicBezTo>
                <a:cubicBezTo>
                  <a:pt x="99702" y="-10554"/>
                  <a:pt x="94986" y="-5838"/>
                  <a:pt x="94986" y="0"/>
                </a:cubicBezTo>
                <a:lnTo>
                  <a:pt x="94986" y="21108"/>
                </a:lnTo>
                <a:lnTo>
                  <a:pt x="63324" y="21108"/>
                </a:lnTo>
                <a:cubicBezTo>
                  <a:pt x="45844" y="21108"/>
                  <a:pt x="31662" y="35290"/>
                  <a:pt x="31662" y="52770"/>
                </a:cubicBezTo>
                <a:lnTo>
                  <a:pt x="31662" y="126648"/>
                </a:lnTo>
                <a:cubicBezTo>
                  <a:pt x="31662" y="144128"/>
                  <a:pt x="45844" y="158310"/>
                  <a:pt x="63324" y="158310"/>
                </a:cubicBezTo>
                <a:lnTo>
                  <a:pt x="147756" y="158310"/>
                </a:lnTo>
                <a:cubicBezTo>
                  <a:pt x="165236" y="158310"/>
                  <a:pt x="179418" y="144128"/>
                  <a:pt x="179418" y="126648"/>
                </a:cubicBezTo>
                <a:lnTo>
                  <a:pt x="179418" y="52770"/>
                </a:lnTo>
                <a:cubicBezTo>
                  <a:pt x="179418" y="35290"/>
                  <a:pt x="165236" y="21108"/>
                  <a:pt x="147756" y="21108"/>
                </a:cubicBezTo>
                <a:lnTo>
                  <a:pt x="116094" y="21108"/>
                </a:lnTo>
                <a:lnTo>
                  <a:pt x="116094" y="0"/>
                </a:lnTo>
                <a:close/>
                <a:moveTo>
                  <a:pt x="52770" y="121371"/>
                </a:moveTo>
                <a:cubicBezTo>
                  <a:pt x="52770" y="116985"/>
                  <a:pt x="56299" y="113456"/>
                  <a:pt x="60686" y="113456"/>
                </a:cubicBezTo>
                <a:lnTo>
                  <a:pt x="71240" y="113456"/>
                </a:lnTo>
                <a:cubicBezTo>
                  <a:pt x="75626" y="113456"/>
                  <a:pt x="79155" y="116985"/>
                  <a:pt x="79155" y="121371"/>
                </a:cubicBezTo>
                <a:cubicBezTo>
                  <a:pt x="79155" y="125758"/>
                  <a:pt x="75626" y="129287"/>
                  <a:pt x="71240" y="129287"/>
                </a:cubicBezTo>
                <a:lnTo>
                  <a:pt x="60686" y="129287"/>
                </a:lnTo>
                <a:cubicBezTo>
                  <a:pt x="56299" y="129287"/>
                  <a:pt x="52770" y="125758"/>
                  <a:pt x="52770" y="121371"/>
                </a:cubicBezTo>
                <a:close/>
                <a:moveTo>
                  <a:pt x="92348" y="121371"/>
                </a:moveTo>
                <a:cubicBezTo>
                  <a:pt x="92348" y="116985"/>
                  <a:pt x="95877" y="113456"/>
                  <a:pt x="100263" y="113456"/>
                </a:cubicBezTo>
                <a:lnTo>
                  <a:pt x="110817" y="113456"/>
                </a:lnTo>
                <a:cubicBezTo>
                  <a:pt x="115204" y="113456"/>
                  <a:pt x="118733" y="116985"/>
                  <a:pt x="118733" y="121371"/>
                </a:cubicBezTo>
                <a:cubicBezTo>
                  <a:pt x="118733" y="125758"/>
                  <a:pt x="115204" y="129287"/>
                  <a:pt x="110817" y="129287"/>
                </a:cubicBezTo>
                <a:lnTo>
                  <a:pt x="100263" y="129287"/>
                </a:lnTo>
                <a:cubicBezTo>
                  <a:pt x="95877" y="129287"/>
                  <a:pt x="92348" y="125758"/>
                  <a:pt x="92348" y="121371"/>
                </a:cubicBezTo>
                <a:close/>
                <a:moveTo>
                  <a:pt x="131925" y="121371"/>
                </a:moveTo>
                <a:cubicBezTo>
                  <a:pt x="131925" y="116985"/>
                  <a:pt x="135454" y="113456"/>
                  <a:pt x="139841" y="113456"/>
                </a:cubicBezTo>
                <a:lnTo>
                  <a:pt x="150395" y="113456"/>
                </a:lnTo>
                <a:cubicBezTo>
                  <a:pt x="154781" y="113456"/>
                  <a:pt x="158310" y="116985"/>
                  <a:pt x="158310" y="121371"/>
                </a:cubicBezTo>
                <a:cubicBezTo>
                  <a:pt x="158310" y="125758"/>
                  <a:pt x="154781" y="129287"/>
                  <a:pt x="150395" y="129287"/>
                </a:cubicBezTo>
                <a:lnTo>
                  <a:pt x="139841" y="129287"/>
                </a:lnTo>
                <a:cubicBezTo>
                  <a:pt x="135454" y="129287"/>
                  <a:pt x="131925" y="125758"/>
                  <a:pt x="131925" y="121371"/>
                </a:cubicBezTo>
                <a:close/>
                <a:moveTo>
                  <a:pt x="73878" y="58047"/>
                </a:moveTo>
                <a:cubicBezTo>
                  <a:pt x="82615" y="58047"/>
                  <a:pt x="89709" y="65141"/>
                  <a:pt x="89709" y="73878"/>
                </a:cubicBezTo>
                <a:cubicBezTo>
                  <a:pt x="89709" y="82615"/>
                  <a:pt x="82615" y="89709"/>
                  <a:pt x="73878" y="89709"/>
                </a:cubicBezTo>
                <a:cubicBezTo>
                  <a:pt x="65141" y="89709"/>
                  <a:pt x="58047" y="82615"/>
                  <a:pt x="58047" y="73878"/>
                </a:cubicBezTo>
                <a:cubicBezTo>
                  <a:pt x="58047" y="65141"/>
                  <a:pt x="65141" y="58047"/>
                  <a:pt x="73878" y="58047"/>
                </a:cubicBezTo>
                <a:close/>
                <a:moveTo>
                  <a:pt x="121371" y="73878"/>
                </a:moveTo>
                <a:cubicBezTo>
                  <a:pt x="121371" y="65141"/>
                  <a:pt x="128465" y="58047"/>
                  <a:pt x="137202" y="58047"/>
                </a:cubicBezTo>
                <a:cubicBezTo>
                  <a:pt x="145940" y="58047"/>
                  <a:pt x="153033" y="65141"/>
                  <a:pt x="153033" y="73878"/>
                </a:cubicBezTo>
                <a:cubicBezTo>
                  <a:pt x="153033" y="82615"/>
                  <a:pt x="145940" y="89709"/>
                  <a:pt x="137202" y="89709"/>
                </a:cubicBezTo>
                <a:cubicBezTo>
                  <a:pt x="128465" y="89709"/>
                  <a:pt x="121371" y="82615"/>
                  <a:pt x="121371" y="73878"/>
                </a:cubicBezTo>
                <a:close/>
                <a:moveTo>
                  <a:pt x="21108" y="73878"/>
                </a:moveTo>
                <a:cubicBezTo>
                  <a:pt x="21108" y="68040"/>
                  <a:pt x="16392" y="63324"/>
                  <a:pt x="10554" y="63324"/>
                </a:cubicBezTo>
                <a:cubicBezTo>
                  <a:pt x="4716" y="63324"/>
                  <a:pt x="0" y="68040"/>
                  <a:pt x="0" y="73878"/>
                </a:cubicBezTo>
                <a:lnTo>
                  <a:pt x="0" y="105540"/>
                </a:lnTo>
                <a:cubicBezTo>
                  <a:pt x="0" y="111378"/>
                  <a:pt x="4716" y="116094"/>
                  <a:pt x="10554" y="116094"/>
                </a:cubicBezTo>
                <a:cubicBezTo>
                  <a:pt x="16392" y="116094"/>
                  <a:pt x="21108" y="111378"/>
                  <a:pt x="21108" y="105540"/>
                </a:cubicBezTo>
                <a:lnTo>
                  <a:pt x="21108" y="73878"/>
                </a:lnTo>
                <a:close/>
                <a:moveTo>
                  <a:pt x="200526" y="63324"/>
                </a:moveTo>
                <a:cubicBezTo>
                  <a:pt x="194689" y="63324"/>
                  <a:pt x="189972" y="68040"/>
                  <a:pt x="189972" y="73878"/>
                </a:cubicBezTo>
                <a:lnTo>
                  <a:pt x="189972" y="105540"/>
                </a:lnTo>
                <a:cubicBezTo>
                  <a:pt x="189972" y="111378"/>
                  <a:pt x="194689" y="116094"/>
                  <a:pt x="200526" y="116094"/>
                </a:cubicBezTo>
                <a:cubicBezTo>
                  <a:pt x="206364" y="116094"/>
                  <a:pt x="211080" y="111378"/>
                  <a:pt x="211080" y="105540"/>
                </a:cubicBezTo>
                <a:lnTo>
                  <a:pt x="211080" y="73878"/>
                </a:lnTo>
                <a:cubicBezTo>
                  <a:pt x="211080" y="68040"/>
                  <a:pt x="206364" y="63324"/>
                  <a:pt x="200526" y="6332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6381135" y="3768612"/>
            <a:ext cx="53361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4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Strict Validation Principle</a:t>
            </a:r>
            <a:endParaRPr b="0" i="0" sz="1600" u="none" cap="none" strike="noStrike"/>
          </a:p>
        </p:txBody>
      </p:sp>
      <p:sp>
        <p:nvSpPr>
          <p:cNvPr id="222" name="Google Shape;222;p7"/>
          <p:cNvSpPr/>
          <p:nvPr/>
        </p:nvSpPr>
        <p:spPr>
          <a:xfrm>
            <a:off x="9520238" y="1874396"/>
            <a:ext cx="2186700" cy="20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4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Physical Robot</a:t>
            </a:r>
            <a:endParaRPr b="1" sz="1064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6381135" y="4105248"/>
            <a:ext cx="53361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4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Dual simulation embeds validation directly into the workflow through independent kinematic and controller-level checks, ensuring errors are detected before physical execution.</a:t>
            </a:r>
            <a:endParaRPr b="0" i="0" sz="1600" u="none" cap="none" strike="noStrike"/>
          </a:p>
        </p:txBody>
      </p:sp>
      <p:sp>
        <p:nvSpPr>
          <p:cNvPr id="224" name="Google Shape;224;p7"/>
          <p:cNvSpPr/>
          <p:nvPr/>
        </p:nvSpPr>
        <p:spPr>
          <a:xfrm>
            <a:off x="6381135" y="4753529"/>
            <a:ext cx="202637" cy="202637"/>
          </a:xfrm>
          <a:custGeom>
            <a:rect b="b" l="l" r="r" t="t"/>
            <a:pathLst>
              <a:path extrusionOk="0" h="202637" w="202637">
                <a:moveTo>
                  <a:pt x="101319" y="0"/>
                </a:moveTo>
                <a:lnTo>
                  <a:pt x="101319" y="0"/>
                </a:lnTo>
                <a:cubicBezTo>
                  <a:pt x="157238" y="0"/>
                  <a:pt x="202637" y="45399"/>
                  <a:pt x="202637" y="101319"/>
                </a:cubicBezTo>
                <a:lnTo>
                  <a:pt x="202637" y="101319"/>
                </a:lnTo>
                <a:cubicBezTo>
                  <a:pt x="202637" y="157238"/>
                  <a:pt x="157238" y="202637"/>
                  <a:pt x="101319" y="202637"/>
                </a:cubicBezTo>
                <a:lnTo>
                  <a:pt x="101319" y="202637"/>
                </a:lnTo>
                <a:cubicBezTo>
                  <a:pt x="45399" y="202637"/>
                  <a:pt x="0" y="157238"/>
                  <a:pt x="0" y="101319"/>
                </a:cubicBezTo>
                <a:lnTo>
                  <a:pt x="0" y="101319"/>
                </a:lnTo>
                <a:cubicBezTo>
                  <a:pt x="0" y="45399"/>
                  <a:pt x="45399" y="0"/>
                  <a:pt x="101319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9524457" y="2077031"/>
            <a:ext cx="2178300" cy="16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1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Execution</a:t>
            </a:r>
            <a:endParaRPr b="0" sz="931">
              <a:solidFill>
                <a:srgbClr val="6B728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6355805" y="4753529"/>
            <a:ext cx="2532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8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</a:t>
            </a:r>
            <a:endParaRPr b="0" i="0" sz="1600" u="none" cap="none" strike="noStrike"/>
          </a:p>
        </p:txBody>
      </p:sp>
      <p:sp>
        <p:nvSpPr>
          <p:cNvPr id="227" name="Google Shape;227;p7"/>
          <p:cNvSpPr/>
          <p:nvPr/>
        </p:nvSpPr>
        <p:spPr>
          <a:xfrm>
            <a:off x="9528715" y="2279666"/>
            <a:ext cx="2169900" cy="27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98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Program upload, physical cutting, quality verification</a:t>
            </a:r>
            <a:endParaRPr b="0" sz="798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651318" y="4770416"/>
            <a:ext cx="18405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Fusion 360 → </a:t>
            </a:r>
            <a:r>
              <a:rPr b="1" i="0" lang="en-US" sz="93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Toolpath correctness</a:t>
            </a:r>
            <a:endParaRPr b="0" i="0" sz="1600" u="none" cap="none" strike="noStrike"/>
          </a:p>
        </p:txBody>
      </p:sp>
      <p:sp>
        <p:nvSpPr>
          <p:cNvPr id="229" name="Google Shape;229;p7"/>
          <p:cNvSpPr/>
          <p:nvPr/>
        </p:nvSpPr>
        <p:spPr>
          <a:xfrm>
            <a:off x="6381135" y="5006825"/>
            <a:ext cx="202637" cy="202637"/>
          </a:xfrm>
          <a:custGeom>
            <a:rect b="b" l="l" r="r" t="t"/>
            <a:pathLst>
              <a:path extrusionOk="0" h="202637" w="202637">
                <a:moveTo>
                  <a:pt x="101319" y="0"/>
                </a:moveTo>
                <a:lnTo>
                  <a:pt x="101319" y="0"/>
                </a:lnTo>
                <a:cubicBezTo>
                  <a:pt x="157238" y="0"/>
                  <a:pt x="202637" y="45399"/>
                  <a:pt x="202637" y="101319"/>
                </a:cubicBezTo>
                <a:lnTo>
                  <a:pt x="202637" y="101319"/>
                </a:lnTo>
                <a:cubicBezTo>
                  <a:pt x="202637" y="157238"/>
                  <a:pt x="157238" y="202637"/>
                  <a:pt x="101319" y="202637"/>
                </a:cubicBezTo>
                <a:lnTo>
                  <a:pt x="101319" y="202637"/>
                </a:lnTo>
                <a:cubicBezTo>
                  <a:pt x="45399" y="202637"/>
                  <a:pt x="0" y="157238"/>
                  <a:pt x="0" y="101319"/>
                </a:cubicBezTo>
                <a:lnTo>
                  <a:pt x="0" y="101319"/>
                </a:lnTo>
                <a:cubicBezTo>
                  <a:pt x="0" y="45399"/>
                  <a:pt x="45399" y="0"/>
                  <a:pt x="101319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6355805" y="5006825"/>
            <a:ext cx="2532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8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</a:t>
            </a:r>
            <a:endParaRPr b="0" i="0" sz="1600" u="none" cap="none" strike="noStrike"/>
          </a:p>
        </p:txBody>
      </p:sp>
      <p:sp>
        <p:nvSpPr>
          <p:cNvPr id="231" name="Google Shape;231;p7"/>
          <p:cNvSpPr/>
          <p:nvPr/>
        </p:nvSpPr>
        <p:spPr>
          <a:xfrm>
            <a:off x="6651318" y="5023712"/>
            <a:ext cx="17310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RoboDK → </a:t>
            </a:r>
            <a:r>
              <a:rPr b="1" i="0" lang="en-US" sz="93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Kinematic feasibility</a:t>
            </a:r>
            <a:endParaRPr b="0" i="0" sz="1600" u="none" cap="none" strike="noStrike"/>
          </a:p>
        </p:txBody>
      </p:sp>
      <p:sp>
        <p:nvSpPr>
          <p:cNvPr id="232" name="Google Shape;232;p7"/>
          <p:cNvSpPr/>
          <p:nvPr/>
        </p:nvSpPr>
        <p:spPr>
          <a:xfrm>
            <a:off x="6381135" y="5260122"/>
            <a:ext cx="202637" cy="202637"/>
          </a:xfrm>
          <a:custGeom>
            <a:rect b="b" l="l" r="r" t="t"/>
            <a:pathLst>
              <a:path extrusionOk="0" h="202637" w="202637">
                <a:moveTo>
                  <a:pt x="101319" y="0"/>
                </a:moveTo>
                <a:lnTo>
                  <a:pt x="101319" y="0"/>
                </a:lnTo>
                <a:cubicBezTo>
                  <a:pt x="157238" y="0"/>
                  <a:pt x="202637" y="45399"/>
                  <a:pt x="202637" y="101319"/>
                </a:cubicBezTo>
                <a:lnTo>
                  <a:pt x="202637" y="101319"/>
                </a:lnTo>
                <a:cubicBezTo>
                  <a:pt x="202637" y="157238"/>
                  <a:pt x="157238" y="202637"/>
                  <a:pt x="101319" y="202637"/>
                </a:cubicBezTo>
                <a:lnTo>
                  <a:pt x="101319" y="202637"/>
                </a:lnTo>
                <a:cubicBezTo>
                  <a:pt x="45399" y="202637"/>
                  <a:pt x="0" y="157238"/>
                  <a:pt x="0" y="101319"/>
                </a:cubicBezTo>
                <a:lnTo>
                  <a:pt x="0" y="101319"/>
                </a:lnTo>
                <a:cubicBezTo>
                  <a:pt x="0" y="45399"/>
                  <a:pt x="45399" y="0"/>
                  <a:pt x="101319" y="0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6355805" y="5260122"/>
            <a:ext cx="2532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8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</a:t>
            </a:r>
            <a:endParaRPr b="0" i="0" sz="1600" u="none" cap="none" strike="noStrike"/>
          </a:p>
        </p:txBody>
      </p:sp>
      <p:sp>
        <p:nvSpPr>
          <p:cNvPr id="234" name="Google Shape;234;p7"/>
          <p:cNvSpPr/>
          <p:nvPr/>
        </p:nvSpPr>
        <p:spPr>
          <a:xfrm>
            <a:off x="6651318" y="5277008"/>
            <a:ext cx="2178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RT Toolbox 3 → </a:t>
            </a:r>
            <a:r>
              <a:rPr b="1" i="0" lang="en-US" sz="93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Controller compatibility</a:t>
            </a:r>
            <a:endParaRPr b="0" i="0" sz="1600" u="none" cap="none" strike="noStrike"/>
          </a:p>
        </p:txBody>
      </p:sp>
      <p:sp>
        <p:nvSpPr>
          <p:cNvPr id="235" name="Google Shape;235;p7"/>
          <p:cNvSpPr/>
          <p:nvPr/>
        </p:nvSpPr>
        <p:spPr>
          <a:xfrm>
            <a:off x="6381135" y="5513418"/>
            <a:ext cx="202637" cy="202637"/>
          </a:xfrm>
          <a:custGeom>
            <a:rect b="b" l="l" r="r" t="t"/>
            <a:pathLst>
              <a:path extrusionOk="0" h="202637" w="202637">
                <a:moveTo>
                  <a:pt x="101319" y="0"/>
                </a:moveTo>
                <a:lnTo>
                  <a:pt x="101319" y="0"/>
                </a:lnTo>
                <a:cubicBezTo>
                  <a:pt x="157238" y="0"/>
                  <a:pt x="202637" y="45399"/>
                  <a:pt x="202637" y="101319"/>
                </a:cubicBezTo>
                <a:lnTo>
                  <a:pt x="202637" y="101319"/>
                </a:lnTo>
                <a:cubicBezTo>
                  <a:pt x="202637" y="157238"/>
                  <a:pt x="157238" y="202637"/>
                  <a:pt x="101319" y="202637"/>
                </a:cubicBezTo>
                <a:lnTo>
                  <a:pt x="101319" y="202637"/>
                </a:lnTo>
                <a:cubicBezTo>
                  <a:pt x="45399" y="202637"/>
                  <a:pt x="0" y="157238"/>
                  <a:pt x="0" y="101319"/>
                </a:cubicBezTo>
                <a:lnTo>
                  <a:pt x="0" y="101319"/>
                </a:lnTo>
                <a:cubicBezTo>
                  <a:pt x="0" y="45399"/>
                  <a:pt x="45399" y="0"/>
                  <a:pt x="101319" y="0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6355805" y="5513418"/>
            <a:ext cx="2532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8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4</a:t>
            </a:r>
            <a:endParaRPr b="0" i="0" sz="1600" u="none" cap="none" strike="noStrike"/>
          </a:p>
        </p:txBody>
      </p:sp>
      <p:sp>
        <p:nvSpPr>
          <p:cNvPr id="237" name="Google Shape;237;p7"/>
          <p:cNvSpPr/>
          <p:nvPr/>
        </p:nvSpPr>
        <p:spPr>
          <a:xfrm>
            <a:off x="6651318" y="5530305"/>
            <a:ext cx="2043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Physical Robot → </a:t>
            </a:r>
            <a:r>
              <a:rPr b="1" i="0" lang="en-US" sz="93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Execution validation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/>
          <p:nvPr/>
        </p:nvSpPr>
        <p:spPr>
          <a:xfrm>
            <a:off x="381000" y="438150"/>
            <a:ext cx="76200" cy="457200"/>
          </a:xfrm>
          <a:custGeom>
            <a:rect b="b" l="l" r="r" t="t"/>
            <a:pathLst>
              <a:path extrusionOk="0" h="457200" w="76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244" name="Google Shape;244;p8"/>
          <p:cNvSpPr/>
          <p:nvPr/>
        </p:nvSpPr>
        <p:spPr>
          <a:xfrm>
            <a:off x="571500" y="381000"/>
            <a:ext cx="7686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2 — Methodology</a:t>
            </a:r>
            <a:endParaRPr b="0" i="0" sz="1600" u="none" cap="none" strike="noStrike"/>
          </a:p>
        </p:txBody>
      </p:sp>
      <p:sp>
        <p:nvSpPr>
          <p:cNvPr id="245" name="Google Shape;245;p8"/>
          <p:cNvSpPr/>
          <p:nvPr/>
        </p:nvSpPr>
        <p:spPr>
          <a:xfrm>
            <a:off x="571500" y="571500"/>
            <a:ext cx="7791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From CAD to Simulation — Fusion 360 to RoboDK</a:t>
            </a:r>
            <a:endParaRPr b="0" i="0" sz="1600" u="none" cap="none" strike="noStrike"/>
          </a:p>
        </p:txBody>
      </p:sp>
      <p:sp>
        <p:nvSpPr>
          <p:cNvPr id="246" name="Google Shape;246;p8"/>
          <p:cNvSpPr/>
          <p:nvPr/>
        </p:nvSpPr>
        <p:spPr>
          <a:xfrm>
            <a:off x="381000" y="1085850"/>
            <a:ext cx="5638800" cy="4972050"/>
          </a:xfrm>
          <a:custGeom>
            <a:rect b="b" l="l" r="r" t="t"/>
            <a:pathLst>
              <a:path extrusionOk="0" h="4972050" w="56388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4895828"/>
                </a:lnTo>
                <a:cubicBezTo>
                  <a:pt x="5638800" y="4937924"/>
                  <a:pt x="5604674" y="4972050"/>
                  <a:pt x="5562578" y="4972050"/>
                </a:cubicBezTo>
                <a:lnTo>
                  <a:pt x="76222" y="4972050"/>
                </a:lnTo>
                <a:cubicBezTo>
                  <a:pt x="34126" y="4972050"/>
                  <a:pt x="0" y="4937924"/>
                  <a:pt x="0" y="489582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rotWithShape="0" algn="bl" dir="54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381000" y="1085850"/>
            <a:ext cx="5638800" cy="38100"/>
          </a:xfrm>
          <a:custGeom>
            <a:rect b="b" l="l" r="r" t="t"/>
            <a:pathLst>
              <a:path extrusionOk="0" h="38100" w="56388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519113" y="1257300"/>
            <a:ext cx="190500" cy="190500"/>
          </a:xfrm>
          <a:custGeom>
            <a:rect b="b" l="l" r="r" t="t"/>
            <a:pathLst>
              <a:path extrusionOk="0" h="190500" w="190500">
                <a:moveTo>
                  <a:pt x="83455" y="-930"/>
                </a:moveTo>
                <a:cubicBezTo>
                  <a:pt x="90822" y="-5172"/>
                  <a:pt x="99901" y="-5172"/>
                  <a:pt x="107268" y="-930"/>
                </a:cubicBezTo>
                <a:lnTo>
                  <a:pt x="172715" y="36835"/>
                </a:lnTo>
                <a:cubicBezTo>
                  <a:pt x="180082" y="41077"/>
                  <a:pt x="184621" y="48964"/>
                  <a:pt x="184621" y="57448"/>
                </a:cubicBezTo>
                <a:lnTo>
                  <a:pt x="184621" y="132978"/>
                </a:lnTo>
                <a:cubicBezTo>
                  <a:pt x="184621" y="141498"/>
                  <a:pt x="180082" y="149349"/>
                  <a:pt x="172715" y="153591"/>
                </a:cubicBezTo>
                <a:lnTo>
                  <a:pt x="107268" y="191430"/>
                </a:lnTo>
                <a:cubicBezTo>
                  <a:pt x="99901" y="195672"/>
                  <a:pt x="90822" y="195672"/>
                  <a:pt x="83455" y="191430"/>
                </a:cubicBezTo>
                <a:lnTo>
                  <a:pt x="18045" y="153665"/>
                </a:lnTo>
                <a:cubicBezTo>
                  <a:pt x="10678" y="149423"/>
                  <a:pt x="6139" y="141536"/>
                  <a:pt x="6139" y="133052"/>
                </a:cubicBezTo>
                <a:lnTo>
                  <a:pt x="6139" y="57522"/>
                </a:lnTo>
                <a:cubicBezTo>
                  <a:pt x="6139" y="49002"/>
                  <a:pt x="10678" y="41151"/>
                  <a:pt x="18045" y="36909"/>
                </a:cubicBezTo>
                <a:lnTo>
                  <a:pt x="83455" y="-930"/>
                </a:lnTo>
                <a:close/>
                <a:moveTo>
                  <a:pt x="160772" y="133015"/>
                </a:moveTo>
                <a:lnTo>
                  <a:pt x="160772" y="71214"/>
                </a:lnTo>
                <a:lnTo>
                  <a:pt x="107268" y="102096"/>
                </a:lnTo>
                <a:lnTo>
                  <a:pt x="107268" y="163897"/>
                </a:lnTo>
                <a:lnTo>
                  <a:pt x="160772" y="133015"/>
                </a:ln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809625" y="1219200"/>
            <a:ext cx="4286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Part A — CAM Toolpath Generation in Fusion 360</a:t>
            </a:r>
            <a:endParaRPr b="0" i="0" sz="1600" u="none" cap="none" strike="noStrike"/>
          </a:p>
        </p:txBody>
      </p:sp>
      <p:sp>
        <p:nvSpPr>
          <p:cNvPr id="250" name="Google Shape;250;p8"/>
          <p:cNvSpPr/>
          <p:nvPr/>
        </p:nvSpPr>
        <p:spPr>
          <a:xfrm>
            <a:off x="495300" y="1633538"/>
            <a:ext cx="5410200" cy="762000"/>
          </a:xfrm>
          <a:custGeom>
            <a:rect b="b" l="l" r="r" t="t"/>
            <a:pathLst>
              <a:path extrusionOk="0" h="762000" w="5410200">
                <a:moveTo>
                  <a:pt x="38100" y="0"/>
                </a:moveTo>
                <a:lnTo>
                  <a:pt x="5372100" y="0"/>
                </a:lnTo>
                <a:cubicBezTo>
                  <a:pt x="5393128" y="0"/>
                  <a:pt x="5410200" y="17072"/>
                  <a:pt x="5410200" y="38100"/>
                </a:cubicBezTo>
                <a:lnTo>
                  <a:pt x="5410200" y="723900"/>
                </a:lnTo>
                <a:cubicBezTo>
                  <a:pt x="5410200" y="744928"/>
                  <a:pt x="5393128" y="762000"/>
                  <a:pt x="53721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571500" y="1709738"/>
            <a:ext cx="5324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F2D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1. Part Geometry &amp; Stock Definition</a:t>
            </a:r>
            <a:endParaRPr b="0" i="0" sz="1600" u="none" cap="none" strike="noStrike"/>
          </a:p>
        </p:txBody>
      </p:sp>
      <p:sp>
        <p:nvSpPr>
          <p:cNvPr id="252" name="Google Shape;252;p8"/>
          <p:cNvSpPr/>
          <p:nvPr/>
        </p:nvSpPr>
        <p:spPr>
          <a:xfrm>
            <a:off x="571500" y="1938337"/>
            <a:ext cx="5324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Part designed or imported; stock geometry explicitly defined for material removal computation and collision detection.</a:t>
            </a:r>
            <a:endParaRPr b="0" i="0" sz="1600" u="none" cap="none" strike="noStrike"/>
          </a:p>
        </p:txBody>
      </p:sp>
      <p:sp>
        <p:nvSpPr>
          <p:cNvPr id="253" name="Google Shape;253;p8"/>
          <p:cNvSpPr/>
          <p:nvPr/>
        </p:nvSpPr>
        <p:spPr>
          <a:xfrm>
            <a:off x="495300" y="2614613"/>
            <a:ext cx="5410200" cy="1257300"/>
          </a:xfrm>
          <a:custGeom>
            <a:rect b="b" l="l" r="r" t="t"/>
            <a:pathLst>
              <a:path extrusionOk="0" h="1257300" w="5410200">
                <a:moveTo>
                  <a:pt x="38096" y="0"/>
                </a:moveTo>
                <a:lnTo>
                  <a:pt x="5372104" y="0"/>
                </a:lnTo>
                <a:cubicBezTo>
                  <a:pt x="5393144" y="0"/>
                  <a:pt x="5410200" y="17056"/>
                  <a:pt x="5410200" y="38096"/>
                </a:cubicBezTo>
                <a:lnTo>
                  <a:pt x="5410200" y="1219204"/>
                </a:lnTo>
                <a:cubicBezTo>
                  <a:pt x="5410200" y="1240244"/>
                  <a:pt x="5393144" y="1257300"/>
                  <a:pt x="5372104" y="1257300"/>
                </a:cubicBezTo>
                <a:lnTo>
                  <a:pt x="38096" y="1257300"/>
                </a:lnTo>
                <a:cubicBezTo>
                  <a:pt x="17056" y="1257300"/>
                  <a:pt x="0" y="1240244"/>
                  <a:pt x="0" y="12192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571500" y="2690813"/>
            <a:ext cx="5324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F2D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2. Machining Operations</a:t>
            </a:r>
            <a:endParaRPr b="0" i="0" sz="1600" u="none" cap="none" strike="noStrike"/>
          </a:p>
        </p:txBody>
      </p:sp>
      <p:sp>
        <p:nvSpPr>
          <p:cNvPr id="255" name="Google Shape;255;p8"/>
          <p:cNvSpPr/>
          <p:nvPr/>
        </p:nvSpPr>
        <p:spPr>
          <a:xfrm>
            <a:off x="571500" y="2919413"/>
            <a:ext cx="5324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Operations constructed in Manufacture workspace:</a:t>
            </a:r>
            <a:endParaRPr b="0" i="0" sz="1600" u="none" cap="none" strike="noStrike"/>
          </a:p>
        </p:txBody>
      </p:sp>
      <p:sp>
        <p:nvSpPr>
          <p:cNvPr id="256" name="Google Shape;256;p8"/>
          <p:cNvSpPr/>
          <p:nvPr/>
        </p:nvSpPr>
        <p:spPr>
          <a:xfrm>
            <a:off x="571500" y="3148013"/>
            <a:ext cx="2609850" cy="190500"/>
          </a:xfrm>
          <a:custGeom>
            <a:rect b="b" l="l" r="r" t="t"/>
            <a:pathLst>
              <a:path extrusionOk="0" h="190500" w="2609850">
                <a:moveTo>
                  <a:pt x="38100" y="0"/>
                </a:moveTo>
                <a:lnTo>
                  <a:pt x="2571750" y="0"/>
                </a:lnTo>
                <a:cubicBezTo>
                  <a:pt x="2592778" y="0"/>
                  <a:pt x="2609850" y="17072"/>
                  <a:pt x="2609850" y="38100"/>
                </a:cubicBezTo>
                <a:lnTo>
                  <a:pt x="2609850" y="152400"/>
                </a:lnTo>
                <a:cubicBezTo>
                  <a:pt x="2609850" y="173428"/>
                  <a:pt x="2592778" y="190500"/>
                  <a:pt x="25717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571500" y="3148013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76200" spcFirstLastPara="1" rIns="76200" wrap="square" tIns="190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Facing</a:t>
            </a:r>
            <a:endParaRPr b="0" i="0" sz="1600" u="none" cap="none" strike="noStrike"/>
          </a:p>
        </p:txBody>
      </p:sp>
      <p:sp>
        <p:nvSpPr>
          <p:cNvPr id="258" name="Google Shape;258;p8"/>
          <p:cNvSpPr/>
          <p:nvPr/>
        </p:nvSpPr>
        <p:spPr>
          <a:xfrm>
            <a:off x="3219450" y="3148013"/>
            <a:ext cx="2609850" cy="190500"/>
          </a:xfrm>
          <a:custGeom>
            <a:rect b="b" l="l" r="r" t="t"/>
            <a:pathLst>
              <a:path extrusionOk="0" h="190500" w="2609850">
                <a:moveTo>
                  <a:pt x="38100" y="0"/>
                </a:moveTo>
                <a:lnTo>
                  <a:pt x="2571750" y="0"/>
                </a:lnTo>
                <a:cubicBezTo>
                  <a:pt x="2592778" y="0"/>
                  <a:pt x="2609850" y="17072"/>
                  <a:pt x="2609850" y="38100"/>
                </a:cubicBezTo>
                <a:lnTo>
                  <a:pt x="2609850" y="152400"/>
                </a:lnTo>
                <a:cubicBezTo>
                  <a:pt x="2609850" y="173428"/>
                  <a:pt x="2592778" y="190500"/>
                  <a:pt x="25717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3219450" y="3148013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76200" spcFirstLastPara="1" rIns="76200" wrap="square" tIns="190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3D Contouring</a:t>
            </a:r>
            <a:endParaRPr b="0" i="0" sz="1600" u="none" cap="none" strike="noStrike"/>
          </a:p>
        </p:txBody>
      </p:sp>
      <p:sp>
        <p:nvSpPr>
          <p:cNvPr id="260" name="Google Shape;260;p8"/>
          <p:cNvSpPr/>
          <p:nvPr/>
        </p:nvSpPr>
        <p:spPr>
          <a:xfrm>
            <a:off x="571500" y="3376613"/>
            <a:ext cx="2609850" cy="190500"/>
          </a:xfrm>
          <a:custGeom>
            <a:rect b="b" l="l" r="r" t="t"/>
            <a:pathLst>
              <a:path extrusionOk="0" h="190500" w="2609850">
                <a:moveTo>
                  <a:pt x="38100" y="0"/>
                </a:moveTo>
                <a:lnTo>
                  <a:pt x="2571750" y="0"/>
                </a:lnTo>
                <a:cubicBezTo>
                  <a:pt x="2592778" y="0"/>
                  <a:pt x="2609850" y="17072"/>
                  <a:pt x="2609850" y="38100"/>
                </a:cubicBezTo>
                <a:lnTo>
                  <a:pt x="2609850" y="152400"/>
                </a:lnTo>
                <a:cubicBezTo>
                  <a:pt x="2609850" y="173428"/>
                  <a:pt x="2592778" y="190500"/>
                  <a:pt x="25717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571500" y="3376613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76200" spcFirstLastPara="1" rIns="76200" wrap="square" tIns="190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Parallel Passes</a:t>
            </a:r>
            <a:endParaRPr b="0" i="0" sz="1600" u="none" cap="none" strike="noStrike"/>
          </a:p>
        </p:txBody>
      </p:sp>
      <p:sp>
        <p:nvSpPr>
          <p:cNvPr id="262" name="Google Shape;262;p8"/>
          <p:cNvSpPr/>
          <p:nvPr/>
        </p:nvSpPr>
        <p:spPr>
          <a:xfrm>
            <a:off x="3219450" y="3376613"/>
            <a:ext cx="2609850" cy="190500"/>
          </a:xfrm>
          <a:custGeom>
            <a:rect b="b" l="l" r="r" t="t"/>
            <a:pathLst>
              <a:path extrusionOk="0" h="190500" w="2609850">
                <a:moveTo>
                  <a:pt x="38100" y="0"/>
                </a:moveTo>
                <a:lnTo>
                  <a:pt x="2571750" y="0"/>
                </a:lnTo>
                <a:cubicBezTo>
                  <a:pt x="2592778" y="0"/>
                  <a:pt x="2609850" y="17072"/>
                  <a:pt x="2609850" y="38100"/>
                </a:cubicBezTo>
                <a:lnTo>
                  <a:pt x="2609850" y="152400"/>
                </a:lnTo>
                <a:cubicBezTo>
                  <a:pt x="2609850" y="173428"/>
                  <a:pt x="2592778" y="190500"/>
                  <a:pt x="25717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3219450" y="3376613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76200" spcFirstLastPara="1" rIns="76200" wrap="square" tIns="190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Pocket Milling</a:t>
            </a:r>
            <a:endParaRPr b="0" i="0" sz="1600" u="none" cap="none" strike="noStrike"/>
          </a:p>
        </p:txBody>
      </p:sp>
      <p:sp>
        <p:nvSpPr>
          <p:cNvPr id="264" name="Google Shape;264;p8"/>
          <p:cNvSpPr/>
          <p:nvPr/>
        </p:nvSpPr>
        <p:spPr>
          <a:xfrm>
            <a:off x="571500" y="3605213"/>
            <a:ext cx="5257800" cy="190500"/>
          </a:xfrm>
          <a:custGeom>
            <a:rect b="b" l="l" r="r" t="t"/>
            <a:pathLst>
              <a:path extrusionOk="0" h="190500" w="5257800">
                <a:moveTo>
                  <a:pt x="38100" y="0"/>
                </a:moveTo>
                <a:lnTo>
                  <a:pt x="5219700" y="0"/>
                </a:lnTo>
                <a:cubicBezTo>
                  <a:pt x="5240728" y="0"/>
                  <a:pt x="5257800" y="17072"/>
                  <a:pt x="5257800" y="38100"/>
                </a:cubicBezTo>
                <a:lnTo>
                  <a:pt x="5257800" y="152400"/>
                </a:lnTo>
                <a:cubicBezTo>
                  <a:pt x="5257800" y="173428"/>
                  <a:pt x="5240728" y="190500"/>
                  <a:pt x="52197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571500" y="3605213"/>
            <a:ext cx="5315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76200" spcFirstLastPara="1" rIns="76200" wrap="square" tIns="190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Multi-Axis Simultaneous</a:t>
            </a:r>
            <a:endParaRPr b="0" i="0" sz="1600" u="none" cap="none" strike="noStrike"/>
          </a:p>
        </p:txBody>
      </p:sp>
      <p:sp>
        <p:nvSpPr>
          <p:cNvPr id="266" name="Google Shape;266;p8"/>
          <p:cNvSpPr/>
          <p:nvPr/>
        </p:nvSpPr>
        <p:spPr>
          <a:xfrm>
            <a:off x="495300" y="4090987"/>
            <a:ext cx="5410200" cy="762000"/>
          </a:xfrm>
          <a:custGeom>
            <a:rect b="b" l="l" r="r" t="t"/>
            <a:pathLst>
              <a:path extrusionOk="0" h="762000" w="5410200">
                <a:moveTo>
                  <a:pt x="38100" y="0"/>
                </a:moveTo>
                <a:lnTo>
                  <a:pt x="5372100" y="0"/>
                </a:lnTo>
                <a:cubicBezTo>
                  <a:pt x="5393128" y="0"/>
                  <a:pt x="5410200" y="17072"/>
                  <a:pt x="5410200" y="38100"/>
                </a:cubicBezTo>
                <a:lnTo>
                  <a:pt x="5410200" y="723900"/>
                </a:lnTo>
                <a:cubicBezTo>
                  <a:pt x="5410200" y="744928"/>
                  <a:pt x="5393128" y="762000"/>
                  <a:pt x="53721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571500" y="4167188"/>
            <a:ext cx="5324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F2D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3. Tool Library Entry</a:t>
            </a:r>
            <a:endParaRPr b="0" i="0" sz="1600" u="none" cap="none" strike="noStrike"/>
          </a:p>
        </p:txBody>
      </p:sp>
      <p:sp>
        <p:nvSpPr>
          <p:cNvPr id="268" name="Google Shape;268;p8"/>
          <p:cNvSpPr/>
          <p:nvPr/>
        </p:nvSpPr>
        <p:spPr>
          <a:xfrm>
            <a:off x="571500" y="4395788"/>
            <a:ext cx="5324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Tool library entry</a:t>
            </a:r>
            <a:r>
              <a:rPr lang="en-US" sz="105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matches physical tool geometry, used for selecting the most appropriate tool for the process.</a:t>
            </a:r>
            <a:endParaRPr b="0" i="0" sz="1600" u="none" cap="none" strike="noStrike"/>
          </a:p>
        </p:txBody>
      </p:sp>
      <p:sp>
        <p:nvSpPr>
          <p:cNvPr id="269" name="Google Shape;269;p8"/>
          <p:cNvSpPr/>
          <p:nvPr/>
        </p:nvSpPr>
        <p:spPr>
          <a:xfrm>
            <a:off x="504825" y="5081588"/>
            <a:ext cx="5391150" cy="781050"/>
          </a:xfrm>
          <a:custGeom>
            <a:rect b="b" l="l" r="r" t="t"/>
            <a:pathLst>
              <a:path extrusionOk="0" h="781050" w="5391150">
                <a:moveTo>
                  <a:pt x="38100" y="0"/>
                </a:moveTo>
                <a:lnTo>
                  <a:pt x="5353050" y="0"/>
                </a:lnTo>
                <a:cubicBezTo>
                  <a:pt x="5374092" y="0"/>
                  <a:pt x="5391150" y="17058"/>
                  <a:pt x="5391150" y="38100"/>
                </a:cubicBezTo>
                <a:lnTo>
                  <a:pt x="5391150" y="742950"/>
                </a:lnTo>
                <a:cubicBezTo>
                  <a:pt x="5391150" y="763992"/>
                  <a:pt x="5374092" y="781050"/>
                  <a:pt x="5353050" y="781050"/>
                </a:cubicBezTo>
                <a:lnTo>
                  <a:pt x="38100" y="781050"/>
                </a:lnTo>
                <a:cubicBezTo>
                  <a:pt x="17058" y="781050"/>
                  <a:pt x="0" y="763992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EDD4"/>
          </a:solidFill>
          <a:ln cap="flat" cmpd="sng" w="25400">
            <a:solidFill>
              <a:srgbClr val="FF89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590550" y="5167313"/>
            <a:ext cx="5286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4. RoboDK Integration via Plugin</a:t>
            </a:r>
            <a:endParaRPr b="0" i="0" sz="1600" u="none" cap="none" strike="noStrike"/>
          </a:p>
        </p:txBody>
      </p:sp>
      <p:sp>
        <p:nvSpPr>
          <p:cNvPr id="271" name="Google Shape;271;p8"/>
          <p:cNvSpPr/>
          <p:nvPr/>
        </p:nvSpPr>
        <p:spPr>
          <a:xfrm>
            <a:off x="590550" y="5395913"/>
            <a:ext cx="5286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CAM toolpaths are programmatically imported into RoboDK for simulation, enabling a seamless transition from Fusion 360 to the robot environment.</a:t>
            </a:r>
            <a:endParaRPr b="0" i="0" sz="1600" u="none" cap="none" strike="noStrike"/>
          </a:p>
        </p:txBody>
      </p:sp>
      <p:sp>
        <p:nvSpPr>
          <p:cNvPr id="272" name="Google Shape;272;p8"/>
          <p:cNvSpPr/>
          <p:nvPr/>
        </p:nvSpPr>
        <p:spPr>
          <a:xfrm>
            <a:off x="6172200" y="1085850"/>
            <a:ext cx="5638800" cy="4972050"/>
          </a:xfrm>
          <a:custGeom>
            <a:rect b="b" l="l" r="r" t="t"/>
            <a:pathLst>
              <a:path extrusionOk="0" h="4972050" w="56388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4895828"/>
                </a:lnTo>
                <a:cubicBezTo>
                  <a:pt x="5638800" y="4937924"/>
                  <a:pt x="5604674" y="4972050"/>
                  <a:pt x="5562578" y="4972050"/>
                </a:cubicBezTo>
                <a:lnTo>
                  <a:pt x="76222" y="4972050"/>
                </a:lnTo>
                <a:cubicBezTo>
                  <a:pt x="34126" y="4972050"/>
                  <a:pt x="0" y="4937924"/>
                  <a:pt x="0" y="489582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rotWithShape="0" algn="bl" dir="54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6172200" y="1085850"/>
            <a:ext cx="5638800" cy="38100"/>
          </a:xfrm>
          <a:custGeom>
            <a:rect b="b" l="l" r="r" t="t"/>
            <a:pathLst>
              <a:path extrusionOk="0" h="38100" w="56388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6310313" y="1257300"/>
            <a:ext cx="190500" cy="190500"/>
          </a:xfrm>
          <a:custGeom>
            <a:rect b="b" l="l" r="r" t="t"/>
            <a:pathLst>
              <a:path extrusionOk="0" h="190500" w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6600825" y="1219200"/>
            <a:ext cx="4210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Part B — RoboDK Simulation Environment Setup</a:t>
            </a:r>
            <a:endParaRPr b="0" i="0" sz="1600" u="none" cap="none" strike="noStrike"/>
          </a:p>
        </p:txBody>
      </p:sp>
      <p:sp>
        <p:nvSpPr>
          <p:cNvPr id="276" name="Google Shape;276;p8"/>
          <p:cNvSpPr/>
          <p:nvPr/>
        </p:nvSpPr>
        <p:spPr>
          <a:xfrm>
            <a:off x="6286500" y="1571625"/>
            <a:ext cx="5410200" cy="762000"/>
          </a:xfrm>
          <a:custGeom>
            <a:rect b="b" l="l" r="r" t="t"/>
            <a:pathLst>
              <a:path extrusionOk="0" h="762000" w="5410200">
                <a:moveTo>
                  <a:pt x="38100" y="0"/>
                </a:moveTo>
                <a:lnTo>
                  <a:pt x="5372100" y="0"/>
                </a:lnTo>
                <a:cubicBezTo>
                  <a:pt x="5393128" y="0"/>
                  <a:pt x="5410200" y="17072"/>
                  <a:pt x="5410200" y="38100"/>
                </a:cubicBezTo>
                <a:lnTo>
                  <a:pt x="5410200" y="723900"/>
                </a:lnTo>
                <a:cubicBezTo>
                  <a:pt x="5410200" y="744928"/>
                  <a:pt x="5393128" y="762000"/>
                  <a:pt x="53721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6362700" y="1647825"/>
            <a:ext cx="5324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93CB8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Robot Model Import</a:t>
            </a:r>
            <a:endParaRPr b="0" i="0" sz="1600" u="none" cap="none" strike="noStrike"/>
          </a:p>
        </p:txBody>
      </p:sp>
      <p:sp>
        <p:nvSpPr>
          <p:cNvPr id="278" name="Google Shape;278;p8"/>
          <p:cNvSpPr/>
          <p:nvPr/>
        </p:nvSpPr>
        <p:spPr>
          <a:xfrm>
            <a:off x="6362700" y="1876425"/>
            <a:ext cx="5324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Physical robot model (Mitsubishi RV series) imported from built-in library </a:t>
            </a: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—</a:t>
            </a: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accurate kinematic model.</a:t>
            </a:r>
            <a:endParaRPr b="0" i="0" sz="1600" u="none" cap="none" strike="noStrike"/>
          </a:p>
        </p:txBody>
      </p:sp>
      <p:sp>
        <p:nvSpPr>
          <p:cNvPr id="279" name="Google Shape;279;p8"/>
          <p:cNvSpPr/>
          <p:nvPr/>
        </p:nvSpPr>
        <p:spPr>
          <a:xfrm>
            <a:off x="6286500" y="2428875"/>
            <a:ext cx="5410200" cy="1524000"/>
          </a:xfrm>
          <a:custGeom>
            <a:rect b="b" l="l" r="r" t="t"/>
            <a:pathLst>
              <a:path extrusionOk="0" h="1524000" w="5410200">
                <a:moveTo>
                  <a:pt x="38100" y="0"/>
                </a:moveTo>
                <a:lnTo>
                  <a:pt x="5372100" y="0"/>
                </a:lnTo>
                <a:cubicBezTo>
                  <a:pt x="5393128" y="0"/>
                  <a:pt x="5410200" y="17072"/>
                  <a:pt x="5410200" y="38100"/>
                </a:cubicBezTo>
                <a:lnTo>
                  <a:pt x="5410200" y="1485900"/>
                </a:lnTo>
                <a:cubicBezTo>
                  <a:pt x="5410200" y="1506928"/>
                  <a:pt x="5393128" y="1524000"/>
                  <a:pt x="537210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6362700" y="2505075"/>
            <a:ext cx="5324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93CB8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Three Main Coordinate Frames Defined</a:t>
            </a:r>
            <a:endParaRPr b="0" i="0" sz="1600" u="none" cap="none" strike="noStrike"/>
          </a:p>
        </p:txBody>
      </p:sp>
      <p:sp>
        <p:nvSpPr>
          <p:cNvPr id="281" name="Google Shape;281;p8"/>
          <p:cNvSpPr/>
          <p:nvPr/>
        </p:nvSpPr>
        <p:spPr>
          <a:xfrm>
            <a:off x="6362700" y="2733675"/>
            <a:ext cx="304800" cy="304800"/>
          </a:xfrm>
          <a:custGeom>
            <a:rect b="b" l="l" r="r" t="t"/>
            <a:pathLst>
              <a:path extrusionOk="0" h="304800" w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9A1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6334125" y="2733675"/>
            <a:ext cx="362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</a:t>
            </a:r>
            <a:endParaRPr b="0" i="0" sz="1600" u="none" cap="none" strike="noStrike"/>
          </a:p>
        </p:txBody>
      </p:sp>
      <p:sp>
        <p:nvSpPr>
          <p:cNvPr id="283" name="Google Shape;283;p8"/>
          <p:cNvSpPr/>
          <p:nvPr/>
        </p:nvSpPr>
        <p:spPr>
          <a:xfrm>
            <a:off x="6743700" y="2733675"/>
            <a:ext cx="3343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World / Base Frame</a:t>
            </a:r>
            <a:endParaRPr b="0" i="0" sz="1600" u="none" cap="none" strike="noStrike"/>
          </a:p>
        </p:txBody>
      </p:sp>
      <p:sp>
        <p:nvSpPr>
          <p:cNvPr id="284" name="Google Shape;284;p8"/>
          <p:cNvSpPr/>
          <p:nvPr/>
        </p:nvSpPr>
        <p:spPr>
          <a:xfrm>
            <a:off x="6743700" y="2924175"/>
            <a:ext cx="3333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Root at robot base — all spatial references expressed relative to this</a:t>
            </a:r>
            <a:endParaRPr b="0" i="0" sz="1600" u="none" cap="none" strike="noStrike"/>
          </a:p>
        </p:txBody>
      </p:sp>
      <p:sp>
        <p:nvSpPr>
          <p:cNvPr id="285" name="Google Shape;285;p8"/>
          <p:cNvSpPr/>
          <p:nvPr/>
        </p:nvSpPr>
        <p:spPr>
          <a:xfrm>
            <a:off x="6362700" y="3133725"/>
            <a:ext cx="304800" cy="304800"/>
          </a:xfrm>
          <a:custGeom>
            <a:rect b="b" l="l" r="r" t="t"/>
            <a:pathLst>
              <a:path extrusionOk="0" h="304800" w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B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6334125" y="3133725"/>
            <a:ext cx="362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Wp</a:t>
            </a:r>
            <a:endParaRPr b="0" i="0" sz="1600" u="none" cap="none" strike="noStrike"/>
          </a:p>
        </p:txBody>
      </p:sp>
      <p:sp>
        <p:nvSpPr>
          <p:cNvPr id="287" name="Google Shape;287;p8"/>
          <p:cNvSpPr/>
          <p:nvPr/>
        </p:nvSpPr>
        <p:spPr>
          <a:xfrm>
            <a:off x="6743700" y="3133725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Workpiece Frame</a:t>
            </a:r>
            <a:endParaRPr b="0" i="0" sz="1600" u="none" cap="none" strike="noStrike"/>
          </a:p>
        </p:txBody>
      </p:sp>
      <p:sp>
        <p:nvSpPr>
          <p:cNvPr id="288" name="Google Shape;288;p8"/>
          <p:cNvSpPr/>
          <p:nvPr/>
        </p:nvSpPr>
        <p:spPr>
          <a:xfrm>
            <a:off x="6743700" y="3324225"/>
            <a:ext cx="2466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Part coordinate system positioned relative to base</a:t>
            </a:r>
            <a:endParaRPr b="0" i="0" sz="1600" u="none" cap="none" strike="noStrike"/>
          </a:p>
        </p:txBody>
      </p:sp>
      <p:sp>
        <p:nvSpPr>
          <p:cNvPr id="289" name="Google Shape;289;p8"/>
          <p:cNvSpPr/>
          <p:nvPr/>
        </p:nvSpPr>
        <p:spPr>
          <a:xfrm>
            <a:off x="6362700" y="3533775"/>
            <a:ext cx="304800" cy="304800"/>
          </a:xfrm>
          <a:custGeom>
            <a:rect b="b" l="l" r="r" t="t"/>
            <a:pathLst>
              <a:path extrusionOk="0" h="304800" w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6334125" y="3533775"/>
            <a:ext cx="362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TCP</a:t>
            </a:r>
            <a:endParaRPr b="0" i="0" sz="1600" u="none" cap="none" strike="noStrike"/>
          </a:p>
        </p:txBody>
      </p:sp>
      <p:sp>
        <p:nvSpPr>
          <p:cNvPr id="291" name="Google Shape;291;p8"/>
          <p:cNvSpPr/>
          <p:nvPr/>
        </p:nvSpPr>
        <p:spPr>
          <a:xfrm>
            <a:off x="6743700" y="3533775"/>
            <a:ext cx="335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Tool Frame (TCP)</a:t>
            </a:r>
            <a:endParaRPr b="0" i="0" sz="1600" u="none" cap="none" strike="noStrike"/>
          </a:p>
        </p:txBody>
      </p:sp>
      <p:sp>
        <p:nvSpPr>
          <p:cNvPr id="292" name="Google Shape;292;p8"/>
          <p:cNvSpPr/>
          <p:nvPr/>
        </p:nvSpPr>
        <p:spPr>
          <a:xfrm>
            <a:off x="6743700" y="3724275"/>
            <a:ext cx="3343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Functional tool tip relative to flange </a:t>
            </a:r>
            <a:r>
              <a:rPr lang="en-US" sz="900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- </a:t>
            </a:r>
            <a:r>
              <a:rPr b="0" i="0" lang="en-US" sz="9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most technically demanding</a:t>
            </a:r>
            <a:endParaRPr b="0" i="0" sz="1600" u="none" cap="none" strike="noStrike"/>
          </a:p>
        </p:txBody>
      </p:sp>
      <p:sp>
        <p:nvSpPr>
          <p:cNvPr id="293" name="Google Shape;293;p8"/>
          <p:cNvSpPr/>
          <p:nvPr/>
        </p:nvSpPr>
        <p:spPr>
          <a:xfrm>
            <a:off x="6286500" y="4048125"/>
            <a:ext cx="5410200" cy="762000"/>
          </a:xfrm>
          <a:custGeom>
            <a:rect b="b" l="l" r="r" t="t"/>
            <a:pathLst>
              <a:path extrusionOk="0" h="762000" w="5410200">
                <a:moveTo>
                  <a:pt x="38100" y="0"/>
                </a:moveTo>
                <a:lnTo>
                  <a:pt x="5372100" y="0"/>
                </a:lnTo>
                <a:cubicBezTo>
                  <a:pt x="5393128" y="0"/>
                  <a:pt x="5410200" y="17072"/>
                  <a:pt x="5410200" y="38100"/>
                </a:cubicBezTo>
                <a:lnTo>
                  <a:pt x="5410200" y="723900"/>
                </a:lnTo>
                <a:cubicBezTo>
                  <a:pt x="5410200" y="744928"/>
                  <a:pt x="5393128" y="762000"/>
                  <a:pt x="53721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6362700" y="4124325"/>
            <a:ext cx="5324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93CB8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Toolpath Import &amp; Validation</a:t>
            </a:r>
            <a:endParaRPr b="0" i="0" sz="1600" u="none" cap="none" strike="noStrike"/>
          </a:p>
        </p:txBody>
      </p:sp>
      <p:sp>
        <p:nvSpPr>
          <p:cNvPr id="295" name="Google Shape;295;p8"/>
          <p:cNvSpPr/>
          <p:nvPr/>
        </p:nvSpPr>
        <p:spPr>
          <a:xfrm>
            <a:off x="6362700" y="4352925"/>
            <a:ext cx="5324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Fusion 360 toolpath imported with correct frame assignment; reachability and singularity checks run across all targets.</a:t>
            </a:r>
            <a:endParaRPr b="0" i="0" sz="1600" u="none" cap="none" strike="noStrike"/>
          </a:p>
        </p:txBody>
      </p:sp>
      <p:sp>
        <p:nvSpPr>
          <p:cNvPr id="296" name="Google Shape;296;p8"/>
          <p:cNvSpPr/>
          <p:nvPr/>
        </p:nvSpPr>
        <p:spPr>
          <a:xfrm>
            <a:off x="6296025" y="4914900"/>
            <a:ext cx="5391150" cy="1009650"/>
          </a:xfrm>
          <a:custGeom>
            <a:rect b="b" l="l" r="r" t="t"/>
            <a:pathLst>
              <a:path extrusionOk="0" h="1009650" w="5391150">
                <a:moveTo>
                  <a:pt x="38104" y="0"/>
                </a:moveTo>
                <a:lnTo>
                  <a:pt x="5353046" y="0"/>
                </a:lnTo>
                <a:cubicBezTo>
                  <a:pt x="5374090" y="0"/>
                  <a:pt x="5391150" y="17060"/>
                  <a:pt x="5391150" y="38104"/>
                </a:cubicBezTo>
                <a:lnTo>
                  <a:pt x="5391150" y="971546"/>
                </a:lnTo>
                <a:cubicBezTo>
                  <a:pt x="5391150" y="992590"/>
                  <a:pt x="5374090" y="1009650"/>
                  <a:pt x="5353046" y="1009650"/>
                </a:cubicBezTo>
                <a:lnTo>
                  <a:pt x="38104" y="1009650"/>
                </a:lnTo>
                <a:cubicBezTo>
                  <a:pt x="17060" y="1009650"/>
                  <a:pt x="0" y="992590"/>
                  <a:pt x="0" y="97154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DBEAFE"/>
          </a:solidFill>
          <a:ln cap="flat" cmpd="sng" w="25400">
            <a:solidFill>
              <a:srgbClr val="51A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6400800" y="5019675"/>
            <a:ext cx="133350" cy="133350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93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6581775" y="5000625"/>
            <a:ext cx="5086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93CB8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Validation Checks</a:t>
            </a:r>
            <a:endParaRPr b="0" i="0" sz="1600" u="none" cap="none" strike="noStrike"/>
          </a:p>
        </p:txBody>
      </p:sp>
      <p:sp>
        <p:nvSpPr>
          <p:cNvPr id="299" name="Google Shape;299;p8"/>
          <p:cNvSpPr/>
          <p:nvPr/>
        </p:nvSpPr>
        <p:spPr>
          <a:xfrm>
            <a:off x="6403181" y="5267325"/>
            <a:ext cx="100013" cy="114300"/>
          </a:xfrm>
          <a:custGeom>
            <a:rect b="b" l="l" r="r" t="t"/>
            <a:pathLst>
              <a:path extrusionOk="0" h="114300" w="100013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6581775" y="5229225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All targets within joint limits</a:t>
            </a:r>
            <a:endParaRPr b="0" i="0" sz="1600" u="none" cap="none" strike="noStrike"/>
          </a:p>
        </p:txBody>
      </p:sp>
      <p:sp>
        <p:nvSpPr>
          <p:cNvPr id="301" name="Google Shape;301;p8"/>
          <p:cNvSpPr/>
          <p:nvPr/>
        </p:nvSpPr>
        <p:spPr>
          <a:xfrm>
            <a:off x="6403181" y="5476875"/>
            <a:ext cx="100013" cy="114300"/>
          </a:xfrm>
          <a:custGeom>
            <a:rect b="b" l="l" r="r" t="t"/>
            <a:pathLst>
              <a:path extrusionOk="0" h="114300" w="100013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6581775" y="5438775"/>
            <a:ext cx="1590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No singular configurations</a:t>
            </a:r>
            <a:endParaRPr b="0" i="0" sz="1600" u="none" cap="none" strike="noStrike"/>
          </a:p>
        </p:txBody>
      </p:sp>
      <p:sp>
        <p:nvSpPr>
          <p:cNvPr id="303" name="Google Shape;303;p8"/>
          <p:cNvSpPr/>
          <p:nvPr/>
        </p:nvSpPr>
        <p:spPr>
          <a:xfrm>
            <a:off x="6403181" y="5686425"/>
            <a:ext cx="100013" cy="114300"/>
          </a:xfrm>
          <a:custGeom>
            <a:rect b="b" l="l" r="r" t="t"/>
            <a:pathLst>
              <a:path extrusionOk="0" h="114300" w="100013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6581775" y="5648325"/>
            <a:ext cx="181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Consistent wrist configuration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9" title="Screenshot 2026-04-18 at 4.18.49 PM.png"/>
          <p:cNvPicPr preferRelativeResize="0"/>
          <p:nvPr/>
        </p:nvPicPr>
        <p:blipFill rotWithShape="1">
          <a:blip r:embed="rId3">
            <a:alphaModFix/>
          </a:blip>
          <a:srcRect b="-21095" l="0" r="28597" t="0"/>
          <a:stretch/>
        </p:blipFill>
        <p:spPr>
          <a:xfrm>
            <a:off x="119275" y="179650"/>
            <a:ext cx="5917951" cy="7196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9" title="Screenshot 2026-04-18 at 4.19.4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1350" y="179650"/>
            <a:ext cx="5825474" cy="593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"/>
          <p:cNvSpPr/>
          <p:nvPr/>
        </p:nvSpPr>
        <p:spPr>
          <a:xfrm>
            <a:off x="136851" y="269361"/>
            <a:ext cx="64380" cy="386281"/>
          </a:xfrm>
          <a:custGeom>
            <a:rect b="b" l="l" r="r" t="t"/>
            <a:pathLst>
              <a:path extrusionOk="0" h="386281" w="64380">
                <a:moveTo>
                  <a:pt x="0" y="0"/>
                </a:moveTo>
                <a:lnTo>
                  <a:pt x="64380" y="0"/>
                </a:lnTo>
                <a:lnTo>
                  <a:pt x="64380" y="386281"/>
                </a:lnTo>
                <a:lnTo>
                  <a:pt x="0" y="38628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18" name="Google Shape;318;p10"/>
          <p:cNvSpPr/>
          <p:nvPr/>
        </p:nvSpPr>
        <p:spPr>
          <a:xfrm>
            <a:off x="297801" y="221076"/>
            <a:ext cx="61806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7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2 — Methodology</a:t>
            </a:r>
            <a:endParaRPr b="0" i="0" sz="1600" u="none" cap="none" strike="noStrike"/>
          </a:p>
        </p:txBody>
      </p:sp>
      <p:sp>
        <p:nvSpPr>
          <p:cNvPr id="319" name="Google Shape;319;p10"/>
          <p:cNvSpPr/>
          <p:nvPr/>
        </p:nvSpPr>
        <p:spPr>
          <a:xfrm>
            <a:off x="297801" y="382026"/>
            <a:ext cx="6269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8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TCP Calibration &amp; Reference Frame Finalization</a:t>
            </a:r>
            <a:endParaRPr b="0" i="0" sz="1600" u="none" cap="none" strike="noStrike"/>
          </a:p>
        </p:txBody>
      </p:sp>
      <p:sp>
        <p:nvSpPr>
          <p:cNvPr id="320" name="Google Shape;320;p10"/>
          <p:cNvSpPr/>
          <p:nvPr/>
        </p:nvSpPr>
        <p:spPr>
          <a:xfrm>
            <a:off x="136850" y="888725"/>
            <a:ext cx="6872586" cy="1834836"/>
          </a:xfrm>
          <a:custGeom>
            <a:rect b="b" l="l" r="r" t="t"/>
            <a:pathLst>
              <a:path extrusionOk="0" h="1609505" w="6872586">
                <a:moveTo>
                  <a:pt x="32190" y="0"/>
                </a:moveTo>
                <a:lnTo>
                  <a:pt x="6808206" y="0"/>
                </a:lnTo>
                <a:cubicBezTo>
                  <a:pt x="6843762" y="0"/>
                  <a:pt x="6872586" y="28824"/>
                  <a:pt x="6872586" y="64380"/>
                </a:cubicBezTo>
                <a:lnTo>
                  <a:pt x="6872586" y="1545125"/>
                </a:lnTo>
                <a:cubicBezTo>
                  <a:pt x="6872586" y="1580681"/>
                  <a:pt x="6843762" y="1609505"/>
                  <a:pt x="6808206" y="1609505"/>
                </a:cubicBezTo>
                <a:lnTo>
                  <a:pt x="32190" y="1609505"/>
                </a:lnTo>
                <a:cubicBezTo>
                  <a:pt x="14412" y="1609505"/>
                  <a:pt x="0" y="1595093"/>
                  <a:pt x="0" y="1577315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8285" rotWithShape="0" algn="bl" dir="5400000" dist="3219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136850" y="888725"/>
            <a:ext cx="32190" cy="1834836"/>
          </a:xfrm>
          <a:custGeom>
            <a:rect b="b" l="l" r="r" t="t"/>
            <a:pathLst>
              <a:path extrusionOk="0" h="1609505" w="32190">
                <a:moveTo>
                  <a:pt x="32190" y="0"/>
                </a:moveTo>
                <a:lnTo>
                  <a:pt x="32190" y="0"/>
                </a:lnTo>
                <a:lnTo>
                  <a:pt x="32190" y="1609505"/>
                </a:lnTo>
                <a:lnTo>
                  <a:pt x="32190" y="1609505"/>
                </a:lnTo>
                <a:cubicBezTo>
                  <a:pt x="14412" y="1609505"/>
                  <a:pt x="0" y="1595093"/>
                  <a:pt x="0" y="1577315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259575" y="1035607"/>
            <a:ext cx="181069" cy="183483"/>
          </a:xfrm>
          <a:custGeom>
            <a:rect b="b" l="l" r="r" t="t"/>
            <a:pathLst>
              <a:path extrusionOk="0" h="160950" w="181069">
                <a:moveTo>
                  <a:pt x="90535" y="-5030"/>
                </a:moveTo>
                <a:cubicBezTo>
                  <a:pt x="96099" y="-5030"/>
                  <a:pt x="100594" y="-534"/>
                  <a:pt x="100594" y="5030"/>
                </a:cubicBezTo>
                <a:lnTo>
                  <a:pt x="100594" y="10782"/>
                </a:lnTo>
                <a:cubicBezTo>
                  <a:pt x="131432" y="15183"/>
                  <a:pt x="155826" y="39577"/>
                  <a:pt x="160227" y="70416"/>
                </a:cubicBezTo>
                <a:lnTo>
                  <a:pt x="165980" y="70416"/>
                </a:lnTo>
                <a:cubicBezTo>
                  <a:pt x="171544" y="70416"/>
                  <a:pt x="176040" y="74911"/>
                  <a:pt x="176040" y="80475"/>
                </a:cubicBezTo>
                <a:cubicBezTo>
                  <a:pt x="176040" y="86039"/>
                  <a:pt x="171544" y="90535"/>
                  <a:pt x="165980" y="90535"/>
                </a:cubicBezTo>
                <a:lnTo>
                  <a:pt x="160227" y="90535"/>
                </a:lnTo>
                <a:cubicBezTo>
                  <a:pt x="155826" y="121373"/>
                  <a:pt x="131432" y="145767"/>
                  <a:pt x="100594" y="150168"/>
                </a:cubicBezTo>
                <a:lnTo>
                  <a:pt x="100594" y="155921"/>
                </a:lnTo>
                <a:cubicBezTo>
                  <a:pt x="100594" y="161485"/>
                  <a:pt x="96099" y="165980"/>
                  <a:pt x="90535" y="165980"/>
                </a:cubicBezTo>
                <a:cubicBezTo>
                  <a:pt x="84971" y="165980"/>
                  <a:pt x="80475" y="161485"/>
                  <a:pt x="80475" y="155921"/>
                </a:cubicBezTo>
                <a:lnTo>
                  <a:pt x="80475" y="150168"/>
                </a:lnTo>
                <a:cubicBezTo>
                  <a:pt x="49637" y="145767"/>
                  <a:pt x="25243" y="121373"/>
                  <a:pt x="20842" y="90535"/>
                </a:cubicBezTo>
                <a:lnTo>
                  <a:pt x="15089" y="90535"/>
                </a:lnTo>
                <a:cubicBezTo>
                  <a:pt x="9525" y="90535"/>
                  <a:pt x="5030" y="86039"/>
                  <a:pt x="5030" y="80475"/>
                </a:cubicBezTo>
                <a:cubicBezTo>
                  <a:pt x="5030" y="74911"/>
                  <a:pt x="9525" y="70416"/>
                  <a:pt x="15089" y="70416"/>
                </a:cubicBezTo>
                <a:lnTo>
                  <a:pt x="20842" y="70416"/>
                </a:lnTo>
                <a:cubicBezTo>
                  <a:pt x="25243" y="39577"/>
                  <a:pt x="49637" y="15183"/>
                  <a:pt x="80475" y="10782"/>
                </a:cubicBezTo>
                <a:lnTo>
                  <a:pt x="80475" y="5030"/>
                </a:lnTo>
                <a:cubicBezTo>
                  <a:pt x="80475" y="-534"/>
                  <a:pt x="84971" y="-5030"/>
                  <a:pt x="90535" y="-5030"/>
                </a:cubicBezTo>
                <a:close/>
                <a:moveTo>
                  <a:pt x="41244" y="90535"/>
                </a:moveTo>
                <a:cubicBezTo>
                  <a:pt x="45236" y="110245"/>
                  <a:pt x="60765" y="125774"/>
                  <a:pt x="80475" y="129766"/>
                </a:cubicBezTo>
                <a:lnTo>
                  <a:pt x="80475" y="125743"/>
                </a:lnTo>
                <a:cubicBezTo>
                  <a:pt x="80475" y="120178"/>
                  <a:pt x="84971" y="115683"/>
                  <a:pt x="90535" y="115683"/>
                </a:cubicBezTo>
                <a:cubicBezTo>
                  <a:pt x="96099" y="115683"/>
                  <a:pt x="100594" y="120178"/>
                  <a:pt x="100594" y="125743"/>
                </a:cubicBezTo>
                <a:lnTo>
                  <a:pt x="100594" y="129766"/>
                </a:lnTo>
                <a:cubicBezTo>
                  <a:pt x="120304" y="125774"/>
                  <a:pt x="135833" y="110245"/>
                  <a:pt x="139826" y="90535"/>
                </a:cubicBezTo>
                <a:lnTo>
                  <a:pt x="135802" y="90535"/>
                </a:lnTo>
                <a:cubicBezTo>
                  <a:pt x="130238" y="90535"/>
                  <a:pt x="125743" y="86039"/>
                  <a:pt x="125743" y="80475"/>
                </a:cubicBezTo>
                <a:cubicBezTo>
                  <a:pt x="125743" y="74911"/>
                  <a:pt x="130238" y="70416"/>
                  <a:pt x="135802" y="70416"/>
                </a:cubicBezTo>
                <a:lnTo>
                  <a:pt x="139826" y="70416"/>
                </a:lnTo>
                <a:cubicBezTo>
                  <a:pt x="135833" y="50706"/>
                  <a:pt x="120304" y="35176"/>
                  <a:pt x="100594" y="31184"/>
                </a:cubicBezTo>
                <a:lnTo>
                  <a:pt x="100594" y="35208"/>
                </a:lnTo>
                <a:cubicBezTo>
                  <a:pt x="100594" y="40772"/>
                  <a:pt x="96099" y="45267"/>
                  <a:pt x="90535" y="45267"/>
                </a:cubicBezTo>
                <a:cubicBezTo>
                  <a:pt x="84971" y="45267"/>
                  <a:pt x="80475" y="40772"/>
                  <a:pt x="80475" y="35208"/>
                </a:cubicBezTo>
                <a:lnTo>
                  <a:pt x="80475" y="31184"/>
                </a:lnTo>
                <a:cubicBezTo>
                  <a:pt x="60765" y="35176"/>
                  <a:pt x="45236" y="50706"/>
                  <a:pt x="41244" y="70416"/>
                </a:cubicBezTo>
                <a:lnTo>
                  <a:pt x="45267" y="70416"/>
                </a:lnTo>
                <a:cubicBezTo>
                  <a:pt x="50831" y="70416"/>
                  <a:pt x="55327" y="74911"/>
                  <a:pt x="55327" y="80475"/>
                </a:cubicBezTo>
                <a:cubicBezTo>
                  <a:pt x="55327" y="86039"/>
                  <a:pt x="50831" y="90535"/>
                  <a:pt x="45267" y="90535"/>
                </a:cubicBezTo>
                <a:lnTo>
                  <a:pt x="41244" y="90535"/>
                </a:lnTo>
                <a:close/>
                <a:moveTo>
                  <a:pt x="90535" y="65386"/>
                </a:moveTo>
                <a:cubicBezTo>
                  <a:pt x="98863" y="65386"/>
                  <a:pt x="105624" y="72147"/>
                  <a:pt x="105624" y="80475"/>
                </a:cubicBezTo>
                <a:cubicBezTo>
                  <a:pt x="105624" y="88803"/>
                  <a:pt x="98863" y="95564"/>
                  <a:pt x="90535" y="95564"/>
                </a:cubicBezTo>
                <a:cubicBezTo>
                  <a:pt x="82207" y="95564"/>
                  <a:pt x="75446" y="88803"/>
                  <a:pt x="75446" y="80475"/>
                </a:cubicBezTo>
                <a:cubicBezTo>
                  <a:pt x="75446" y="72147"/>
                  <a:pt x="82207" y="65386"/>
                  <a:pt x="90535" y="65386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515085" y="998886"/>
            <a:ext cx="2454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7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TCP — Definition and Stakes</a:t>
            </a:r>
            <a:endParaRPr b="0" i="0" sz="1600" u="none" cap="none" strike="noStrike"/>
          </a:p>
        </p:txBody>
      </p:sp>
      <p:sp>
        <p:nvSpPr>
          <p:cNvPr id="324" name="Google Shape;324;p10"/>
          <p:cNvSpPr/>
          <p:nvPr/>
        </p:nvSpPr>
        <p:spPr>
          <a:xfrm>
            <a:off x="249515" y="1329371"/>
            <a:ext cx="67278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4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Tool Center Point (TCP):</a:t>
            </a:r>
            <a:r>
              <a:rPr b="0" i="0" lang="en-US" sz="1014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precisely defined reference point at functional cutting tip, expressed as position/orientation offset relative to robot flange.</a:t>
            </a:r>
            <a:endParaRPr b="0" i="0" sz="1600" u="none" cap="none" strike="noStrike"/>
          </a:p>
        </p:txBody>
      </p:sp>
      <p:sp>
        <p:nvSpPr>
          <p:cNvPr id="325" name="Google Shape;325;p10"/>
          <p:cNvSpPr/>
          <p:nvPr/>
        </p:nvSpPr>
        <p:spPr>
          <a:xfrm>
            <a:off x="257563" y="1852637"/>
            <a:ext cx="6647255" cy="752283"/>
          </a:xfrm>
          <a:custGeom>
            <a:rect b="b" l="l" r="r" t="t"/>
            <a:pathLst>
              <a:path extrusionOk="0" h="659897" w="6647255">
                <a:moveTo>
                  <a:pt x="32190" y="0"/>
                </a:moveTo>
                <a:lnTo>
                  <a:pt x="6615066" y="0"/>
                </a:lnTo>
                <a:cubicBezTo>
                  <a:pt x="6632844" y="0"/>
                  <a:pt x="6647255" y="14412"/>
                  <a:pt x="6647255" y="32190"/>
                </a:cubicBezTo>
                <a:lnTo>
                  <a:pt x="6647255" y="627707"/>
                </a:lnTo>
                <a:cubicBezTo>
                  <a:pt x="6647255" y="645485"/>
                  <a:pt x="6632844" y="659897"/>
                  <a:pt x="6615066" y="659897"/>
                </a:cubicBezTo>
                <a:lnTo>
                  <a:pt x="32190" y="659897"/>
                </a:lnTo>
                <a:cubicBezTo>
                  <a:pt x="14412" y="659897"/>
                  <a:pt x="0" y="645485"/>
                  <a:pt x="0" y="627707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FEF2F2"/>
          </a:solidFill>
          <a:ln cap="flat" cmpd="sng" w="25400">
            <a:solidFill>
              <a:srgbClr val="FFA2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346086" y="1953619"/>
            <a:ext cx="112665" cy="128438"/>
          </a:xfrm>
          <a:custGeom>
            <a:rect b="b" l="l" r="r" t="t"/>
            <a:pathLst>
              <a:path extrusionOk="0" h="112665" w="112665">
                <a:moveTo>
                  <a:pt x="56333" y="0"/>
                </a:moveTo>
                <a:cubicBezTo>
                  <a:pt x="59567" y="0"/>
                  <a:pt x="62538" y="1782"/>
                  <a:pt x="64078" y="4621"/>
                </a:cubicBezTo>
                <a:lnTo>
                  <a:pt x="111609" y="92641"/>
                </a:lnTo>
                <a:cubicBezTo>
                  <a:pt x="113083" y="95369"/>
                  <a:pt x="113017" y="98670"/>
                  <a:pt x="111433" y="101333"/>
                </a:cubicBezTo>
                <a:cubicBezTo>
                  <a:pt x="109849" y="103995"/>
                  <a:pt x="106966" y="105624"/>
                  <a:pt x="103863" y="105624"/>
                </a:cubicBezTo>
                <a:lnTo>
                  <a:pt x="8802" y="105624"/>
                </a:lnTo>
                <a:cubicBezTo>
                  <a:pt x="5699" y="105624"/>
                  <a:pt x="2839" y="103995"/>
                  <a:pt x="1232" y="101333"/>
                </a:cubicBezTo>
                <a:cubicBezTo>
                  <a:pt x="-374" y="98670"/>
                  <a:pt x="-418" y="95369"/>
                  <a:pt x="1056" y="92641"/>
                </a:cubicBezTo>
                <a:lnTo>
                  <a:pt x="48587" y="4621"/>
                </a:lnTo>
                <a:cubicBezTo>
                  <a:pt x="50127" y="1782"/>
                  <a:pt x="53098" y="0"/>
                  <a:pt x="56333" y="0"/>
                </a:cubicBezTo>
                <a:close/>
                <a:moveTo>
                  <a:pt x="56333" y="36968"/>
                </a:moveTo>
                <a:cubicBezTo>
                  <a:pt x="53406" y="36968"/>
                  <a:pt x="51051" y="39323"/>
                  <a:pt x="51051" y="42250"/>
                </a:cubicBezTo>
                <a:lnTo>
                  <a:pt x="51051" y="66895"/>
                </a:lnTo>
                <a:cubicBezTo>
                  <a:pt x="51051" y="69822"/>
                  <a:pt x="53406" y="72176"/>
                  <a:pt x="56333" y="72176"/>
                </a:cubicBezTo>
                <a:cubicBezTo>
                  <a:pt x="59259" y="72176"/>
                  <a:pt x="61614" y="69822"/>
                  <a:pt x="61614" y="66895"/>
                </a:cubicBezTo>
                <a:lnTo>
                  <a:pt x="61614" y="42250"/>
                </a:lnTo>
                <a:cubicBezTo>
                  <a:pt x="61614" y="39323"/>
                  <a:pt x="59259" y="36968"/>
                  <a:pt x="56333" y="36968"/>
                </a:cubicBezTo>
                <a:close/>
                <a:moveTo>
                  <a:pt x="62208" y="84499"/>
                </a:moveTo>
                <a:cubicBezTo>
                  <a:pt x="62342" y="82318"/>
                  <a:pt x="61254" y="80243"/>
                  <a:pt x="59385" y="79112"/>
                </a:cubicBezTo>
                <a:cubicBezTo>
                  <a:pt x="57515" y="77982"/>
                  <a:pt x="55172" y="77982"/>
                  <a:pt x="53303" y="79112"/>
                </a:cubicBezTo>
                <a:cubicBezTo>
                  <a:pt x="51433" y="80243"/>
                  <a:pt x="50346" y="82318"/>
                  <a:pt x="50479" y="84499"/>
                </a:cubicBezTo>
                <a:cubicBezTo>
                  <a:pt x="50346" y="86680"/>
                  <a:pt x="51433" y="88755"/>
                  <a:pt x="53303" y="89886"/>
                </a:cubicBezTo>
                <a:cubicBezTo>
                  <a:pt x="55172" y="91016"/>
                  <a:pt x="57515" y="91016"/>
                  <a:pt x="59385" y="89886"/>
                </a:cubicBezTo>
                <a:cubicBezTo>
                  <a:pt x="61254" y="88755"/>
                  <a:pt x="62342" y="86680"/>
                  <a:pt x="62208" y="84499"/>
                </a:cubicBezTo>
                <a:close/>
              </a:path>
            </a:pathLst>
          </a:custGeom>
          <a:solidFill>
            <a:srgbClr val="9F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495245" y="1935259"/>
            <a:ext cx="63936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7" u="none" cap="none" strike="noStrike">
                <a:solidFill>
                  <a:srgbClr val="9F071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Critical Consequence of TCP Error</a:t>
            </a:r>
            <a:endParaRPr b="0" i="0" sz="1600" u="none" cap="none" strike="noStrike"/>
          </a:p>
        </p:txBody>
      </p:sp>
      <p:sp>
        <p:nvSpPr>
          <p:cNvPr id="328" name="Google Shape;328;p10"/>
          <p:cNvSpPr/>
          <p:nvPr/>
        </p:nvSpPr>
        <p:spPr>
          <a:xfrm>
            <a:off x="329991" y="2155581"/>
            <a:ext cx="65586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7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Calibration error of even </a:t>
            </a:r>
            <a:r>
              <a:rPr b="1" i="0" lang="en-US" sz="887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1mm</a:t>
            </a:r>
            <a:r>
              <a:rPr b="0" i="0" lang="en-US" sz="887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in any TCP offset component produces same 1mm positional error at </a:t>
            </a:r>
            <a:r>
              <a:rPr b="1" i="0" lang="en-US" sz="887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every single toolpath target</a:t>
            </a:r>
            <a:r>
              <a:rPr b="0" i="0" lang="en-US" sz="887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— global systematic offset.</a:t>
            </a:r>
            <a:endParaRPr b="0" i="0" sz="1600" u="none" cap="none" strike="noStrike"/>
          </a:p>
        </p:txBody>
      </p:sp>
      <p:sp>
        <p:nvSpPr>
          <p:cNvPr id="329" name="Google Shape;329;p10"/>
          <p:cNvSpPr/>
          <p:nvPr/>
        </p:nvSpPr>
        <p:spPr>
          <a:xfrm>
            <a:off x="136854" y="2798184"/>
            <a:ext cx="6872586" cy="2091069"/>
          </a:xfrm>
          <a:custGeom>
            <a:rect b="b" l="l" r="r" t="t"/>
            <a:pathLst>
              <a:path extrusionOk="0" h="3605291" w="6872586">
                <a:moveTo>
                  <a:pt x="32190" y="0"/>
                </a:moveTo>
                <a:lnTo>
                  <a:pt x="6808196" y="0"/>
                </a:lnTo>
                <a:cubicBezTo>
                  <a:pt x="6843758" y="0"/>
                  <a:pt x="6872586" y="28829"/>
                  <a:pt x="6872586" y="64390"/>
                </a:cubicBezTo>
                <a:lnTo>
                  <a:pt x="6872586" y="3540901"/>
                </a:lnTo>
                <a:cubicBezTo>
                  <a:pt x="6872586" y="3576462"/>
                  <a:pt x="6843758" y="3605291"/>
                  <a:pt x="6808196" y="3605291"/>
                </a:cubicBezTo>
                <a:lnTo>
                  <a:pt x="32190" y="3605291"/>
                </a:lnTo>
                <a:cubicBezTo>
                  <a:pt x="14412" y="3605291"/>
                  <a:pt x="0" y="3590879"/>
                  <a:pt x="0" y="3573101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8285" rotWithShape="0" algn="bl" dir="5400000" dist="3219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136854" y="2798184"/>
            <a:ext cx="32190" cy="2091069"/>
          </a:xfrm>
          <a:custGeom>
            <a:rect b="b" l="l" r="r" t="t"/>
            <a:pathLst>
              <a:path extrusionOk="0" h="3605291" w="32190">
                <a:moveTo>
                  <a:pt x="32190" y="0"/>
                </a:moveTo>
                <a:lnTo>
                  <a:pt x="32190" y="0"/>
                </a:lnTo>
                <a:lnTo>
                  <a:pt x="32190" y="3605291"/>
                </a:lnTo>
                <a:lnTo>
                  <a:pt x="32190" y="3605291"/>
                </a:lnTo>
                <a:cubicBezTo>
                  <a:pt x="14412" y="3605291"/>
                  <a:pt x="0" y="3590879"/>
                  <a:pt x="0" y="3573101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259575" y="2945070"/>
            <a:ext cx="181069" cy="183483"/>
          </a:xfrm>
          <a:custGeom>
            <a:rect b="b" l="l" r="r" t="t"/>
            <a:pathLst>
              <a:path extrusionOk="0" h="160950" w="181069">
                <a:moveTo>
                  <a:pt x="70447" y="30524"/>
                </a:moveTo>
                <a:lnTo>
                  <a:pt x="70447" y="46116"/>
                </a:lnTo>
                <a:lnTo>
                  <a:pt x="70604" y="46273"/>
                </a:lnTo>
                <a:cubicBezTo>
                  <a:pt x="72648" y="20370"/>
                  <a:pt x="94307" y="0"/>
                  <a:pt x="120744" y="0"/>
                </a:cubicBezTo>
                <a:cubicBezTo>
                  <a:pt x="127063" y="0"/>
                  <a:pt x="133130" y="1163"/>
                  <a:pt x="138694" y="3301"/>
                </a:cubicBezTo>
                <a:cubicBezTo>
                  <a:pt x="141838" y="4495"/>
                  <a:pt x="142403" y="8488"/>
                  <a:pt x="140046" y="10877"/>
                </a:cubicBezTo>
                <a:lnTo>
                  <a:pt x="112162" y="38760"/>
                </a:lnTo>
                <a:cubicBezTo>
                  <a:pt x="111219" y="39703"/>
                  <a:pt x="110685" y="40992"/>
                  <a:pt x="110685" y="42312"/>
                </a:cubicBezTo>
                <a:lnTo>
                  <a:pt x="110685" y="55327"/>
                </a:lnTo>
                <a:cubicBezTo>
                  <a:pt x="110685" y="58093"/>
                  <a:pt x="112948" y="60356"/>
                  <a:pt x="115715" y="60356"/>
                </a:cubicBezTo>
                <a:lnTo>
                  <a:pt x="128729" y="60356"/>
                </a:lnTo>
                <a:cubicBezTo>
                  <a:pt x="130049" y="60356"/>
                  <a:pt x="131338" y="59822"/>
                  <a:pt x="132281" y="58879"/>
                </a:cubicBezTo>
                <a:lnTo>
                  <a:pt x="160165" y="30996"/>
                </a:lnTo>
                <a:cubicBezTo>
                  <a:pt x="162554" y="28606"/>
                  <a:pt x="166546" y="29204"/>
                  <a:pt x="167741" y="32347"/>
                </a:cubicBezTo>
                <a:cubicBezTo>
                  <a:pt x="169878" y="37911"/>
                  <a:pt x="171041" y="43978"/>
                  <a:pt x="171041" y="50297"/>
                </a:cubicBezTo>
                <a:cubicBezTo>
                  <a:pt x="171041" y="69347"/>
                  <a:pt x="160448" y="85945"/>
                  <a:pt x="144793" y="94464"/>
                </a:cubicBezTo>
                <a:lnTo>
                  <a:pt x="170413" y="120084"/>
                </a:lnTo>
                <a:cubicBezTo>
                  <a:pt x="176291" y="125963"/>
                  <a:pt x="176291" y="135519"/>
                  <a:pt x="170413" y="141429"/>
                </a:cubicBezTo>
                <a:lnTo>
                  <a:pt x="151520" y="160322"/>
                </a:lnTo>
                <a:cubicBezTo>
                  <a:pt x="145641" y="166200"/>
                  <a:pt x="136085" y="166200"/>
                  <a:pt x="130175" y="160322"/>
                </a:cubicBezTo>
                <a:lnTo>
                  <a:pt x="90566" y="120713"/>
                </a:lnTo>
                <a:cubicBezTo>
                  <a:pt x="81953" y="112100"/>
                  <a:pt x="80004" y="99368"/>
                  <a:pt x="84750" y="88869"/>
                </a:cubicBezTo>
                <a:lnTo>
                  <a:pt x="56238" y="60356"/>
                </a:lnTo>
                <a:lnTo>
                  <a:pt x="40646" y="60356"/>
                </a:lnTo>
                <a:cubicBezTo>
                  <a:pt x="37283" y="60356"/>
                  <a:pt x="34139" y="58690"/>
                  <a:pt x="32284" y="55893"/>
                </a:cubicBezTo>
                <a:lnTo>
                  <a:pt x="7356" y="18516"/>
                </a:lnTo>
                <a:cubicBezTo>
                  <a:pt x="6036" y="16535"/>
                  <a:pt x="6287" y="13863"/>
                  <a:pt x="7985" y="12166"/>
                </a:cubicBezTo>
                <a:lnTo>
                  <a:pt x="22256" y="-2106"/>
                </a:lnTo>
                <a:cubicBezTo>
                  <a:pt x="23954" y="-3804"/>
                  <a:pt x="26595" y="-4055"/>
                  <a:pt x="28606" y="-2735"/>
                </a:cubicBezTo>
                <a:lnTo>
                  <a:pt x="65983" y="22162"/>
                </a:lnTo>
                <a:cubicBezTo>
                  <a:pt x="68781" y="24017"/>
                  <a:pt x="70447" y="27160"/>
                  <a:pt x="70447" y="30524"/>
                </a:cubicBezTo>
                <a:close/>
                <a:moveTo>
                  <a:pt x="67775" y="93238"/>
                </a:moveTo>
                <a:cubicBezTo>
                  <a:pt x="65795" y="104869"/>
                  <a:pt x="68530" y="117161"/>
                  <a:pt x="76074" y="127000"/>
                </a:cubicBezTo>
                <a:lnTo>
                  <a:pt x="46210" y="156832"/>
                </a:lnTo>
                <a:cubicBezTo>
                  <a:pt x="37377" y="165666"/>
                  <a:pt x="23042" y="165666"/>
                  <a:pt x="14209" y="156832"/>
                </a:cubicBezTo>
                <a:cubicBezTo>
                  <a:pt x="5375" y="147999"/>
                  <a:pt x="5375" y="133664"/>
                  <a:pt x="14209" y="124831"/>
                </a:cubicBezTo>
                <a:lnTo>
                  <a:pt x="56773" y="82267"/>
                </a:lnTo>
                <a:lnTo>
                  <a:pt x="67775" y="9327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515085" y="2908350"/>
            <a:ext cx="3645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7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Why Spindle-Mounted TCP</a:t>
            </a:r>
            <a:r>
              <a:rPr b="1" lang="en-US" sz="1267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took us time.</a:t>
            </a:r>
            <a:endParaRPr b="0" i="0" sz="1600" u="none" cap="none" strike="noStrike"/>
          </a:p>
        </p:txBody>
      </p:sp>
      <p:sp>
        <p:nvSpPr>
          <p:cNvPr id="333" name="Google Shape;333;p10"/>
          <p:cNvSpPr/>
          <p:nvPr/>
        </p:nvSpPr>
        <p:spPr>
          <a:xfrm>
            <a:off x="241478" y="3257185"/>
            <a:ext cx="6663350" cy="1376127"/>
          </a:xfrm>
          <a:custGeom>
            <a:rect b="b" l="l" r="r" t="t"/>
            <a:pathLst>
              <a:path extrusionOk="0" h="1207129" w="6663350">
                <a:moveTo>
                  <a:pt x="32194" y="0"/>
                </a:moveTo>
                <a:lnTo>
                  <a:pt x="6631156" y="0"/>
                </a:lnTo>
                <a:cubicBezTo>
                  <a:pt x="6648937" y="0"/>
                  <a:pt x="6663350" y="14414"/>
                  <a:pt x="6663350" y="32194"/>
                </a:cubicBezTo>
                <a:lnTo>
                  <a:pt x="6663350" y="1174935"/>
                </a:lnTo>
                <a:cubicBezTo>
                  <a:pt x="6663350" y="1192715"/>
                  <a:pt x="6648937" y="1207129"/>
                  <a:pt x="6631156" y="1207129"/>
                </a:cubicBezTo>
                <a:lnTo>
                  <a:pt x="32194" y="1207129"/>
                </a:lnTo>
                <a:cubicBezTo>
                  <a:pt x="14414" y="1207129"/>
                  <a:pt x="0" y="1192715"/>
                  <a:pt x="0" y="1174935"/>
                </a:cubicBezTo>
                <a:lnTo>
                  <a:pt x="0" y="32194"/>
                </a:lnTo>
                <a:cubicBezTo>
                  <a:pt x="0" y="14426"/>
                  <a:pt x="14426" y="0"/>
                  <a:pt x="32194" y="0"/>
                </a:cubicBezTo>
                <a:close/>
              </a:path>
            </a:pathLst>
          </a:cu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305859" y="3330626"/>
            <a:ext cx="65910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7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Milling Spindle (Complex)</a:t>
            </a:r>
            <a:endParaRPr b="0" i="0" sz="1600" u="none" cap="none" strike="noStrike"/>
          </a:p>
        </p:txBody>
      </p:sp>
      <p:sp>
        <p:nvSpPr>
          <p:cNvPr id="335" name="Google Shape;335;p10"/>
          <p:cNvSpPr/>
          <p:nvPr/>
        </p:nvSpPr>
        <p:spPr>
          <a:xfrm>
            <a:off x="305859" y="3550949"/>
            <a:ext cx="65910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7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Mounted via custom bracket and handle assembly:</a:t>
            </a:r>
            <a:endParaRPr b="0" i="0" sz="1600" u="none" cap="none" strike="noStrike"/>
          </a:p>
        </p:txBody>
      </p:sp>
      <p:sp>
        <p:nvSpPr>
          <p:cNvPr id="336" name="Google Shape;336;p10"/>
          <p:cNvSpPr/>
          <p:nvPr/>
        </p:nvSpPr>
        <p:spPr>
          <a:xfrm>
            <a:off x="330001" y="3807992"/>
            <a:ext cx="72428" cy="110090"/>
          </a:xfrm>
          <a:custGeom>
            <a:rect b="b" l="l" r="r" t="t"/>
            <a:pathLst>
              <a:path extrusionOk="0" h="96570" w="72428">
                <a:moveTo>
                  <a:pt x="10393" y="13844"/>
                </a:moveTo>
                <a:cubicBezTo>
                  <a:pt x="8035" y="11487"/>
                  <a:pt x="4206" y="11487"/>
                  <a:pt x="1848" y="13844"/>
                </a:cubicBezTo>
                <a:cubicBezTo>
                  <a:pt x="-509" y="16202"/>
                  <a:pt x="-509" y="20031"/>
                  <a:pt x="1848" y="22388"/>
                </a:cubicBezTo>
                <a:lnTo>
                  <a:pt x="27764" y="48285"/>
                </a:lnTo>
                <a:lnTo>
                  <a:pt x="1867" y="74201"/>
                </a:lnTo>
                <a:cubicBezTo>
                  <a:pt x="-490" y="76558"/>
                  <a:pt x="-490" y="80387"/>
                  <a:pt x="1867" y="82745"/>
                </a:cubicBezTo>
                <a:cubicBezTo>
                  <a:pt x="4225" y="85103"/>
                  <a:pt x="8054" y="85103"/>
                  <a:pt x="10411" y="82745"/>
                </a:cubicBezTo>
                <a:lnTo>
                  <a:pt x="36308" y="56829"/>
                </a:lnTo>
                <a:lnTo>
                  <a:pt x="62224" y="82726"/>
                </a:lnTo>
                <a:cubicBezTo>
                  <a:pt x="64581" y="85084"/>
                  <a:pt x="68410" y="85084"/>
                  <a:pt x="70768" y="82726"/>
                </a:cubicBezTo>
                <a:cubicBezTo>
                  <a:pt x="73126" y="80368"/>
                  <a:pt x="73126" y="76540"/>
                  <a:pt x="70768" y="74182"/>
                </a:cubicBezTo>
                <a:lnTo>
                  <a:pt x="44852" y="48285"/>
                </a:lnTo>
                <a:lnTo>
                  <a:pt x="70749" y="22370"/>
                </a:lnTo>
                <a:cubicBezTo>
                  <a:pt x="73107" y="20012"/>
                  <a:pt x="73107" y="16183"/>
                  <a:pt x="70749" y="13825"/>
                </a:cubicBezTo>
                <a:cubicBezTo>
                  <a:pt x="68391" y="11468"/>
                  <a:pt x="64563" y="11468"/>
                  <a:pt x="62205" y="13825"/>
                </a:cubicBezTo>
                <a:lnTo>
                  <a:pt x="36308" y="39741"/>
                </a:lnTo>
                <a:lnTo>
                  <a:pt x="10393" y="13844"/>
                </a:ln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474857" y="3771271"/>
            <a:ext cx="19554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7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Large offset through multiple interfaces</a:t>
            </a:r>
            <a:endParaRPr b="0" i="0" sz="1600" u="none" cap="none" strike="noStrike"/>
          </a:p>
        </p:txBody>
      </p:sp>
      <p:sp>
        <p:nvSpPr>
          <p:cNvPr id="338" name="Google Shape;338;p10"/>
          <p:cNvSpPr/>
          <p:nvPr/>
        </p:nvSpPr>
        <p:spPr>
          <a:xfrm>
            <a:off x="330001" y="4009955"/>
            <a:ext cx="72428" cy="110090"/>
          </a:xfrm>
          <a:custGeom>
            <a:rect b="b" l="l" r="r" t="t"/>
            <a:pathLst>
              <a:path extrusionOk="0" h="96570" w="72428">
                <a:moveTo>
                  <a:pt x="10393" y="13844"/>
                </a:moveTo>
                <a:cubicBezTo>
                  <a:pt x="8035" y="11487"/>
                  <a:pt x="4206" y="11487"/>
                  <a:pt x="1848" y="13844"/>
                </a:cubicBezTo>
                <a:cubicBezTo>
                  <a:pt x="-509" y="16202"/>
                  <a:pt x="-509" y="20031"/>
                  <a:pt x="1848" y="22388"/>
                </a:cubicBezTo>
                <a:lnTo>
                  <a:pt x="27764" y="48285"/>
                </a:lnTo>
                <a:lnTo>
                  <a:pt x="1867" y="74201"/>
                </a:lnTo>
                <a:cubicBezTo>
                  <a:pt x="-490" y="76558"/>
                  <a:pt x="-490" y="80387"/>
                  <a:pt x="1867" y="82745"/>
                </a:cubicBezTo>
                <a:cubicBezTo>
                  <a:pt x="4225" y="85103"/>
                  <a:pt x="8054" y="85103"/>
                  <a:pt x="10411" y="82745"/>
                </a:cubicBezTo>
                <a:lnTo>
                  <a:pt x="36308" y="56829"/>
                </a:lnTo>
                <a:lnTo>
                  <a:pt x="62224" y="82726"/>
                </a:lnTo>
                <a:cubicBezTo>
                  <a:pt x="64581" y="85084"/>
                  <a:pt x="68410" y="85084"/>
                  <a:pt x="70768" y="82726"/>
                </a:cubicBezTo>
                <a:cubicBezTo>
                  <a:pt x="73126" y="80368"/>
                  <a:pt x="73126" y="76540"/>
                  <a:pt x="70768" y="74182"/>
                </a:cubicBezTo>
                <a:lnTo>
                  <a:pt x="44852" y="48285"/>
                </a:lnTo>
                <a:lnTo>
                  <a:pt x="70749" y="22370"/>
                </a:lnTo>
                <a:cubicBezTo>
                  <a:pt x="73107" y="20012"/>
                  <a:pt x="73107" y="16183"/>
                  <a:pt x="70749" y="13825"/>
                </a:cubicBezTo>
                <a:cubicBezTo>
                  <a:pt x="68391" y="11468"/>
                  <a:pt x="64563" y="11468"/>
                  <a:pt x="62205" y="13825"/>
                </a:cubicBezTo>
                <a:lnTo>
                  <a:pt x="36308" y="39741"/>
                </a:lnTo>
                <a:lnTo>
                  <a:pt x="10393" y="13844"/>
                </a:ln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474857" y="3973234"/>
            <a:ext cx="22776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7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Spindle can shift/tilt depending on tightening</a:t>
            </a:r>
            <a:endParaRPr b="0" i="0" sz="1600" u="none" cap="none" strike="noStrike"/>
          </a:p>
        </p:txBody>
      </p:sp>
      <p:sp>
        <p:nvSpPr>
          <p:cNvPr id="340" name="Google Shape;340;p10"/>
          <p:cNvSpPr/>
          <p:nvPr/>
        </p:nvSpPr>
        <p:spPr>
          <a:xfrm>
            <a:off x="330001" y="4211917"/>
            <a:ext cx="72428" cy="110090"/>
          </a:xfrm>
          <a:custGeom>
            <a:rect b="b" l="l" r="r" t="t"/>
            <a:pathLst>
              <a:path extrusionOk="0" h="96570" w="72428">
                <a:moveTo>
                  <a:pt x="10393" y="13844"/>
                </a:moveTo>
                <a:cubicBezTo>
                  <a:pt x="8035" y="11487"/>
                  <a:pt x="4206" y="11487"/>
                  <a:pt x="1848" y="13844"/>
                </a:cubicBezTo>
                <a:cubicBezTo>
                  <a:pt x="-509" y="16202"/>
                  <a:pt x="-509" y="20031"/>
                  <a:pt x="1848" y="22388"/>
                </a:cubicBezTo>
                <a:lnTo>
                  <a:pt x="27764" y="48285"/>
                </a:lnTo>
                <a:lnTo>
                  <a:pt x="1867" y="74201"/>
                </a:lnTo>
                <a:cubicBezTo>
                  <a:pt x="-490" y="76558"/>
                  <a:pt x="-490" y="80387"/>
                  <a:pt x="1867" y="82745"/>
                </a:cubicBezTo>
                <a:cubicBezTo>
                  <a:pt x="4225" y="85103"/>
                  <a:pt x="8054" y="85103"/>
                  <a:pt x="10411" y="82745"/>
                </a:cubicBezTo>
                <a:lnTo>
                  <a:pt x="36308" y="56829"/>
                </a:lnTo>
                <a:lnTo>
                  <a:pt x="62224" y="82726"/>
                </a:lnTo>
                <a:cubicBezTo>
                  <a:pt x="64581" y="85084"/>
                  <a:pt x="68410" y="85084"/>
                  <a:pt x="70768" y="82726"/>
                </a:cubicBezTo>
                <a:cubicBezTo>
                  <a:pt x="73126" y="80368"/>
                  <a:pt x="73126" y="76540"/>
                  <a:pt x="70768" y="74182"/>
                </a:cubicBezTo>
                <a:lnTo>
                  <a:pt x="44852" y="48285"/>
                </a:lnTo>
                <a:lnTo>
                  <a:pt x="70749" y="22370"/>
                </a:lnTo>
                <a:cubicBezTo>
                  <a:pt x="73107" y="20012"/>
                  <a:pt x="73107" y="16183"/>
                  <a:pt x="70749" y="13825"/>
                </a:cubicBezTo>
                <a:cubicBezTo>
                  <a:pt x="68391" y="11468"/>
                  <a:pt x="64563" y="11468"/>
                  <a:pt x="62205" y="13825"/>
                </a:cubicBezTo>
                <a:lnTo>
                  <a:pt x="36308" y="39741"/>
                </a:lnTo>
                <a:lnTo>
                  <a:pt x="10393" y="13844"/>
                </a:ln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474857" y="4175196"/>
            <a:ext cx="23178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7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Pose variability between measurement sessions</a:t>
            </a:r>
            <a:endParaRPr b="0" i="0" sz="1600" u="none" cap="none" strike="noStrike"/>
          </a:p>
        </p:txBody>
      </p:sp>
      <p:sp>
        <p:nvSpPr>
          <p:cNvPr id="342" name="Google Shape;342;p10"/>
          <p:cNvSpPr/>
          <p:nvPr/>
        </p:nvSpPr>
        <p:spPr>
          <a:xfrm>
            <a:off x="330001" y="4413880"/>
            <a:ext cx="72428" cy="110090"/>
          </a:xfrm>
          <a:custGeom>
            <a:rect b="b" l="l" r="r" t="t"/>
            <a:pathLst>
              <a:path extrusionOk="0" h="96570" w="72428">
                <a:moveTo>
                  <a:pt x="10393" y="13844"/>
                </a:moveTo>
                <a:cubicBezTo>
                  <a:pt x="8035" y="11487"/>
                  <a:pt x="4206" y="11487"/>
                  <a:pt x="1848" y="13844"/>
                </a:cubicBezTo>
                <a:cubicBezTo>
                  <a:pt x="-509" y="16202"/>
                  <a:pt x="-509" y="20031"/>
                  <a:pt x="1848" y="22388"/>
                </a:cubicBezTo>
                <a:lnTo>
                  <a:pt x="27764" y="48285"/>
                </a:lnTo>
                <a:lnTo>
                  <a:pt x="1867" y="74201"/>
                </a:lnTo>
                <a:cubicBezTo>
                  <a:pt x="-490" y="76558"/>
                  <a:pt x="-490" y="80387"/>
                  <a:pt x="1867" y="82745"/>
                </a:cubicBezTo>
                <a:cubicBezTo>
                  <a:pt x="4225" y="85103"/>
                  <a:pt x="8054" y="85103"/>
                  <a:pt x="10411" y="82745"/>
                </a:cubicBezTo>
                <a:lnTo>
                  <a:pt x="36308" y="56829"/>
                </a:lnTo>
                <a:lnTo>
                  <a:pt x="62224" y="82726"/>
                </a:lnTo>
                <a:cubicBezTo>
                  <a:pt x="64581" y="85084"/>
                  <a:pt x="68410" y="85084"/>
                  <a:pt x="70768" y="82726"/>
                </a:cubicBezTo>
                <a:cubicBezTo>
                  <a:pt x="73126" y="80368"/>
                  <a:pt x="73126" y="76540"/>
                  <a:pt x="70768" y="74182"/>
                </a:cubicBezTo>
                <a:lnTo>
                  <a:pt x="44852" y="48285"/>
                </a:lnTo>
                <a:lnTo>
                  <a:pt x="70749" y="22370"/>
                </a:lnTo>
                <a:cubicBezTo>
                  <a:pt x="73107" y="20012"/>
                  <a:pt x="73107" y="16183"/>
                  <a:pt x="70749" y="13825"/>
                </a:cubicBezTo>
                <a:cubicBezTo>
                  <a:pt x="68391" y="11468"/>
                  <a:pt x="64563" y="11468"/>
                  <a:pt x="62205" y="13825"/>
                </a:cubicBezTo>
                <a:lnTo>
                  <a:pt x="36308" y="39741"/>
                </a:lnTo>
                <a:lnTo>
                  <a:pt x="10393" y="13844"/>
                </a:ln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474857" y="4377159"/>
            <a:ext cx="16014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7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Single measurement insufficient</a:t>
            </a:r>
            <a:endParaRPr b="0" i="0" sz="1600" u="none" cap="none" strike="noStrike"/>
          </a:p>
        </p:txBody>
      </p:sp>
      <p:pic>
        <p:nvPicPr>
          <p:cNvPr id="344" name="Google Shape;344;p10" title="Screenshot 2026-04-18 at 4.16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6225" y="804750"/>
            <a:ext cx="4309976" cy="408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1"/>
          <p:cNvSpPr/>
          <p:nvPr/>
        </p:nvSpPr>
        <p:spPr>
          <a:xfrm>
            <a:off x="381000" y="438150"/>
            <a:ext cx="76200" cy="457200"/>
          </a:xfrm>
          <a:custGeom>
            <a:rect b="b" l="l" r="r" t="t"/>
            <a:pathLst>
              <a:path extrusionOk="0" h="457200" w="76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51" name="Google Shape;351;p11"/>
          <p:cNvSpPr/>
          <p:nvPr/>
        </p:nvSpPr>
        <p:spPr>
          <a:xfrm>
            <a:off x="571500" y="381000"/>
            <a:ext cx="7200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3 — Experimental &amp; Modeling Work Done</a:t>
            </a:r>
            <a:endParaRPr b="0" i="0" sz="1600" u="none" cap="none" strike="noStrike"/>
          </a:p>
        </p:txBody>
      </p:sp>
      <p:sp>
        <p:nvSpPr>
          <p:cNvPr id="352" name="Google Shape;352;p11"/>
          <p:cNvSpPr/>
          <p:nvPr/>
        </p:nvSpPr>
        <p:spPr>
          <a:xfrm>
            <a:off x="571500" y="571500"/>
            <a:ext cx="7305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Experimental Setup &amp; Initial Validation Testing</a:t>
            </a:r>
            <a:endParaRPr b="0" i="0" sz="1600" u="none" cap="none" strike="noStrike"/>
          </a:p>
        </p:txBody>
      </p:sp>
      <p:sp>
        <p:nvSpPr>
          <p:cNvPr id="353" name="Google Shape;353;p11"/>
          <p:cNvSpPr/>
          <p:nvPr/>
        </p:nvSpPr>
        <p:spPr>
          <a:xfrm>
            <a:off x="381000" y="1085850"/>
            <a:ext cx="3733800" cy="4781550"/>
          </a:xfrm>
          <a:custGeom>
            <a:rect b="b" l="l" r="r" t="t"/>
            <a:pathLst>
              <a:path extrusionOk="0" h="4781550" w="37338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4705343"/>
                </a:lnTo>
                <a:cubicBezTo>
                  <a:pt x="3733800" y="4747431"/>
                  <a:pt x="3699681" y="4781550"/>
                  <a:pt x="3657593" y="4781550"/>
                </a:cubicBezTo>
                <a:lnTo>
                  <a:pt x="76207" y="4781550"/>
                </a:lnTo>
                <a:cubicBezTo>
                  <a:pt x="34119" y="4781550"/>
                  <a:pt x="0" y="4747431"/>
                  <a:pt x="0" y="47053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rotWithShape="0" algn="bl" dir="54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381000" y="1085850"/>
            <a:ext cx="3733800" cy="38100"/>
          </a:xfrm>
          <a:custGeom>
            <a:rect b="b" l="l" r="r" t="t"/>
            <a:pathLst>
              <a:path extrusionOk="0" h="38100" w="37338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531019" y="1257300"/>
            <a:ext cx="166688" cy="190500"/>
          </a:xfrm>
          <a:custGeom>
            <a:rect b="b" l="l" r="r" t="t"/>
            <a:pathLst>
              <a:path extrusionOk="0" h="190500" w="166688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809625" y="1219200"/>
            <a:ext cx="2238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Physical Laboratory Setup</a:t>
            </a:r>
            <a:endParaRPr b="0" i="0" sz="1600" u="none" cap="none" strike="noStrike"/>
          </a:p>
        </p:txBody>
      </p:sp>
      <p:sp>
        <p:nvSpPr>
          <p:cNvPr id="357" name="Google Shape;357;p11"/>
          <p:cNvSpPr/>
          <p:nvPr/>
        </p:nvSpPr>
        <p:spPr>
          <a:xfrm>
            <a:off x="495300" y="1822452"/>
            <a:ext cx="3505200" cy="762000"/>
          </a:xfrm>
          <a:custGeom>
            <a:rect b="b" l="l" r="r" t="t"/>
            <a:pathLst>
              <a:path extrusionOk="0" h="762000" w="3505200">
                <a:moveTo>
                  <a:pt x="38100" y="0"/>
                </a:moveTo>
                <a:lnTo>
                  <a:pt x="3467100" y="0"/>
                </a:lnTo>
                <a:cubicBezTo>
                  <a:pt x="3488128" y="0"/>
                  <a:pt x="3505200" y="17072"/>
                  <a:pt x="3505200" y="38100"/>
                </a:cubicBezTo>
                <a:lnTo>
                  <a:pt x="3505200" y="723900"/>
                </a:lnTo>
                <a:cubicBezTo>
                  <a:pt x="3505200" y="744928"/>
                  <a:pt x="3488128" y="762000"/>
                  <a:pt x="34671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571500" y="1898652"/>
            <a:ext cx="3419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F071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Robot Hardware</a:t>
            </a:r>
            <a:endParaRPr b="0" i="0" sz="1600" u="none" cap="none" strike="noStrike"/>
          </a:p>
        </p:txBody>
      </p:sp>
      <p:sp>
        <p:nvSpPr>
          <p:cNvPr id="359" name="Google Shape;359;p11"/>
          <p:cNvSpPr/>
          <p:nvPr/>
        </p:nvSpPr>
        <p:spPr>
          <a:xfrm>
            <a:off x="571500" y="2127252"/>
            <a:ext cx="341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Mitsubishi R</a:t>
            </a:r>
            <a:r>
              <a:rPr lang="en-US" sz="105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 </a:t>
            </a: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series 6</a:t>
            </a:r>
            <a:r>
              <a:rPr lang="en-US" sz="105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DOF robot with milling spindle mounted via custom bracket/handle assembly.</a:t>
            </a:r>
            <a:endParaRPr b="0" i="0" sz="1600" u="none" cap="none" strike="noStrike"/>
          </a:p>
        </p:txBody>
      </p:sp>
      <p:sp>
        <p:nvSpPr>
          <p:cNvPr id="360" name="Google Shape;360;p11"/>
          <p:cNvSpPr/>
          <p:nvPr/>
        </p:nvSpPr>
        <p:spPr>
          <a:xfrm>
            <a:off x="495300" y="3181350"/>
            <a:ext cx="3505200" cy="762000"/>
          </a:xfrm>
          <a:custGeom>
            <a:rect b="b" l="l" r="r" t="t"/>
            <a:pathLst>
              <a:path extrusionOk="0" h="762000" w="3505200">
                <a:moveTo>
                  <a:pt x="38100" y="0"/>
                </a:moveTo>
                <a:lnTo>
                  <a:pt x="3467100" y="0"/>
                </a:lnTo>
                <a:cubicBezTo>
                  <a:pt x="3488128" y="0"/>
                  <a:pt x="3505200" y="17072"/>
                  <a:pt x="3505200" y="38100"/>
                </a:cubicBezTo>
                <a:lnTo>
                  <a:pt x="3505200" y="723900"/>
                </a:lnTo>
                <a:cubicBezTo>
                  <a:pt x="3505200" y="744928"/>
                  <a:pt x="3488128" y="762000"/>
                  <a:pt x="34671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571500" y="3257550"/>
            <a:ext cx="3419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F071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Workpiece Fixture</a:t>
            </a:r>
            <a:endParaRPr b="0" i="0" sz="1600" u="none" cap="none" strike="noStrike"/>
          </a:p>
        </p:txBody>
      </p:sp>
      <p:sp>
        <p:nvSpPr>
          <p:cNvPr id="362" name="Google Shape;362;p11"/>
          <p:cNvSpPr/>
          <p:nvPr/>
        </p:nvSpPr>
        <p:spPr>
          <a:xfrm>
            <a:off x="571500" y="3486150"/>
            <a:ext cx="341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Positioned on rigid table within reachable workspace — maximizing reachability while maintaining safe clearance.</a:t>
            </a:r>
            <a:endParaRPr b="0" i="0" sz="1600" u="none" cap="none" strike="noStrike"/>
          </a:p>
        </p:txBody>
      </p:sp>
      <p:sp>
        <p:nvSpPr>
          <p:cNvPr id="363" name="Google Shape;363;p11"/>
          <p:cNvSpPr/>
          <p:nvPr/>
        </p:nvSpPr>
        <p:spPr>
          <a:xfrm>
            <a:off x="495300" y="4540253"/>
            <a:ext cx="3505200" cy="952500"/>
          </a:xfrm>
          <a:custGeom>
            <a:rect b="b" l="l" r="r" t="t"/>
            <a:pathLst>
              <a:path extrusionOk="0" h="952500" w="3505200">
                <a:moveTo>
                  <a:pt x="38100" y="0"/>
                </a:moveTo>
                <a:lnTo>
                  <a:pt x="3467100" y="0"/>
                </a:lnTo>
                <a:cubicBezTo>
                  <a:pt x="3488128" y="0"/>
                  <a:pt x="3505200" y="17072"/>
                  <a:pt x="3505200" y="38100"/>
                </a:cubicBezTo>
                <a:lnTo>
                  <a:pt x="3505200" y="914400"/>
                </a:lnTo>
                <a:cubicBezTo>
                  <a:pt x="3505200" y="935428"/>
                  <a:pt x="3488128" y="952500"/>
                  <a:pt x="34671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571500" y="4616453"/>
            <a:ext cx="3419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F071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TCP-IP Communication</a:t>
            </a:r>
            <a:endParaRPr b="0" i="0" sz="1600" u="none" cap="none" strike="noStrike"/>
          </a:p>
        </p:txBody>
      </p:sp>
      <p:sp>
        <p:nvSpPr>
          <p:cNvPr id="365" name="Google Shape;365;p11"/>
          <p:cNvSpPr/>
          <p:nvPr/>
        </p:nvSpPr>
        <p:spPr>
          <a:xfrm>
            <a:off x="571500" y="4845053"/>
            <a:ext cx="3419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Bidirectional link between RoboDK (PC) and Mitsubishi controller for real-time joint streaming and command transmission.</a:t>
            </a:r>
            <a:endParaRPr b="0" i="0" sz="1600" u="none" cap="none" strike="noStrike"/>
          </a:p>
        </p:txBody>
      </p:sp>
      <p:sp>
        <p:nvSpPr>
          <p:cNvPr id="366" name="Google Shape;366;p11"/>
          <p:cNvSpPr/>
          <p:nvPr/>
        </p:nvSpPr>
        <p:spPr>
          <a:xfrm>
            <a:off x="4229100" y="1085850"/>
            <a:ext cx="3733800" cy="4781550"/>
          </a:xfrm>
          <a:custGeom>
            <a:rect b="b" l="l" r="r" t="t"/>
            <a:pathLst>
              <a:path extrusionOk="0" h="4781550" w="37338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4705343"/>
                </a:lnTo>
                <a:cubicBezTo>
                  <a:pt x="3733800" y="4747431"/>
                  <a:pt x="3699681" y="4781550"/>
                  <a:pt x="3657593" y="4781550"/>
                </a:cubicBezTo>
                <a:lnTo>
                  <a:pt x="76207" y="4781550"/>
                </a:lnTo>
                <a:cubicBezTo>
                  <a:pt x="34119" y="4781550"/>
                  <a:pt x="0" y="4747431"/>
                  <a:pt x="0" y="47053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rotWithShape="0" algn="bl" dir="54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4229100" y="1085850"/>
            <a:ext cx="3733800" cy="38100"/>
          </a:xfrm>
          <a:custGeom>
            <a:rect b="b" l="l" r="r" t="t"/>
            <a:pathLst>
              <a:path extrusionOk="0" h="38100" w="37338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4343400" y="1390650"/>
            <a:ext cx="190500" cy="190500"/>
          </a:xfrm>
          <a:custGeom>
            <a:rect b="b" l="l" r="r" t="t"/>
            <a:pathLst>
              <a:path extrusionOk="0" h="190500" w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4606032" y="1219200"/>
            <a:ext cx="3333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Experiment 1 — Live Joint Coordinate Verification</a:t>
            </a:r>
            <a:endParaRPr b="0" i="0" sz="1600" u="none" cap="none" strike="noStrike"/>
          </a:p>
        </p:txBody>
      </p:sp>
      <p:sp>
        <p:nvSpPr>
          <p:cNvPr id="370" name="Google Shape;370;p11"/>
          <p:cNvSpPr/>
          <p:nvPr/>
        </p:nvSpPr>
        <p:spPr>
          <a:xfrm>
            <a:off x="4343400" y="1852612"/>
            <a:ext cx="3505200" cy="762000"/>
          </a:xfrm>
          <a:custGeom>
            <a:rect b="b" l="l" r="r" t="t"/>
            <a:pathLst>
              <a:path extrusionOk="0" h="762000" w="3505200">
                <a:moveTo>
                  <a:pt x="38100" y="0"/>
                </a:moveTo>
                <a:lnTo>
                  <a:pt x="3467100" y="0"/>
                </a:lnTo>
                <a:cubicBezTo>
                  <a:pt x="3488128" y="0"/>
                  <a:pt x="3505200" y="17072"/>
                  <a:pt x="3505200" y="38100"/>
                </a:cubicBezTo>
                <a:lnTo>
                  <a:pt x="3505200" y="723900"/>
                </a:lnTo>
                <a:cubicBezTo>
                  <a:pt x="3505200" y="744928"/>
                  <a:pt x="3488128" y="762000"/>
                  <a:pt x="34671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4419600" y="1928813"/>
            <a:ext cx="3419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93CB8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Procedure</a:t>
            </a:r>
            <a:endParaRPr b="0" i="0" sz="1600" u="none" cap="none" strike="noStrike"/>
          </a:p>
        </p:txBody>
      </p:sp>
      <p:sp>
        <p:nvSpPr>
          <p:cNvPr id="372" name="Google Shape;372;p11"/>
          <p:cNvSpPr/>
          <p:nvPr/>
        </p:nvSpPr>
        <p:spPr>
          <a:xfrm>
            <a:off x="4419600" y="2157413"/>
            <a:ext cx="341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Current joint angular positions (all six joints) streamed live from controller into RoboDK.</a:t>
            </a:r>
            <a:endParaRPr b="0" i="0" sz="1600" u="none" cap="none" strike="noStrike"/>
          </a:p>
        </p:txBody>
      </p:sp>
      <p:sp>
        <p:nvSpPr>
          <p:cNvPr id="373" name="Google Shape;373;p11"/>
          <p:cNvSpPr/>
          <p:nvPr/>
        </p:nvSpPr>
        <p:spPr>
          <a:xfrm>
            <a:off x="4343400" y="2738438"/>
            <a:ext cx="3505200" cy="952500"/>
          </a:xfrm>
          <a:custGeom>
            <a:rect b="b" l="l" r="r" t="t"/>
            <a:pathLst>
              <a:path extrusionOk="0" h="952500" w="3505200">
                <a:moveTo>
                  <a:pt x="38100" y="0"/>
                </a:moveTo>
                <a:lnTo>
                  <a:pt x="3467100" y="0"/>
                </a:lnTo>
                <a:cubicBezTo>
                  <a:pt x="3488128" y="0"/>
                  <a:pt x="3505200" y="17072"/>
                  <a:pt x="3505200" y="38100"/>
                </a:cubicBezTo>
                <a:lnTo>
                  <a:pt x="3505200" y="914400"/>
                </a:lnTo>
                <a:cubicBezTo>
                  <a:pt x="3505200" y="935428"/>
                  <a:pt x="3488128" y="952500"/>
                  <a:pt x="34671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4419600" y="2814638"/>
            <a:ext cx="3419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93CB8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Observation</a:t>
            </a:r>
            <a:endParaRPr b="0" i="0" sz="1600" u="none" cap="none" strike="noStrike"/>
          </a:p>
        </p:txBody>
      </p:sp>
      <p:sp>
        <p:nvSpPr>
          <p:cNvPr id="375" name="Google Shape;375;p11"/>
          <p:cNvSpPr/>
          <p:nvPr/>
        </p:nvSpPr>
        <p:spPr>
          <a:xfrm>
            <a:off x="4419600" y="3043238"/>
            <a:ext cx="3419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Simulation model mirrored physical robot pose </a:t>
            </a:r>
            <a:r>
              <a:rPr b="1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instantaneously</a:t>
            </a: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— confirming kinematic model correctness.</a:t>
            </a:r>
            <a:endParaRPr b="0" i="0" sz="1600" u="none" cap="none" strike="noStrike"/>
          </a:p>
        </p:txBody>
      </p:sp>
      <p:sp>
        <p:nvSpPr>
          <p:cNvPr id="376" name="Google Shape;376;p11"/>
          <p:cNvSpPr/>
          <p:nvPr/>
        </p:nvSpPr>
        <p:spPr>
          <a:xfrm>
            <a:off x="4352925" y="3824288"/>
            <a:ext cx="3486150" cy="971550"/>
          </a:xfrm>
          <a:custGeom>
            <a:rect b="b" l="l" r="r" t="t"/>
            <a:pathLst>
              <a:path extrusionOk="0" h="971550" w="3486150">
                <a:moveTo>
                  <a:pt x="38104" y="0"/>
                </a:moveTo>
                <a:lnTo>
                  <a:pt x="3448046" y="0"/>
                </a:lnTo>
                <a:cubicBezTo>
                  <a:pt x="3469090" y="0"/>
                  <a:pt x="3486150" y="17060"/>
                  <a:pt x="3486150" y="38104"/>
                </a:cubicBezTo>
                <a:lnTo>
                  <a:pt x="3486150" y="933446"/>
                </a:lnTo>
                <a:cubicBezTo>
                  <a:pt x="3486150" y="954490"/>
                  <a:pt x="3469090" y="971550"/>
                  <a:pt x="3448046" y="971550"/>
                </a:cubicBezTo>
                <a:lnTo>
                  <a:pt x="38104" y="971550"/>
                </a:lnTo>
                <a:cubicBezTo>
                  <a:pt x="17060" y="971550"/>
                  <a:pt x="0" y="954490"/>
                  <a:pt x="0" y="93344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DBEAFE"/>
          </a:solidFill>
          <a:ln cap="flat" cmpd="sng" w="25400">
            <a:solidFill>
              <a:srgbClr val="51A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4457700" y="3929063"/>
            <a:ext cx="133350" cy="133350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93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4638675" y="3910013"/>
            <a:ext cx="3181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93CB8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Significance</a:t>
            </a:r>
            <a:endParaRPr b="0" i="0" sz="1600" u="none" cap="none" strike="noStrike"/>
          </a:p>
        </p:txBody>
      </p:sp>
      <p:sp>
        <p:nvSpPr>
          <p:cNvPr id="379" name="Google Shape;379;p11"/>
          <p:cNvSpPr/>
          <p:nvPr/>
        </p:nvSpPr>
        <p:spPr>
          <a:xfrm>
            <a:off x="4438650" y="4138613"/>
            <a:ext cx="338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Essential sanity check:</a:t>
            </a: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if simulation and physical robot disagree about configuration, all subsequent simulation results are meaningless.</a:t>
            </a:r>
            <a:endParaRPr b="0" i="0" sz="1600" u="none" cap="none" strike="noStrike"/>
          </a:p>
        </p:txBody>
      </p:sp>
      <p:sp>
        <p:nvSpPr>
          <p:cNvPr id="380" name="Google Shape;380;p11"/>
          <p:cNvSpPr/>
          <p:nvPr/>
        </p:nvSpPr>
        <p:spPr>
          <a:xfrm>
            <a:off x="4352925" y="4938713"/>
            <a:ext cx="3486150" cy="781050"/>
          </a:xfrm>
          <a:custGeom>
            <a:rect b="b" l="l" r="r" t="t"/>
            <a:pathLst>
              <a:path extrusionOk="0" h="781050" w="3486150">
                <a:moveTo>
                  <a:pt x="38100" y="0"/>
                </a:moveTo>
                <a:lnTo>
                  <a:pt x="3448050" y="0"/>
                </a:lnTo>
                <a:cubicBezTo>
                  <a:pt x="3469092" y="0"/>
                  <a:pt x="3486150" y="17058"/>
                  <a:pt x="3486150" y="38100"/>
                </a:cubicBezTo>
                <a:lnTo>
                  <a:pt x="3486150" y="742950"/>
                </a:lnTo>
                <a:cubicBezTo>
                  <a:pt x="3486150" y="763992"/>
                  <a:pt x="3469092" y="781050"/>
                  <a:pt x="3448050" y="781050"/>
                </a:cubicBezTo>
                <a:lnTo>
                  <a:pt x="38100" y="781050"/>
                </a:lnTo>
                <a:cubicBezTo>
                  <a:pt x="17058" y="781050"/>
                  <a:pt x="0" y="763992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4"/>
          </a:solidFill>
          <a:ln cap="flat" cmpd="sng" w="25400">
            <a:solidFill>
              <a:srgbClr val="05D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4457700" y="5043488"/>
            <a:ext cx="133350" cy="133350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16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4638675" y="5024438"/>
            <a:ext cx="3181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1663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Result</a:t>
            </a:r>
            <a:endParaRPr b="0" i="0" sz="1600" u="none" cap="none" strike="noStrike"/>
          </a:p>
        </p:txBody>
      </p:sp>
      <p:sp>
        <p:nvSpPr>
          <p:cNvPr id="383" name="Google Shape;383;p11"/>
          <p:cNvSpPr/>
          <p:nvPr/>
        </p:nvSpPr>
        <p:spPr>
          <a:xfrm>
            <a:off x="4438650" y="5253038"/>
            <a:ext cx="3381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Live joint readout confirmed </a:t>
            </a:r>
            <a:r>
              <a:rPr b="1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model</a:t>
            </a:r>
            <a:r>
              <a:rPr b="1" lang="en-US" sz="105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r>
              <a:rPr b="1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physical synchronization</a:t>
            </a: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— prerequisite condition satisfied.</a:t>
            </a:r>
            <a:endParaRPr b="0" i="0" sz="1600" u="none" cap="none" strike="noStrike"/>
          </a:p>
        </p:txBody>
      </p:sp>
      <p:sp>
        <p:nvSpPr>
          <p:cNvPr id="384" name="Google Shape;384;p11"/>
          <p:cNvSpPr/>
          <p:nvPr/>
        </p:nvSpPr>
        <p:spPr>
          <a:xfrm>
            <a:off x="8077200" y="1085850"/>
            <a:ext cx="3733800" cy="4781550"/>
          </a:xfrm>
          <a:custGeom>
            <a:rect b="b" l="l" r="r" t="t"/>
            <a:pathLst>
              <a:path extrusionOk="0" h="4781550" w="37338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4705343"/>
                </a:lnTo>
                <a:cubicBezTo>
                  <a:pt x="3733800" y="4747431"/>
                  <a:pt x="3699681" y="4781550"/>
                  <a:pt x="3657593" y="4781550"/>
                </a:cubicBezTo>
                <a:lnTo>
                  <a:pt x="76207" y="4781550"/>
                </a:lnTo>
                <a:cubicBezTo>
                  <a:pt x="34119" y="4781550"/>
                  <a:pt x="0" y="4747431"/>
                  <a:pt x="0" y="47053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rotWithShape="0" algn="bl" dir="54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8077200" y="1085850"/>
            <a:ext cx="3733800" cy="38100"/>
          </a:xfrm>
          <a:custGeom>
            <a:rect b="b" l="l" r="r" t="t"/>
            <a:pathLst>
              <a:path extrusionOk="0" h="38100" w="37338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"/>
          <p:cNvSpPr/>
          <p:nvPr/>
        </p:nvSpPr>
        <p:spPr>
          <a:xfrm>
            <a:off x="8210550" y="1390650"/>
            <a:ext cx="190500" cy="190500"/>
          </a:xfrm>
          <a:custGeom>
            <a:rect b="b" l="l" r="r" t="t"/>
            <a:pathLst>
              <a:path extrusionOk="0" h="190500" w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8495011" y="1219200"/>
            <a:ext cx="3295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Experiment 2 — Manual Target Dry-Run</a:t>
            </a:r>
            <a:endParaRPr b="0" i="0" sz="1600" u="none" cap="none" strike="noStrike"/>
          </a:p>
        </p:txBody>
      </p:sp>
      <p:sp>
        <p:nvSpPr>
          <p:cNvPr id="388" name="Google Shape;388;p11"/>
          <p:cNvSpPr/>
          <p:nvPr/>
        </p:nvSpPr>
        <p:spPr>
          <a:xfrm>
            <a:off x="8191500" y="1876425"/>
            <a:ext cx="3505200" cy="762000"/>
          </a:xfrm>
          <a:custGeom>
            <a:rect b="b" l="l" r="r" t="t"/>
            <a:pathLst>
              <a:path extrusionOk="0" h="762000" w="3505200">
                <a:moveTo>
                  <a:pt x="38100" y="0"/>
                </a:moveTo>
                <a:lnTo>
                  <a:pt x="3467100" y="0"/>
                </a:lnTo>
                <a:cubicBezTo>
                  <a:pt x="3488128" y="0"/>
                  <a:pt x="3505200" y="17072"/>
                  <a:pt x="3505200" y="38100"/>
                </a:cubicBezTo>
                <a:lnTo>
                  <a:pt x="3505200" y="723900"/>
                </a:lnTo>
                <a:cubicBezTo>
                  <a:pt x="3505200" y="744928"/>
                  <a:pt x="3488128" y="762000"/>
                  <a:pt x="34671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8267700" y="1952625"/>
            <a:ext cx="3419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1663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Procedure</a:t>
            </a:r>
            <a:endParaRPr b="0" i="0" sz="1600" u="none" cap="none" strike="noStrike"/>
          </a:p>
        </p:txBody>
      </p:sp>
      <p:sp>
        <p:nvSpPr>
          <p:cNvPr id="390" name="Google Shape;390;p11"/>
          <p:cNvSpPr/>
          <p:nvPr/>
        </p:nvSpPr>
        <p:spPr>
          <a:xfrm>
            <a:off x="8267700" y="2181225"/>
            <a:ext cx="341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Simple manual targets programmed in RoboDK, uploaded to controller, executed in </a:t>
            </a:r>
            <a:r>
              <a:rPr b="1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free air</a:t>
            </a: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(no workpiece contact).</a:t>
            </a:r>
            <a:endParaRPr b="0" i="0" sz="1600" u="none" cap="none" strike="noStrike"/>
          </a:p>
        </p:txBody>
      </p:sp>
      <p:sp>
        <p:nvSpPr>
          <p:cNvPr id="391" name="Google Shape;391;p11"/>
          <p:cNvSpPr/>
          <p:nvPr/>
        </p:nvSpPr>
        <p:spPr>
          <a:xfrm>
            <a:off x="8191500" y="2809875"/>
            <a:ext cx="3505200" cy="762000"/>
          </a:xfrm>
          <a:custGeom>
            <a:rect b="b" l="l" r="r" t="t"/>
            <a:pathLst>
              <a:path extrusionOk="0" h="762000" w="3505200">
                <a:moveTo>
                  <a:pt x="38100" y="0"/>
                </a:moveTo>
                <a:lnTo>
                  <a:pt x="3467100" y="0"/>
                </a:lnTo>
                <a:cubicBezTo>
                  <a:pt x="3488128" y="0"/>
                  <a:pt x="3505200" y="17072"/>
                  <a:pt x="3505200" y="38100"/>
                </a:cubicBezTo>
                <a:lnTo>
                  <a:pt x="3505200" y="723900"/>
                </a:lnTo>
                <a:cubicBezTo>
                  <a:pt x="3505200" y="744928"/>
                  <a:pt x="3488128" y="762000"/>
                  <a:pt x="34671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"/>
          <p:cNvSpPr/>
          <p:nvPr/>
        </p:nvSpPr>
        <p:spPr>
          <a:xfrm>
            <a:off x="8267700" y="2886075"/>
            <a:ext cx="3419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1663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Purpose</a:t>
            </a:r>
            <a:endParaRPr b="0" i="0" sz="1600" u="none" cap="none" strike="noStrike"/>
          </a:p>
        </p:txBody>
      </p:sp>
      <p:sp>
        <p:nvSpPr>
          <p:cNvPr id="393" name="Google Shape;393;p11"/>
          <p:cNvSpPr/>
          <p:nvPr/>
        </p:nvSpPr>
        <p:spPr>
          <a:xfrm>
            <a:off x="8267700" y="3114675"/>
            <a:ext cx="341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Validate basic motion program upload pipeline before introducing complex multi target toolpath.</a:t>
            </a:r>
            <a:endParaRPr b="0" i="0" sz="1600" u="none" cap="none" strike="noStrike"/>
          </a:p>
        </p:txBody>
      </p:sp>
      <p:sp>
        <p:nvSpPr>
          <p:cNvPr id="394" name="Google Shape;394;p11"/>
          <p:cNvSpPr/>
          <p:nvPr/>
        </p:nvSpPr>
        <p:spPr>
          <a:xfrm>
            <a:off x="8201025" y="3752850"/>
            <a:ext cx="3486150" cy="971550"/>
          </a:xfrm>
          <a:custGeom>
            <a:rect b="b" l="l" r="r" t="t"/>
            <a:pathLst>
              <a:path extrusionOk="0" h="971550" w="3486150">
                <a:moveTo>
                  <a:pt x="38104" y="0"/>
                </a:moveTo>
                <a:lnTo>
                  <a:pt x="3448046" y="0"/>
                </a:lnTo>
                <a:cubicBezTo>
                  <a:pt x="3469090" y="0"/>
                  <a:pt x="3486150" y="17060"/>
                  <a:pt x="3486150" y="38104"/>
                </a:cubicBezTo>
                <a:lnTo>
                  <a:pt x="3486150" y="933446"/>
                </a:lnTo>
                <a:cubicBezTo>
                  <a:pt x="3486150" y="954490"/>
                  <a:pt x="3469090" y="971550"/>
                  <a:pt x="3448046" y="971550"/>
                </a:cubicBezTo>
                <a:lnTo>
                  <a:pt x="38104" y="971550"/>
                </a:lnTo>
                <a:cubicBezTo>
                  <a:pt x="17060" y="971550"/>
                  <a:pt x="0" y="954490"/>
                  <a:pt x="0" y="93344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DCFCE7"/>
          </a:solidFill>
          <a:ln cap="flat" cmpd="sng" w="25400">
            <a:solidFill>
              <a:srgbClr val="05D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8305800" y="3857625"/>
            <a:ext cx="133350" cy="133350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16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8486775" y="3838575"/>
            <a:ext cx="3181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1663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Result</a:t>
            </a:r>
            <a:endParaRPr b="0" i="0" sz="1600" u="none" cap="none" strike="noStrike"/>
          </a:p>
        </p:txBody>
      </p:sp>
      <p:sp>
        <p:nvSpPr>
          <p:cNvPr id="397" name="Google Shape;397;p11"/>
          <p:cNvSpPr/>
          <p:nvPr/>
        </p:nvSpPr>
        <p:spPr>
          <a:xfrm>
            <a:off x="8286750" y="4067175"/>
            <a:ext cx="338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Robot moved to all manual targets accurately — basic communication, file transfer, and execution pipeline </a:t>
            </a:r>
            <a:r>
              <a:rPr b="1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functional</a:t>
            </a: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</a:t>
            </a:r>
            <a:endParaRPr b="0" i="0" sz="1600" u="none" cap="none" strike="noStrike"/>
          </a:p>
        </p:txBody>
      </p:sp>
      <p:sp>
        <p:nvSpPr>
          <p:cNvPr id="398" name="Google Shape;398;p11"/>
          <p:cNvSpPr/>
          <p:nvPr/>
        </p:nvSpPr>
        <p:spPr>
          <a:xfrm>
            <a:off x="8201025" y="4914900"/>
            <a:ext cx="3486150" cy="781050"/>
          </a:xfrm>
          <a:custGeom>
            <a:rect b="b" l="l" r="r" t="t"/>
            <a:pathLst>
              <a:path extrusionOk="0" h="781050" w="3486150">
                <a:moveTo>
                  <a:pt x="38100" y="0"/>
                </a:moveTo>
                <a:lnTo>
                  <a:pt x="3448050" y="0"/>
                </a:lnTo>
                <a:cubicBezTo>
                  <a:pt x="3469092" y="0"/>
                  <a:pt x="3486150" y="17058"/>
                  <a:pt x="3486150" y="38100"/>
                </a:cubicBezTo>
                <a:lnTo>
                  <a:pt x="3486150" y="742950"/>
                </a:lnTo>
                <a:cubicBezTo>
                  <a:pt x="3486150" y="763992"/>
                  <a:pt x="3469092" y="781050"/>
                  <a:pt x="3448050" y="781050"/>
                </a:cubicBezTo>
                <a:lnTo>
                  <a:pt x="38100" y="781050"/>
                </a:lnTo>
                <a:cubicBezTo>
                  <a:pt x="17058" y="781050"/>
                  <a:pt x="0" y="763992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CE8"/>
          </a:solidFill>
          <a:ln cap="flat" cmpd="sng" w="25400">
            <a:solidFill>
              <a:srgbClr val="FDC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8305800" y="5019675"/>
            <a:ext cx="133350" cy="133350"/>
          </a:xfrm>
          <a:custGeom>
            <a:rect b="b" l="l" r="r" t="t"/>
            <a:pathLst>
              <a:path extrusionOk="0" h="133350" w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894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8486775" y="5000625"/>
            <a:ext cx="3181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94B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Critical Insight</a:t>
            </a:r>
            <a:endParaRPr b="0" i="0" sz="1600" u="none" cap="none" strike="noStrike"/>
          </a:p>
        </p:txBody>
      </p:sp>
      <p:sp>
        <p:nvSpPr>
          <p:cNvPr id="401" name="Google Shape;401;p11"/>
          <p:cNvSpPr/>
          <p:nvPr/>
        </p:nvSpPr>
        <p:spPr>
          <a:xfrm>
            <a:off x="8286750" y="5229225"/>
            <a:ext cx="3381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This success set an expectation that complex toolpath</a:t>
            </a:r>
            <a:r>
              <a:rPr lang="en-US" sz="105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 </a:t>
            </a:r>
            <a:r>
              <a:rPr b="0" i="0" lang="en-US" sz="10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upload would be straightforward.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2"/>
          <p:cNvSpPr/>
          <p:nvPr/>
        </p:nvSpPr>
        <p:spPr>
          <a:xfrm>
            <a:off x="332207" y="382038"/>
            <a:ext cx="66441" cy="398649"/>
          </a:xfrm>
          <a:custGeom>
            <a:rect b="b" l="l" r="r" t="t"/>
            <a:pathLst>
              <a:path extrusionOk="0" h="398649" w="66441">
                <a:moveTo>
                  <a:pt x="0" y="0"/>
                </a:moveTo>
                <a:lnTo>
                  <a:pt x="66441" y="0"/>
                </a:lnTo>
                <a:lnTo>
                  <a:pt x="66441" y="398649"/>
                </a:lnTo>
                <a:lnTo>
                  <a:pt x="0" y="398649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408" name="Google Shape;408;p12"/>
          <p:cNvSpPr/>
          <p:nvPr/>
        </p:nvSpPr>
        <p:spPr>
          <a:xfrm>
            <a:off x="498311" y="332207"/>
            <a:ext cx="78153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6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3 — Experimental &amp; Modeling Work Done</a:t>
            </a:r>
            <a:endParaRPr b="0" i="0" sz="1600" u="none" cap="none" strike="noStrike"/>
          </a:p>
        </p:txBody>
      </p:sp>
      <p:sp>
        <p:nvSpPr>
          <p:cNvPr id="409" name="Google Shape;409;p12"/>
          <p:cNvSpPr/>
          <p:nvPr/>
        </p:nvSpPr>
        <p:spPr>
          <a:xfrm>
            <a:off x="498283" y="498289"/>
            <a:ext cx="105972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4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Learning Curve</a:t>
            </a:r>
            <a:r>
              <a:rPr b="1" i="0" lang="en-US" sz="2354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: Code Upload Failure &amp; The RT Toolbox 3 Pivot</a:t>
            </a:r>
            <a:endParaRPr b="0" i="0" sz="1600" u="none" cap="none" strike="noStrike"/>
          </a:p>
        </p:txBody>
      </p:sp>
      <p:sp>
        <p:nvSpPr>
          <p:cNvPr id="410" name="Google Shape;410;p12"/>
          <p:cNvSpPr/>
          <p:nvPr/>
        </p:nvSpPr>
        <p:spPr>
          <a:xfrm>
            <a:off x="348817" y="930180"/>
            <a:ext cx="5697351" cy="1661035"/>
          </a:xfrm>
          <a:custGeom>
            <a:rect b="b" l="l" r="r" t="t"/>
            <a:pathLst>
              <a:path extrusionOk="0" h="1661035" w="5697351">
                <a:moveTo>
                  <a:pt x="33221" y="0"/>
                </a:moveTo>
                <a:lnTo>
                  <a:pt x="5630910" y="0"/>
                </a:lnTo>
                <a:cubicBezTo>
                  <a:pt x="5667605" y="0"/>
                  <a:pt x="5697351" y="29747"/>
                  <a:pt x="5697351" y="66441"/>
                </a:cubicBezTo>
                <a:lnTo>
                  <a:pt x="5697351" y="1594594"/>
                </a:lnTo>
                <a:cubicBezTo>
                  <a:pt x="5697351" y="1631289"/>
                  <a:pt x="5667605" y="1661035"/>
                  <a:pt x="5630910" y="1661035"/>
                </a:cubicBezTo>
                <a:lnTo>
                  <a:pt x="33221" y="1661035"/>
                </a:lnTo>
                <a:cubicBezTo>
                  <a:pt x="14873" y="1661035"/>
                  <a:pt x="0" y="1646162"/>
                  <a:pt x="0" y="1627815"/>
                </a:cubicBezTo>
                <a:lnTo>
                  <a:pt x="0" y="33221"/>
                </a:lnTo>
                <a:cubicBezTo>
                  <a:pt x="0" y="14873"/>
                  <a:pt x="14873" y="0"/>
                  <a:pt x="3322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9831" rotWithShape="0" algn="bl" dir="5400000" dist="33221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348817" y="930180"/>
            <a:ext cx="33221" cy="1661035"/>
          </a:xfrm>
          <a:custGeom>
            <a:rect b="b" l="l" r="r" t="t"/>
            <a:pathLst>
              <a:path extrusionOk="0" h="1661035" w="33221">
                <a:moveTo>
                  <a:pt x="33221" y="0"/>
                </a:moveTo>
                <a:lnTo>
                  <a:pt x="33221" y="0"/>
                </a:lnTo>
                <a:lnTo>
                  <a:pt x="33221" y="1661035"/>
                </a:lnTo>
                <a:lnTo>
                  <a:pt x="33221" y="1661035"/>
                </a:lnTo>
                <a:cubicBezTo>
                  <a:pt x="14873" y="1661035"/>
                  <a:pt x="0" y="1646162"/>
                  <a:pt x="0" y="1627815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485853" y="1063063"/>
            <a:ext cx="166104" cy="166104"/>
          </a:xfrm>
          <a:custGeom>
            <a:rect b="b" l="l" r="r" t="t"/>
            <a:pathLst>
              <a:path extrusionOk="0" h="166104" w="166104">
                <a:moveTo>
                  <a:pt x="83052" y="166104"/>
                </a:moveTo>
                <a:cubicBezTo>
                  <a:pt x="128889" y="166104"/>
                  <a:pt x="166104" y="128889"/>
                  <a:pt x="166104" y="83052"/>
                </a:cubicBezTo>
                <a:cubicBezTo>
                  <a:pt x="166104" y="37214"/>
                  <a:pt x="128889" y="0"/>
                  <a:pt x="83052" y="0"/>
                </a:cubicBezTo>
                <a:cubicBezTo>
                  <a:pt x="37214" y="0"/>
                  <a:pt x="0" y="37214"/>
                  <a:pt x="0" y="83052"/>
                </a:cubicBezTo>
                <a:cubicBezTo>
                  <a:pt x="0" y="128889"/>
                  <a:pt x="37214" y="166104"/>
                  <a:pt x="83052" y="166104"/>
                </a:cubicBezTo>
                <a:close/>
                <a:moveTo>
                  <a:pt x="54178" y="54178"/>
                </a:moveTo>
                <a:cubicBezTo>
                  <a:pt x="57228" y="51129"/>
                  <a:pt x="62159" y="51129"/>
                  <a:pt x="65176" y="54178"/>
                </a:cubicBezTo>
                <a:lnTo>
                  <a:pt x="83019" y="72021"/>
                </a:lnTo>
                <a:lnTo>
                  <a:pt x="100862" y="54178"/>
                </a:lnTo>
                <a:cubicBezTo>
                  <a:pt x="103912" y="51129"/>
                  <a:pt x="108843" y="51129"/>
                  <a:pt x="111860" y="54178"/>
                </a:cubicBezTo>
                <a:cubicBezTo>
                  <a:pt x="114877" y="57228"/>
                  <a:pt x="114910" y="62159"/>
                  <a:pt x="111860" y="65176"/>
                </a:cubicBezTo>
                <a:lnTo>
                  <a:pt x="94017" y="83019"/>
                </a:lnTo>
                <a:lnTo>
                  <a:pt x="111860" y="100862"/>
                </a:lnTo>
                <a:cubicBezTo>
                  <a:pt x="114910" y="103912"/>
                  <a:pt x="114910" y="108843"/>
                  <a:pt x="111860" y="111860"/>
                </a:cubicBezTo>
                <a:cubicBezTo>
                  <a:pt x="108811" y="114877"/>
                  <a:pt x="103880" y="114910"/>
                  <a:pt x="100862" y="111860"/>
                </a:cubicBezTo>
                <a:lnTo>
                  <a:pt x="83019" y="94017"/>
                </a:lnTo>
                <a:lnTo>
                  <a:pt x="65176" y="111860"/>
                </a:lnTo>
                <a:cubicBezTo>
                  <a:pt x="62127" y="114910"/>
                  <a:pt x="57195" y="114910"/>
                  <a:pt x="54178" y="111860"/>
                </a:cubicBezTo>
                <a:cubicBezTo>
                  <a:pt x="51161" y="108811"/>
                  <a:pt x="51129" y="103880"/>
                  <a:pt x="54178" y="100862"/>
                </a:cubicBezTo>
                <a:lnTo>
                  <a:pt x="72021" y="83019"/>
                </a:lnTo>
                <a:lnTo>
                  <a:pt x="54178" y="65176"/>
                </a:lnTo>
                <a:cubicBezTo>
                  <a:pt x="51129" y="62127"/>
                  <a:pt x="51129" y="57195"/>
                  <a:pt x="54178" y="54178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739161" y="1029842"/>
            <a:ext cx="32058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8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Attempt — Complex Toolpath Upload</a:t>
            </a:r>
            <a:endParaRPr b="0" i="0" sz="1600" u="none" cap="none" strike="noStrike"/>
          </a:p>
        </p:txBody>
      </p:sp>
      <p:sp>
        <p:nvSpPr>
          <p:cNvPr id="414" name="Google Shape;414;p12"/>
          <p:cNvSpPr/>
          <p:nvPr/>
        </p:nvSpPr>
        <p:spPr>
          <a:xfrm>
            <a:off x="465090" y="1328828"/>
            <a:ext cx="55479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Full multi-target complex toolpath exported from RoboDK in Mitsubishi </a:t>
            </a:r>
            <a:r>
              <a:rPr b="1" i="0" lang="en-US" sz="104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.PRG format</a:t>
            </a:r>
            <a:r>
              <a:rPr b="0" i="0" lang="en-US" sz="104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and uploaded to controller using </a:t>
            </a:r>
            <a:r>
              <a:rPr lang="en-US" sz="1046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RoboDK </a:t>
            </a:r>
            <a:r>
              <a:rPr lang="en-US" sz="1046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itself</a:t>
            </a:r>
            <a:r>
              <a:rPr b="0" i="0" lang="en-US" sz="104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</a:t>
            </a:r>
            <a:endParaRPr b="0" i="0" sz="1600" u="none" cap="none" strike="noStrike"/>
          </a:p>
        </p:txBody>
      </p:sp>
      <p:sp>
        <p:nvSpPr>
          <p:cNvPr id="415" name="Google Shape;415;p12"/>
          <p:cNvSpPr/>
          <p:nvPr/>
        </p:nvSpPr>
        <p:spPr>
          <a:xfrm>
            <a:off x="473395" y="1802223"/>
            <a:ext cx="5464807" cy="681025"/>
          </a:xfrm>
          <a:custGeom>
            <a:rect b="b" l="l" r="r" t="t"/>
            <a:pathLst>
              <a:path extrusionOk="0" h="681025" w="5464807">
                <a:moveTo>
                  <a:pt x="33220" y="0"/>
                </a:moveTo>
                <a:lnTo>
                  <a:pt x="5431586" y="0"/>
                </a:lnTo>
                <a:cubicBezTo>
                  <a:pt x="5449933" y="0"/>
                  <a:pt x="5464807" y="14873"/>
                  <a:pt x="5464807" y="33220"/>
                </a:cubicBezTo>
                <a:lnTo>
                  <a:pt x="5464807" y="647804"/>
                </a:lnTo>
                <a:cubicBezTo>
                  <a:pt x="5464807" y="666151"/>
                  <a:pt x="5449933" y="681025"/>
                  <a:pt x="5431586" y="681025"/>
                </a:cubicBezTo>
                <a:lnTo>
                  <a:pt x="33220" y="681025"/>
                </a:lnTo>
                <a:cubicBezTo>
                  <a:pt x="14873" y="681025"/>
                  <a:pt x="0" y="666151"/>
                  <a:pt x="0" y="647804"/>
                </a:cubicBezTo>
                <a:lnTo>
                  <a:pt x="0" y="33220"/>
                </a:lnTo>
                <a:cubicBezTo>
                  <a:pt x="0" y="14886"/>
                  <a:pt x="14886" y="0"/>
                  <a:pt x="33220" y="0"/>
                </a:cubicBezTo>
                <a:close/>
              </a:path>
            </a:pathLst>
          </a:custGeom>
          <a:solidFill>
            <a:srgbClr val="FEF2F2"/>
          </a:solidFill>
          <a:ln cap="flat" cmpd="sng" w="25400">
            <a:solidFill>
              <a:srgbClr val="FFA2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564752" y="1893580"/>
            <a:ext cx="116272" cy="116272"/>
          </a:xfrm>
          <a:custGeom>
            <a:rect b="b" l="l" r="r" t="t"/>
            <a:pathLst>
              <a:path extrusionOk="0" h="116272" w="116272">
                <a:moveTo>
                  <a:pt x="58136" y="0"/>
                </a:moveTo>
                <a:cubicBezTo>
                  <a:pt x="61475" y="0"/>
                  <a:pt x="64540" y="1839"/>
                  <a:pt x="66130" y="4769"/>
                </a:cubicBezTo>
                <a:lnTo>
                  <a:pt x="115182" y="95607"/>
                </a:lnTo>
                <a:cubicBezTo>
                  <a:pt x="116704" y="98423"/>
                  <a:pt x="116636" y="101829"/>
                  <a:pt x="115001" y="104577"/>
                </a:cubicBezTo>
                <a:cubicBezTo>
                  <a:pt x="113366" y="107325"/>
                  <a:pt x="110391" y="109005"/>
                  <a:pt x="107189" y="109005"/>
                </a:cubicBezTo>
                <a:lnTo>
                  <a:pt x="9084" y="109005"/>
                </a:lnTo>
                <a:cubicBezTo>
                  <a:pt x="5882" y="109005"/>
                  <a:pt x="2930" y="107325"/>
                  <a:pt x="1272" y="104577"/>
                </a:cubicBezTo>
                <a:cubicBezTo>
                  <a:pt x="-386" y="101829"/>
                  <a:pt x="-431" y="98423"/>
                  <a:pt x="1090" y="95607"/>
                </a:cubicBezTo>
                <a:lnTo>
                  <a:pt x="50143" y="4769"/>
                </a:lnTo>
                <a:cubicBezTo>
                  <a:pt x="51732" y="1839"/>
                  <a:pt x="54798" y="0"/>
                  <a:pt x="58136" y="0"/>
                </a:cubicBezTo>
                <a:close/>
                <a:moveTo>
                  <a:pt x="58136" y="38152"/>
                </a:moveTo>
                <a:cubicBezTo>
                  <a:pt x="55116" y="38152"/>
                  <a:pt x="52686" y="40582"/>
                  <a:pt x="52686" y="43602"/>
                </a:cubicBezTo>
                <a:lnTo>
                  <a:pt x="52686" y="69037"/>
                </a:lnTo>
                <a:cubicBezTo>
                  <a:pt x="52686" y="72057"/>
                  <a:pt x="55116" y="74487"/>
                  <a:pt x="58136" y="74487"/>
                </a:cubicBezTo>
                <a:cubicBezTo>
                  <a:pt x="61157" y="74487"/>
                  <a:pt x="63587" y="72057"/>
                  <a:pt x="63587" y="69037"/>
                </a:cubicBezTo>
                <a:lnTo>
                  <a:pt x="63587" y="43602"/>
                </a:lnTo>
                <a:cubicBezTo>
                  <a:pt x="63587" y="40582"/>
                  <a:pt x="61157" y="38152"/>
                  <a:pt x="58136" y="38152"/>
                </a:cubicBezTo>
                <a:close/>
                <a:moveTo>
                  <a:pt x="64200" y="87204"/>
                </a:moveTo>
                <a:cubicBezTo>
                  <a:pt x="64338" y="84954"/>
                  <a:pt x="63215" y="82812"/>
                  <a:pt x="61286" y="81645"/>
                </a:cubicBezTo>
                <a:cubicBezTo>
                  <a:pt x="59356" y="80478"/>
                  <a:pt x="56939" y="80478"/>
                  <a:pt x="55009" y="81645"/>
                </a:cubicBezTo>
                <a:cubicBezTo>
                  <a:pt x="53080" y="82812"/>
                  <a:pt x="51958" y="84954"/>
                  <a:pt x="52096" y="87204"/>
                </a:cubicBezTo>
                <a:cubicBezTo>
                  <a:pt x="51958" y="89455"/>
                  <a:pt x="53080" y="91596"/>
                  <a:pt x="55009" y="92763"/>
                </a:cubicBezTo>
                <a:cubicBezTo>
                  <a:pt x="56939" y="93930"/>
                  <a:pt x="59356" y="93930"/>
                  <a:pt x="61286" y="92763"/>
                </a:cubicBezTo>
                <a:cubicBezTo>
                  <a:pt x="63215" y="91596"/>
                  <a:pt x="64338" y="89455"/>
                  <a:pt x="64200" y="87204"/>
                </a:cubicBezTo>
                <a:close/>
              </a:path>
            </a:pathLst>
          </a:custGeom>
          <a:solidFill>
            <a:srgbClr val="9F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719360" y="1876970"/>
            <a:ext cx="52023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6" u="none" cap="none" strike="noStrike">
                <a:solidFill>
                  <a:srgbClr val="9F071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Result</a:t>
            </a:r>
            <a:endParaRPr b="0" i="0" sz="1600" u="none" cap="none" strike="noStrike"/>
          </a:p>
        </p:txBody>
      </p:sp>
      <p:sp>
        <p:nvSpPr>
          <p:cNvPr id="418" name="Google Shape;418;p12"/>
          <p:cNvSpPr/>
          <p:nvPr/>
        </p:nvSpPr>
        <p:spPr>
          <a:xfrm>
            <a:off x="548142" y="2076294"/>
            <a:ext cx="53736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Controller </a:t>
            </a:r>
            <a:r>
              <a:rPr b="1" i="0" lang="en-US" sz="91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rejected program outright</a:t>
            </a:r>
            <a:r>
              <a:rPr b="0" i="0" lang="en-US" sz="91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with parse error — no motion executed, only generic fault code produced. </a:t>
            </a:r>
            <a:r>
              <a:rPr lang="en-US" sz="916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(Unexpected </a:t>
            </a:r>
            <a:r>
              <a:rPr lang="en-US" sz="916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movement</a:t>
            </a:r>
            <a:r>
              <a:rPr lang="en-US" sz="916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of the robot)</a:t>
            </a:r>
            <a:endParaRPr b="0" i="0" sz="1600" u="none" cap="none" strike="noStrike"/>
          </a:p>
        </p:txBody>
      </p:sp>
      <p:sp>
        <p:nvSpPr>
          <p:cNvPr id="419" name="Google Shape;419;p12"/>
          <p:cNvSpPr/>
          <p:nvPr/>
        </p:nvSpPr>
        <p:spPr>
          <a:xfrm>
            <a:off x="348817" y="2657657"/>
            <a:ext cx="5697351" cy="3504785"/>
          </a:xfrm>
          <a:custGeom>
            <a:rect b="b" l="l" r="r" t="t"/>
            <a:pathLst>
              <a:path extrusionOk="0" h="3504785" w="5697351">
                <a:moveTo>
                  <a:pt x="33221" y="0"/>
                </a:moveTo>
                <a:lnTo>
                  <a:pt x="5630901" y="0"/>
                </a:lnTo>
                <a:cubicBezTo>
                  <a:pt x="5667600" y="0"/>
                  <a:pt x="5697351" y="29751"/>
                  <a:pt x="5697351" y="66451"/>
                </a:cubicBezTo>
                <a:lnTo>
                  <a:pt x="5697351" y="3438334"/>
                </a:lnTo>
                <a:cubicBezTo>
                  <a:pt x="5697351" y="3475034"/>
                  <a:pt x="5667600" y="3504785"/>
                  <a:pt x="5630901" y="3504785"/>
                </a:cubicBezTo>
                <a:lnTo>
                  <a:pt x="33221" y="3504785"/>
                </a:lnTo>
                <a:cubicBezTo>
                  <a:pt x="14873" y="3504785"/>
                  <a:pt x="0" y="3489911"/>
                  <a:pt x="0" y="3471564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9831" rotWithShape="0" algn="bl" dir="5400000" dist="33221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2"/>
          <p:cNvSpPr/>
          <p:nvPr/>
        </p:nvSpPr>
        <p:spPr>
          <a:xfrm>
            <a:off x="348817" y="2657657"/>
            <a:ext cx="33221" cy="3504785"/>
          </a:xfrm>
          <a:custGeom>
            <a:rect b="b" l="l" r="r" t="t"/>
            <a:pathLst>
              <a:path extrusionOk="0" h="3504785" w="33221">
                <a:moveTo>
                  <a:pt x="33221" y="0"/>
                </a:moveTo>
                <a:lnTo>
                  <a:pt x="33221" y="0"/>
                </a:lnTo>
                <a:lnTo>
                  <a:pt x="33221" y="3504785"/>
                </a:lnTo>
                <a:lnTo>
                  <a:pt x="33221" y="3504785"/>
                </a:lnTo>
                <a:cubicBezTo>
                  <a:pt x="14873" y="3504785"/>
                  <a:pt x="0" y="3489911"/>
                  <a:pt x="0" y="3471564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485853" y="2790540"/>
            <a:ext cx="166104" cy="166104"/>
          </a:xfrm>
          <a:custGeom>
            <a:rect b="b" l="l" r="r" t="t"/>
            <a:pathLst>
              <a:path extrusionOk="0" h="166104" w="166104">
                <a:moveTo>
                  <a:pt x="134959" y="67480"/>
                </a:moveTo>
                <a:cubicBezTo>
                  <a:pt x="134959" y="82370"/>
                  <a:pt x="130125" y="96126"/>
                  <a:pt x="121982" y="107286"/>
                </a:cubicBezTo>
                <a:lnTo>
                  <a:pt x="163054" y="148390"/>
                </a:lnTo>
                <a:cubicBezTo>
                  <a:pt x="167109" y="152445"/>
                  <a:pt x="167109" y="159031"/>
                  <a:pt x="163054" y="163086"/>
                </a:cubicBezTo>
                <a:cubicBezTo>
                  <a:pt x="158999" y="167142"/>
                  <a:pt x="152413" y="167142"/>
                  <a:pt x="148358" y="163086"/>
                </a:cubicBezTo>
                <a:lnTo>
                  <a:pt x="107286" y="121982"/>
                </a:lnTo>
                <a:cubicBezTo>
                  <a:pt x="96126" y="130125"/>
                  <a:pt x="82370" y="134959"/>
                  <a:pt x="67480" y="134959"/>
                </a:cubicBezTo>
                <a:cubicBezTo>
                  <a:pt x="30204" y="134959"/>
                  <a:pt x="0" y="104756"/>
                  <a:pt x="0" y="67480"/>
                </a:cubicBezTo>
                <a:cubicBezTo>
                  <a:pt x="0" y="30204"/>
                  <a:pt x="30204" y="0"/>
                  <a:pt x="67480" y="0"/>
                </a:cubicBezTo>
                <a:cubicBezTo>
                  <a:pt x="104756" y="0"/>
                  <a:pt x="134959" y="30204"/>
                  <a:pt x="134959" y="67480"/>
                </a:cubicBezTo>
                <a:close/>
                <a:moveTo>
                  <a:pt x="67480" y="114196"/>
                </a:moveTo>
                <a:cubicBezTo>
                  <a:pt x="93263" y="114196"/>
                  <a:pt x="114196" y="93263"/>
                  <a:pt x="114196" y="67480"/>
                </a:cubicBezTo>
                <a:cubicBezTo>
                  <a:pt x="114196" y="41696"/>
                  <a:pt x="93263" y="20763"/>
                  <a:pt x="67480" y="20763"/>
                </a:cubicBezTo>
                <a:cubicBezTo>
                  <a:pt x="41696" y="20763"/>
                  <a:pt x="20763" y="41696"/>
                  <a:pt x="20763" y="67480"/>
                </a:cubicBezTo>
                <a:cubicBezTo>
                  <a:pt x="20763" y="93263"/>
                  <a:pt x="41696" y="114196"/>
                  <a:pt x="67480" y="114196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739161" y="2757319"/>
            <a:ext cx="29484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8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Diagnosis Attempts — What Was Tried</a:t>
            </a:r>
            <a:endParaRPr b="0" i="0" sz="1600" u="none" cap="none" strike="noStrike"/>
          </a:p>
        </p:txBody>
      </p:sp>
      <p:sp>
        <p:nvSpPr>
          <p:cNvPr id="423" name="Google Shape;423;p12"/>
          <p:cNvSpPr/>
          <p:nvPr/>
        </p:nvSpPr>
        <p:spPr>
          <a:xfrm>
            <a:off x="465100" y="3056297"/>
            <a:ext cx="5481417" cy="1009909"/>
          </a:xfrm>
          <a:custGeom>
            <a:rect b="b" l="l" r="r" t="t"/>
            <a:pathLst>
              <a:path extrusionOk="0" h="664414" w="5481417">
                <a:moveTo>
                  <a:pt x="33221" y="0"/>
                </a:moveTo>
                <a:lnTo>
                  <a:pt x="5448196" y="0"/>
                </a:lnTo>
                <a:cubicBezTo>
                  <a:pt x="5466543" y="0"/>
                  <a:pt x="5481417" y="14873"/>
                  <a:pt x="5481417" y="33221"/>
                </a:cubicBezTo>
                <a:lnTo>
                  <a:pt x="5481417" y="631193"/>
                </a:lnTo>
                <a:cubicBezTo>
                  <a:pt x="5481417" y="649541"/>
                  <a:pt x="5466543" y="664414"/>
                  <a:pt x="5448196" y="664414"/>
                </a:cubicBez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531541" y="3157267"/>
            <a:ext cx="54066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1. Manual .PRG File Examination</a:t>
            </a:r>
            <a:endParaRPr b="0" i="0" sz="1600" u="none" cap="none" strike="noStrike"/>
          </a:p>
        </p:txBody>
      </p:sp>
      <p:sp>
        <p:nvSpPr>
          <p:cNvPr id="425" name="Google Shape;425;p12"/>
          <p:cNvSpPr/>
          <p:nvPr/>
        </p:nvSpPr>
        <p:spPr>
          <a:xfrm>
            <a:off x="531541" y="3460174"/>
            <a:ext cx="5406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Reviewed header structure, motion commands (MOVL, MOVJ, MOVC), label formatting, speed parameters, frame declarations.</a:t>
            </a:r>
            <a:endParaRPr b="0" i="0" sz="1000" u="none" cap="none" strike="noStrike"/>
          </a:p>
        </p:txBody>
      </p:sp>
      <p:sp>
        <p:nvSpPr>
          <p:cNvPr id="426" name="Google Shape;426;p12"/>
          <p:cNvSpPr/>
          <p:nvPr/>
        </p:nvSpPr>
        <p:spPr>
          <a:xfrm>
            <a:off x="465100" y="4141713"/>
            <a:ext cx="5481417" cy="757433"/>
          </a:xfrm>
          <a:custGeom>
            <a:rect b="b" l="l" r="r" t="t"/>
            <a:pathLst>
              <a:path extrusionOk="0" h="498311" w="5481417">
                <a:moveTo>
                  <a:pt x="33222" y="0"/>
                </a:moveTo>
                <a:lnTo>
                  <a:pt x="5448195" y="0"/>
                </a:lnTo>
                <a:cubicBezTo>
                  <a:pt x="5466543" y="0"/>
                  <a:pt x="5481417" y="14874"/>
                  <a:pt x="5481417" y="33222"/>
                </a:cubicBezTo>
                <a:lnTo>
                  <a:pt x="5481417" y="465088"/>
                </a:lnTo>
                <a:cubicBezTo>
                  <a:pt x="5481417" y="483436"/>
                  <a:pt x="5466543" y="498311"/>
                  <a:pt x="5448195" y="498311"/>
                </a:cubicBezTo>
                <a:lnTo>
                  <a:pt x="33222" y="498311"/>
                </a:lnTo>
                <a:cubicBezTo>
                  <a:pt x="14874" y="498311"/>
                  <a:pt x="0" y="483436"/>
                  <a:pt x="0" y="465088"/>
                </a:cubicBezTo>
                <a:lnTo>
                  <a:pt x="0" y="33222"/>
                </a:lnTo>
                <a:cubicBezTo>
                  <a:pt x="0" y="14886"/>
                  <a:pt x="14886" y="0"/>
                  <a:pt x="33222" y="0"/>
                </a:cubicBezTo>
                <a:close/>
              </a:path>
            </a:pathLst>
          </a:cu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531541" y="4242683"/>
            <a:ext cx="54066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2. Controller Pendant Diagnostics</a:t>
            </a:r>
            <a:endParaRPr b="0" i="0" sz="1600" u="none" cap="none" strike="noStrike"/>
          </a:p>
        </p:txBody>
      </p:sp>
      <p:sp>
        <p:nvSpPr>
          <p:cNvPr id="428" name="Google Shape;428;p12"/>
          <p:cNvSpPr/>
          <p:nvPr/>
        </p:nvSpPr>
        <p:spPr>
          <a:xfrm>
            <a:off x="531541" y="4545590"/>
            <a:ext cx="54066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Accessed error logs — returned </a:t>
            </a:r>
            <a:r>
              <a:rPr b="1" i="0" lang="en-US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generic fault codes</a:t>
            </a:r>
            <a:r>
              <a:rPr b="0" i="0" lang="en-US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with insufficient </a:t>
            </a:r>
            <a:r>
              <a:rPr lang="en-US" sz="100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information </a:t>
            </a:r>
            <a:r>
              <a:rPr b="0" i="0" lang="en-US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to pinpoint specific cause.</a:t>
            </a:r>
            <a:endParaRPr b="0" i="0" sz="1000" u="none" cap="none" strike="noStrike"/>
          </a:p>
        </p:txBody>
      </p:sp>
      <p:sp>
        <p:nvSpPr>
          <p:cNvPr id="429" name="Google Shape;429;p12"/>
          <p:cNvSpPr/>
          <p:nvPr/>
        </p:nvSpPr>
        <p:spPr>
          <a:xfrm>
            <a:off x="465100" y="4974708"/>
            <a:ext cx="5481417" cy="1009909"/>
          </a:xfrm>
          <a:custGeom>
            <a:rect b="b" l="l" r="r" t="t"/>
            <a:pathLst>
              <a:path extrusionOk="0" h="664414" w="5481417">
                <a:moveTo>
                  <a:pt x="33221" y="0"/>
                </a:moveTo>
                <a:lnTo>
                  <a:pt x="5448196" y="0"/>
                </a:lnTo>
                <a:cubicBezTo>
                  <a:pt x="5466543" y="0"/>
                  <a:pt x="5481417" y="14873"/>
                  <a:pt x="5481417" y="33221"/>
                </a:cubicBezTo>
                <a:lnTo>
                  <a:pt x="5481417" y="631193"/>
                </a:lnTo>
                <a:cubicBezTo>
                  <a:pt x="5481417" y="649541"/>
                  <a:pt x="5466543" y="664414"/>
                  <a:pt x="5448196" y="664414"/>
                </a:cubicBez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531541" y="5075678"/>
            <a:ext cx="54066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3. Systematic Candidate Iteration</a:t>
            </a:r>
            <a:endParaRPr b="0" i="0" sz="1600" u="none" cap="none" strike="noStrike"/>
          </a:p>
        </p:txBody>
      </p:sp>
      <p:sp>
        <p:nvSpPr>
          <p:cNvPr id="431" name="Google Shape;431;p12"/>
          <p:cNvSpPr/>
          <p:nvPr/>
        </p:nvSpPr>
        <p:spPr>
          <a:xfrm>
            <a:off x="531541" y="5378584"/>
            <a:ext cx="5406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Tested motion type, speed format, frame conflicts, program name restrictions, header formatting — </a:t>
            </a:r>
            <a:r>
              <a:rPr b="1" i="0" lang="en-US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root cause not identified</a:t>
            </a:r>
            <a:r>
              <a:rPr b="0" i="0" lang="en-US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</a:t>
            </a:r>
            <a:endParaRPr b="0" i="0" sz="1000" u="none" cap="none" strike="noStrike"/>
          </a:p>
        </p:txBody>
      </p:sp>
      <p:sp>
        <p:nvSpPr>
          <p:cNvPr id="432" name="Google Shape;432;p12"/>
          <p:cNvSpPr/>
          <p:nvPr/>
        </p:nvSpPr>
        <p:spPr>
          <a:xfrm>
            <a:off x="6164258" y="930180"/>
            <a:ext cx="5697351" cy="3870213"/>
          </a:xfrm>
          <a:custGeom>
            <a:rect b="b" l="l" r="r" t="t"/>
            <a:pathLst>
              <a:path extrusionOk="0" h="3870213" w="5697351">
                <a:moveTo>
                  <a:pt x="33221" y="0"/>
                </a:moveTo>
                <a:lnTo>
                  <a:pt x="5630900" y="0"/>
                </a:lnTo>
                <a:cubicBezTo>
                  <a:pt x="5667600" y="0"/>
                  <a:pt x="5697351" y="29751"/>
                  <a:pt x="5697351" y="66452"/>
                </a:cubicBezTo>
                <a:lnTo>
                  <a:pt x="5697351" y="3803761"/>
                </a:lnTo>
                <a:cubicBezTo>
                  <a:pt x="5697351" y="3840461"/>
                  <a:pt x="5667600" y="3870213"/>
                  <a:pt x="5630900" y="3870213"/>
                </a:cubicBezTo>
                <a:lnTo>
                  <a:pt x="33221" y="3870213"/>
                </a:lnTo>
                <a:cubicBezTo>
                  <a:pt x="14873" y="3870213"/>
                  <a:pt x="0" y="3855339"/>
                  <a:pt x="0" y="3836992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9831" rotWithShape="0" algn="bl" dir="5400000" dist="33221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6164258" y="930180"/>
            <a:ext cx="33221" cy="3870213"/>
          </a:xfrm>
          <a:custGeom>
            <a:rect b="b" l="l" r="r" t="t"/>
            <a:pathLst>
              <a:path extrusionOk="0" h="3870213" w="33221">
                <a:moveTo>
                  <a:pt x="33221" y="0"/>
                </a:moveTo>
                <a:lnTo>
                  <a:pt x="33221" y="0"/>
                </a:lnTo>
                <a:lnTo>
                  <a:pt x="33221" y="3870213"/>
                </a:lnTo>
                <a:lnTo>
                  <a:pt x="33221" y="3870213"/>
                </a:lnTo>
                <a:cubicBezTo>
                  <a:pt x="14873" y="3870213"/>
                  <a:pt x="0" y="3855339"/>
                  <a:pt x="0" y="3836992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6301294" y="1063063"/>
            <a:ext cx="166104" cy="166104"/>
          </a:xfrm>
          <a:custGeom>
            <a:rect b="b" l="l" r="r" t="t"/>
            <a:pathLst>
              <a:path extrusionOk="0" h="166104" w="166104">
                <a:moveTo>
                  <a:pt x="155755" y="62289"/>
                </a:moveTo>
                <a:lnTo>
                  <a:pt x="158317" y="62289"/>
                </a:lnTo>
                <a:cubicBezTo>
                  <a:pt x="162632" y="62289"/>
                  <a:pt x="166104" y="58818"/>
                  <a:pt x="166104" y="54503"/>
                </a:cubicBezTo>
                <a:lnTo>
                  <a:pt x="166104" y="7786"/>
                </a:lnTo>
                <a:cubicBezTo>
                  <a:pt x="166104" y="4639"/>
                  <a:pt x="164222" y="1784"/>
                  <a:pt x="161302" y="584"/>
                </a:cubicBezTo>
                <a:cubicBezTo>
                  <a:pt x="158382" y="-616"/>
                  <a:pt x="155041" y="65"/>
                  <a:pt x="152802" y="2271"/>
                </a:cubicBezTo>
                <a:lnTo>
                  <a:pt x="136030" y="19076"/>
                </a:lnTo>
                <a:cubicBezTo>
                  <a:pt x="121658" y="7170"/>
                  <a:pt x="103166" y="0"/>
                  <a:pt x="83052" y="0"/>
                </a:cubicBezTo>
                <a:cubicBezTo>
                  <a:pt x="41201" y="0"/>
                  <a:pt x="6586" y="30950"/>
                  <a:pt x="843" y="71210"/>
                </a:cubicBezTo>
                <a:cubicBezTo>
                  <a:pt x="32" y="76888"/>
                  <a:pt x="3958" y="82143"/>
                  <a:pt x="9635" y="82954"/>
                </a:cubicBezTo>
                <a:cubicBezTo>
                  <a:pt x="15313" y="83765"/>
                  <a:pt x="20568" y="79808"/>
                  <a:pt x="21379" y="74163"/>
                </a:cubicBezTo>
                <a:cubicBezTo>
                  <a:pt x="25694" y="43959"/>
                  <a:pt x="51680" y="20763"/>
                  <a:pt x="83052" y="20763"/>
                </a:cubicBezTo>
                <a:cubicBezTo>
                  <a:pt x="97456" y="20763"/>
                  <a:pt x="110692" y="25629"/>
                  <a:pt x="121236" y="33837"/>
                </a:cubicBezTo>
                <a:lnTo>
                  <a:pt x="106086" y="48988"/>
                </a:lnTo>
                <a:cubicBezTo>
                  <a:pt x="103847" y="51226"/>
                  <a:pt x="103198" y="54568"/>
                  <a:pt x="104399" y="57487"/>
                </a:cubicBezTo>
                <a:cubicBezTo>
                  <a:pt x="105599" y="60407"/>
                  <a:pt x="108454" y="62289"/>
                  <a:pt x="111601" y="62289"/>
                </a:cubicBezTo>
                <a:lnTo>
                  <a:pt x="155755" y="62289"/>
                </a:lnTo>
                <a:close/>
                <a:moveTo>
                  <a:pt x="165292" y="94893"/>
                </a:moveTo>
                <a:cubicBezTo>
                  <a:pt x="166104" y="89216"/>
                  <a:pt x="162146" y="83960"/>
                  <a:pt x="156501" y="83149"/>
                </a:cubicBezTo>
                <a:cubicBezTo>
                  <a:pt x="150856" y="82338"/>
                  <a:pt x="145568" y="86296"/>
                  <a:pt x="144757" y="91941"/>
                </a:cubicBezTo>
                <a:cubicBezTo>
                  <a:pt x="140442" y="122112"/>
                  <a:pt x="114456" y="145308"/>
                  <a:pt x="83084" y="145308"/>
                </a:cubicBezTo>
                <a:cubicBezTo>
                  <a:pt x="68680" y="145308"/>
                  <a:pt x="55444" y="140442"/>
                  <a:pt x="44900" y="132234"/>
                </a:cubicBezTo>
                <a:lnTo>
                  <a:pt x="60018" y="117116"/>
                </a:lnTo>
                <a:cubicBezTo>
                  <a:pt x="62256" y="114877"/>
                  <a:pt x="62905" y="111536"/>
                  <a:pt x="61705" y="108616"/>
                </a:cubicBezTo>
                <a:cubicBezTo>
                  <a:pt x="60505" y="105696"/>
                  <a:pt x="57650" y="103815"/>
                  <a:pt x="54503" y="103815"/>
                </a:cubicBezTo>
                <a:lnTo>
                  <a:pt x="7786" y="103815"/>
                </a:lnTo>
                <a:cubicBezTo>
                  <a:pt x="3471" y="103815"/>
                  <a:pt x="0" y="107286"/>
                  <a:pt x="0" y="111601"/>
                </a:cubicBezTo>
                <a:lnTo>
                  <a:pt x="0" y="158317"/>
                </a:lnTo>
                <a:cubicBezTo>
                  <a:pt x="0" y="161464"/>
                  <a:pt x="1882" y="164319"/>
                  <a:pt x="4801" y="165520"/>
                </a:cubicBezTo>
                <a:cubicBezTo>
                  <a:pt x="7721" y="166720"/>
                  <a:pt x="11063" y="166039"/>
                  <a:pt x="13301" y="163833"/>
                </a:cubicBezTo>
                <a:lnTo>
                  <a:pt x="30106" y="147028"/>
                </a:lnTo>
                <a:cubicBezTo>
                  <a:pt x="44446" y="158934"/>
                  <a:pt x="62938" y="166104"/>
                  <a:pt x="83052" y="166104"/>
                </a:cubicBezTo>
                <a:cubicBezTo>
                  <a:pt x="124902" y="166104"/>
                  <a:pt x="159518" y="135154"/>
                  <a:pt x="165260" y="94893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6554601" y="1029842"/>
            <a:ext cx="26826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8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Strategic Pivot — RT Toolbox 3</a:t>
            </a:r>
            <a:endParaRPr b="0" i="0" sz="1600" u="none" cap="none" strike="noStrike"/>
          </a:p>
        </p:txBody>
      </p:sp>
      <p:sp>
        <p:nvSpPr>
          <p:cNvPr id="436" name="Google Shape;436;p12"/>
          <p:cNvSpPr/>
          <p:nvPr/>
        </p:nvSpPr>
        <p:spPr>
          <a:xfrm>
            <a:off x="6280531" y="1328828"/>
            <a:ext cx="55479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After exhausting direct upload debugging, we </a:t>
            </a:r>
            <a:r>
              <a:rPr lang="en-US" sz="1046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tried using</a:t>
            </a:r>
            <a:r>
              <a:rPr b="0" i="0" lang="en-US" sz="104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r>
              <a:rPr b="1" i="0" lang="en-US" sz="104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Mitsubishi's official offline programming environment</a:t>
            </a:r>
            <a:r>
              <a:rPr b="0" i="0" lang="en-US" sz="104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</a:t>
            </a:r>
            <a:endParaRPr b="0" i="0" sz="1600" u="none" cap="none" strike="noStrike"/>
          </a:p>
        </p:txBody>
      </p:sp>
      <p:sp>
        <p:nvSpPr>
          <p:cNvPr id="437" name="Google Shape;437;p12"/>
          <p:cNvSpPr/>
          <p:nvPr/>
        </p:nvSpPr>
        <p:spPr>
          <a:xfrm>
            <a:off x="6280531" y="1793918"/>
            <a:ext cx="5481417" cy="1046452"/>
          </a:xfrm>
          <a:custGeom>
            <a:rect b="b" l="l" r="r" t="t"/>
            <a:pathLst>
              <a:path extrusionOk="0" h="1046452" w="5481417">
                <a:moveTo>
                  <a:pt x="33225" y="0"/>
                </a:moveTo>
                <a:lnTo>
                  <a:pt x="5448192" y="0"/>
                </a:lnTo>
                <a:cubicBezTo>
                  <a:pt x="5466542" y="0"/>
                  <a:pt x="5481417" y="14875"/>
                  <a:pt x="5481417" y="33225"/>
                </a:cubicBezTo>
                <a:lnTo>
                  <a:pt x="5481417" y="1013227"/>
                </a:lnTo>
                <a:cubicBezTo>
                  <a:pt x="5481417" y="1031577"/>
                  <a:pt x="5466542" y="1046452"/>
                  <a:pt x="5448192" y="1046452"/>
                </a:cubicBezTo>
                <a:lnTo>
                  <a:pt x="33225" y="1046452"/>
                </a:lnTo>
                <a:cubicBezTo>
                  <a:pt x="14875" y="1046452"/>
                  <a:pt x="0" y="1031577"/>
                  <a:pt x="0" y="1013227"/>
                </a:cubicBezTo>
                <a:lnTo>
                  <a:pt x="0" y="33225"/>
                </a:lnTo>
                <a:cubicBezTo>
                  <a:pt x="0" y="14875"/>
                  <a:pt x="14875" y="0"/>
                  <a:pt x="33225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2"/>
          <p:cNvSpPr/>
          <p:nvPr/>
        </p:nvSpPr>
        <p:spPr>
          <a:xfrm>
            <a:off x="6346972" y="1860360"/>
            <a:ext cx="54066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6" u="none" cap="none" strike="noStrike">
                <a:solidFill>
                  <a:srgbClr val="01663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What RT Toolbox 3 Provides</a:t>
            </a:r>
            <a:endParaRPr b="0" i="0" sz="1600" u="none" cap="none" strike="noStrike"/>
          </a:p>
        </p:txBody>
      </p:sp>
      <p:sp>
        <p:nvSpPr>
          <p:cNvPr id="439" name="Google Shape;439;p12"/>
          <p:cNvSpPr/>
          <p:nvPr/>
        </p:nvSpPr>
        <p:spPr>
          <a:xfrm>
            <a:off x="6365659" y="2092905"/>
            <a:ext cx="87204" cy="99662"/>
          </a:xfrm>
          <a:custGeom>
            <a:rect b="b" l="l" r="r" t="t"/>
            <a:pathLst>
              <a:path extrusionOk="0" h="99662" w="87204">
                <a:moveTo>
                  <a:pt x="84635" y="13645"/>
                </a:moveTo>
                <a:cubicBezTo>
                  <a:pt x="87418" y="15670"/>
                  <a:pt x="88041" y="19563"/>
                  <a:pt x="86017" y="22346"/>
                </a:cubicBezTo>
                <a:lnTo>
                  <a:pt x="36186" y="90864"/>
                </a:lnTo>
                <a:cubicBezTo>
                  <a:pt x="35115" y="92343"/>
                  <a:pt x="33461" y="93258"/>
                  <a:pt x="31631" y="93414"/>
                </a:cubicBezTo>
                <a:cubicBezTo>
                  <a:pt x="29801" y="93569"/>
                  <a:pt x="28030" y="92888"/>
                  <a:pt x="26745" y="91604"/>
                </a:cubicBezTo>
                <a:lnTo>
                  <a:pt x="1830" y="66688"/>
                </a:lnTo>
                <a:cubicBezTo>
                  <a:pt x="-603" y="64255"/>
                  <a:pt x="-603" y="60303"/>
                  <a:pt x="1830" y="57870"/>
                </a:cubicBezTo>
                <a:cubicBezTo>
                  <a:pt x="4263" y="55437"/>
                  <a:pt x="8214" y="55437"/>
                  <a:pt x="10647" y="57870"/>
                </a:cubicBezTo>
                <a:lnTo>
                  <a:pt x="30405" y="77627"/>
                </a:lnTo>
                <a:lnTo>
                  <a:pt x="75953" y="15008"/>
                </a:lnTo>
                <a:cubicBezTo>
                  <a:pt x="77978" y="12224"/>
                  <a:pt x="81871" y="11601"/>
                  <a:pt x="84654" y="13626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6521381" y="2059684"/>
            <a:ext cx="26826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Full kinematic simulation (same engine as controller)</a:t>
            </a:r>
            <a:endParaRPr b="0" i="0" sz="1600" u="none" cap="none" strike="noStrike"/>
          </a:p>
        </p:txBody>
      </p:sp>
      <p:sp>
        <p:nvSpPr>
          <p:cNvPr id="441" name="Google Shape;441;p12"/>
          <p:cNvSpPr/>
          <p:nvPr/>
        </p:nvSpPr>
        <p:spPr>
          <a:xfrm>
            <a:off x="6365659" y="2275619"/>
            <a:ext cx="87204" cy="99662"/>
          </a:xfrm>
          <a:custGeom>
            <a:rect b="b" l="l" r="r" t="t"/>
            <a:pathLst>
              <a:path extrusionOk="0" h="99662" w="87204">
                <a:moveTo>
                  <a:pt x="84635" y="13645"/>
                </a:moveTo>
                <a:cubicBezTo>
                  <a:pt x="87418" y="15670"/>
                  <a:pt x="88041" y="19563"/>
                  <a:pt x="86017" y="22346"/>
                </a:cubicBezTo>
                <a:lnTo>
                  <a:pt x="36186" y="90864"/>
                </a:lnTo>
                <a:cubicBezTo>
                  <a:pt x="35115" y="92343"/>
                  <a:pt x="33461" y="93258"/>
                  <a:pt x="31631" y="93414"/>
                </a:cubicBezTo>
                <a:cubicBezTo>
                  <a:pt x="29801" y="93569"/>
                  <a:pt x="28030" y="92888"/>
                  <a:pt x="26745" y="91604"/>
                </a:cubicBezTo>
                <a:lnTo>
                  <a:pt x="1830" y="66688"/>
                </a:lnTo>
                <a:cubicBezTo>
                  <a:pt x="-603" y="64255"/>
                  <a:pt x="-603" y="60303"/>
                  <a:pt x="1830" y="57870"/>
                </a:cubicBezTo>
                <a:cubicBezTo>
                  <a:pt x="4263" y="55437"/>
                  <a:pt x="8214" y="55437"/>
                  <a:pt x="10647" y="57870"/>
                </a:cubicBezTo>
                <a:lnTo>
                  <a:pt x="30405" y="77627"/>
                </a:lnTo>
                <a:lnTo>
                  <a:pt x="75953" y="15008"/>
                </a:lnTo>
                <a:cubicBezTo>
                  <a:pt x="77978" y="12224"/>
                  <a:pt x="81871" y="11601"/>
                  <a:pt x="84654" y="13626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6521381" y="2242398"/>
            <a:ext cx="1935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Detailed line-referenced error logging</a:t>
            </a:r>
            <a:endParaRPr b="0" i="0" sz="1600" u="none" cap="none" strike="noStrike"/>
          </a:p>
        </p:txBody>
      </p:sp>
      <p:sp>
        <p:nvSpPr>
          <p:cNvPr id="443" name="Google Shape;443;p12"/>
          <p:cNvSpPr/>
          <p:nvPr/>
        </p:nvSpPr>
        <p:spPr>
          <a:xfrm>
            <a:off x="6365659" y="2458332"/>
            <a:ext cx="87204" cy="99662"/>
          </a:xfrm>
          <a:custGeom>
            <a:rect b="b" l="l" r="r" t="t"/>
            <a:pathLst>
              <a:path extrusionOk="0" h="99662" w="87204">
                <a:moveTo>
                  <a:pt x="84635" y="13645"/>
                </a:moveTo>
                <a:cubicBezTo>
                  <a:pt x="87418" y="15670"/>
                  <a:pt x="88041" y="19563"/>
                  <a:pt x="86017" y="22346"/>
                </a:cubicBezTo>
                <a:lnTo>
                  <a:pt x="36186" y="90864"/>
                </a:lnTo>
                <a:cubicBezTo>
                  <a:pt x="35115" y="92343"/>
                  <a:pt x="33461" y="93258"/>
                  <a:pt x="31631" y="93414"/>
                </a:cubicBezTo>
                <a:cubicBezTo>
                  <a:pt x="29801" y="93569"/>
                  <a:pt x="28030" y="92888"/>
                  <a:pt x="26745" y="91604"/>
                </a:cubicBezTo>
                <a:lnTo>
                  <a:pt x="1830" y="66688"/>
                </a:lnTo>
                <a:cubicBezTo>
                  <a:pt x="-603" y="64255"/>
                  <a:pt x="-603" y="60303"/>
                  <a:pt x="1830" y="57870"/>
                </a:cubicBezTo>
                <a:cubicBezTo>
                  <a:pt x="4263" y="55437"/>
                  <a:pt x="8214" y="55437"/>
                  <a:pt x="10647" y="57870"/>
                </a:cubicBezTo>
                <a:lnTo>
                  <a:pt x="30405" y="77627"/>
                </a:lnTo>
                <a:lnTo>
                  <a:pt x="75953" y="15008"/>
                </a:lnTo>
                <a:cubicBezTo>
                  <a:pt x="77978" y="12224"/>
                  <a:pt x="81871" y="11601"/>
                  <a:pt x="84654" y="13626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6521381" y="2425112"/>
            <a:ext cx="17358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Same parser as physical controller</a:t>
            </a:r>
            <a:endParaRPr b="0" i="0" sz="1600" u="none" cap="none" strike="noStrike"/>
          </a:p>
        </p:txBody>
      </p:sp>
      <p:sp>
        <p:nvSpPr>
          <p:cNvPr id="445" name="Google Shape;445;p12"/>
          <p:cNvSpPr/>
          <p:nvPr/>
        </p:nvSpPr>
        <p:spPr>
          <a:xfrm>
            <a:off x="6365659" y="2641046"/>
            <a:ext cx="87204" cy="99662"/>
          </a:xfrm>
          <a:custGeom>
            <a:rect b="b" l="l" r="r" t="t"/>
            <a:pathLst>
              <a:path extrusionOk="0" h="99662" w="87204">
                <a:moveTo>
                  <a:pt x="84635" y="13645"/>
                </a:moveTo>
                <a:cubicBezTo>
                  <a:pt x="87418" y="15670"/>
                  <a:pt x="88041" y="19563"/>
                  <a:pt x="86017" y="22346"/>
                </a:cubicBezTo>
                <a:lnTo>
                  <a:pt x="36186" y="90864"/>
                </a:lnTo>
                <a:cubicBezTo>
                  <a:pt x="35115" y="92343"/>
                  <a:pt x="33461" y="93258"/>
                  <a:pt x="31631" y="93414"/>
                </a:cubicBezTo>
                <a:cubicBezTo>
                  <a:pt x="29801" y="93569"/>
                  <a:pt x="28030" y="92888"/>
                  <a:pt x="26745" y="91604"/>
                </a:cubicBezTo>
                <a:lnTo>
                  <a:pt x="1830" y="66688"/>
                </a:lnTo>
                <a:cubicBezTo>
                  <a:pt x="-603" y="64255"/>
                  <a:pt x="-603" y="60303"/>
                  <a:pt x="1830" y="57870"/>
                </a:cubicBezTo>
                <a:cubicBezTo>
                  <a:pt x="4263" y="55437"/>
                  <a:pt x="8214" y="55437"/>
                  <a:pt x="10647" y="57870"/>
                </a:cubicBezTo>
                <a:lnTo>
                  <a:pt x="30405" y="77627"/>
                </a:lnTo>
                <a:lnTo>
                  <a:pt x="75953" y="15008"/>
                </a:lnTo>
                <a:cubicBezTo>
                  <a:pt x="77978" y="12224"/>
                  <a:pt x="81871" y="11601"/>
                  <a:pt x="84654" y="13626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2"/>
          <p:cNvSpPr/>
          <p:nvPr/>
        </p:nvSpPr>
        <p:spPr>
          <a:xfrm>
            <a:off x="6521381" y="2607826"/>
            <a:ext cx="1885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Complete virtual program validation</a:t>
            </a:r>
            <a:endParaRPr b="0" i="0" sz="1600" u="none" cap="none" strike="noStrike"/>
          </a:p>
        </p:txBody>
      </p:sp>
      <p:sp>
        <p:nvSpPr>
          <p:cNvPr id="447" name="Google Shape;447;p12"/>
          <p:cNvSpPr/>
          <p:nvPr/>
        </p:nvSpPr>
        <p:spPr>
          <a:xfrm>
            <a:off x="6280531" y="2906812"/>
            <a:ext cx="5481417" cy="664414"/>
          </a:xfrm>
          <a:custGeom>
            <a:rect b="b" l="l" r="r" t="t"/>
            <a:pathLst>
              <a:path extrusionOk="0" h="664414" w="5481417">
                <a:moveTo>
                  <a:pt x="33221" y="0"/>
                </a:moveTo>
                <a:lnTo>
                  <a:pt x="5448196" y="0"/>
                </a:lnTo>
                <a:cubicBezTo>
                  <a:pt x="5466543" y="0"/>
                  <a:pt x="5481417" y="14873"/>
                  <a:pt x="5481417" y="33221"/>
                </a:cubicBezTo>
                <a:lnTo>
                  <a:pt x="5481417" y="631193"/>
                </a:lnTo>
                <a:cubicBezTo>
                  <a:pt x="5481417" y="649541"/>
                  <a:pt x="5466543" y="664414"/>
                  <a:pt x="5448196" y="664414"/>
                </a:cubicBez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6346972" y="2973253"/>
            <a:ext cx="54066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6" u="none" cap="none" strike="noStrike">
                <a:solidFill>
                  <a:srgbClr val="01663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Execution</a:t>
            </a:r>
            <a:endParaRPr b="0" i="0" sz="1600" u="none" cap="none" strike="noStrike"/>
          </a:p>
        </p:txBody>
      </p:sp>
      <p:sp>
        <p:nvSpPr>
          <p:cNvPr id="449" name="Google Shape;449;p12"/>
          <p:cNvSpPr/>
          <p:nvPr/>
        </p:nvSpPr>
        <p:spPr>
          <a:xfrm>
            <a:off x="6346972" y="3172578"/>
            <a:ext cx="54066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.PRG imported and simulated virtually — </a:t>
            </a:r>
            <a:r>
              <a:rPr b="1" i="0" lang="en-US" sz="91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issues surfaced with actionable specific error messages</a:t>
            </a:r>
            <a:r>
              <a:rPr b="0" i="0" lang="en-US" sz="91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that pendant failed to provide. (Ho</a:t>
            </a:r>
            <a:r>
              <a:rPr lang="en-US" sz="916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wever the direct upload over RoboDK still doesnt work)</a:t>
            </a:r>
            <a:endParaRPr b="0" i="0" sz="1600" u="none" cap="none" strike="noStrike"/>
          </a:p>
        </p:txBody>
      </p:sp>
      <p:sp>
        <p:nvSpPr>
          <p:cNvPr id="450" name="Google Shape;450;p12"/>
          <p:cNvSpPr/>
          <p:nvPr/>
        </p:nvSpPr>
        <p:spPr>
          <a:xfrm>
            <a:off x="6288836" y="3645973"/>
            <a:ext cx="5464807" cy="514921"/>
          </a:xfrm>
          <a:custGeom>
            <a:rect b="b" l="l" r="r" t="t"/>
            <a:pathLst>
              <a:path extrusionOk="0" h="514921" w="5464807">
                <a:moveTo>
                  <a:pt x="33223" y="0"/>
                </a:moveTo>
                <a:lnTo>
                  <a:pt x="5431584" y="0"/>
                </a:lnTo>
                <a:cubicBezTo>
                  <a:pt x="5449932" y="0"/>
                  <a:pt x="5464807" y="14874"/>
                  <a:pt x="5464807" y="33223"/>
                </a:cubicBezTo>
                <a:lnTo>
                  <a:pt x="5464807" y="481698"/>
                </a:lnTo>
                <a:cubicBezTo>
                  <a:pt x="5464807" y="500047"/>
                  <a:pt x="5449932" y="514921"/>
                  <a:pt x="5431584" y="514921"/>
                </a:cubicBezTo>
                <a:lnTo>
                  <a:pt x="33223" y="514921"/>
                </a:lnTo>
                <a:cubicBezTo>
                  <a:pt x="14874" y="514921"/>
                  <a:pt x="0" y="500047"/>
                  <a:pt x="0" y="481698"/>
                </a:cubicBezTo>
                <a:lnTo>
                  <a:pt x="0" y="33223"/>
                </a:lnTo>
                <a:cubicBezTo>
                  <a:pt x="0" y="14887"/>
                  <a:pt x="14887" y="0"/>
                  <a:pt x="33223" y="0"/>
                </a:cubicBezTo>
                <a:close/>
              </a:path>
            </a:pathLst>
          </a:custGeom>
          <a:solidFill>
            <a:srgbClr val="DCFCE7"/>
          </a:solidFill>
          <a:ln cap="flat" cmpd="sng" w="25400">
            <a:solidFill>
              <a:srgbClr val="05D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"/>
          <p:cNvSpPr/>
          <p:nvPr/>
        </p:nvSpPr>
        <p:spPr>
          <a:xfrm>
            <a:off x="6380193" y="3737330"/>
            <a:ext cx="116272" cy="116272"/>
          </a:xfrm>
          <a:custGeom>
            <a:rect b="b" l="l" r="r" t="t"/>
            <a:pathLst>
              <a:path extrusionOk="0" h="116272" w="116272">
                <a:moveTo>
                  <a:pt x="58136" y="116272"/>
                </a:moveTo>
                <a:cubicBezTo>
                  <a:pt x="90223" y="116272"/>
                  <a:pt x="116272" y="90223"/>
                  <a:pt x="116272" y="58136"/>
                </a:cubicBezTo>
                <a:cubicBezTo>
                  <a:pt x="116272" y="26050"/>
                  <a:pt x="90223" y="0"/>
                  <a:pt x="58136" y="0"/>
                </a:cubicBezTo>
                <a:cubicBezTo>
                  <a:pt x="26050" y="0"/>
                  <a:pt x="0" y="26050"/>
                  <a:pt x="0" y="58136"/>
                </a:cubicBezTo>
                <a:cubicBezTo>
                  <a:pt x="0" y="90223"/>
                  <a:pt x="26050" y="116272"/>
                  <a:pt x="58136" y="116272"/>
                </a:cubicBezTo>
                <a:close/>
                <a:moveTo>
                  <a:pt x="77303" y="48303"/>
                </a:moveTo>
                <a:lnTo>
                  <a:pt x="59135" y="77371"/>
                </a:lnTo>
                <a:cubicBezTo>
                  <a:pt x="58182" y="78893"/>
                  <a:pt x="56547" y="79846"/>
                  <a:pt x="54753" y="79937"/>
                </a:cubicBezTo>
                <a:cubicBezTo>
                  <a:pt x="52958" y="80028"/>
                  <a:pt x="51233" y="79211"/>
                  <a:pt x="50165" y="77757"/>
                </a:cubicBezTo>
                <a:lnTo>
                  <a:pt x="39265" y="63223"/>
                </a:lnTo>
                <a:cubicBezTo>
                  <a:pt x="37448" y="60816"/>
                  <a:pt x="37948" y="57410"/>
                  <a:pt x="40355" y="55593"/>
                </a:cubicBezTo>
                <a:cubicBezTo>
                  <a:pt x="42762" y="53776"/>
                  <a:pt x="46168" y="54276"/>
                  <a:pt x="47985" y="56683"/>
                </a:cubicBezTo>
                <a:lnTo>
                  <a:pt x="54117" y="64858"/>
                </a:lnTo>
                <a:lnTo>
                  <a:pt x="68060" y="42535"/>
                </a:lnTo>
                <a:cubicBezTo>
                  <a:pt x="69650" y="39991"/>
                  <a:pt x="73011" y="39197"/>
                  <a:pt x="75577" y="40809"/>
                </a:cubicBezTo>
                <a:cubicBezTo>
                  <a:pt x="78143" y="42421"/>
                  <a:pt x="78915" y="45760"/>
                  <a:pt x="77303" y="48326"/>
                </a:cubicBezTo>
                <a:close/>
              </a:path>
            </a:pathLst>
          </a:custGeom>
          <a:solidFill>
            <a:srgbClr val="016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6534800" y="3720719"/>
            <a:ext cx="52023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6" u="none" cap="none" strike="noStrike">
                <a:solidFill>
                  <a:srgbClr val="01663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Result</a:t>
            </a:r>
            <a:endParaRPr b="0" i="0" sz="1600" u="none" cap="none" strike="noStrike"/>
          </a:p>
        </p:txBody>
      </p:sp>
      <p:sp>
        <p:nvSpPr>
          <p:cNvPr id="453" name="Google Shape;453;p12"/>
          <p:cNvSpPr/>
          <p:nvPr/>
        </p:nvSpPr>
        <p:spPr>
          <a:xfrm>
            <a:off x="6363582" y="3920044"/>
            <a:ext cx="53736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Program iteratively corrected until clean simulation — </a:t>
            </a:r>
            <a:r>
              <a:rPr b="1" i="0" lang="en-US" sz="91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structurally necessary intermediate validation gate</a:t>
            </a:r>
            <a:r>
              <a:rPr b="0" i="0" lang="en-US" sz="916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</a:t>
            </a:r>
            <a:endParaRPr b="0" i="0" sz="1600" u="none" cap="none" strike="noStrike"/>
          </a:p>
        </p:txBody>
      </p:sp>
      <p:sp>
        <p:nvSpPr>
          <p:cNvPr id="454" name="Google Shape;454;p12"/>
          <p:cNvSpPr/>
          <p:nvPr/>
        </p:nvSpPr>
        <p:spPr>
          <a:xfrm>
            <a:off x="6155953" y="4875139"/>
            <a:ext cx="5697351" cy="1278997"/>
          </a:xfrm>
          <a:custGeom>
            <a:rect b="b" l="l" r="r" t="t"/>
            <a:pathLst>
              <a:path extrusionOk="0" h="1278997" w="5697351">
                <a:moveTo>
                  <a:pt x="66444" y="0"/>
                </a:moveTo>
                <a:lnTo>
                  <a:pt x="5630908" y="0"/>
                </a:lnTo>
                <a:cubicBezTo>
                  <a:pt x="5667604" y="0"/>
                  <a:pt x="5697351" y="29748"/>
                  <a:pt x="5697351" y="66444"/>
                </a:cubicBezTo>
                <a:lnTo>
                  <a:pt x="5697351" y="1212553"/>
                </a:lnTo>
                <a:cubicBezTo>
                  <a:pt x="5697351" y="1249249"/>
                  <a:pt x="5667604" y="1278997"/>
                  <a:pt x="5630908" y="1278997"/>
                </a:cubicBezTo>
                <a:lnTo>
                  <a:pt x="66444" y="1278997"/>
                </a:lnTo>
                <a:cubicBezTo>
                  <a:pt x="29748" y="1278997"/>
                  <a:pt x="0" y="1249249"/>
                  <a:pt x="0" y="1212553"/>
                </a:cubicBezTo>
                <a:lnTo>
                  <a:pt x="0" y="66444"/>
                </a:lnTo>
                <a:cubicBezTo>
                  <a:pt x="0" y="29748"/>
                  <a:pt x="29748" y="0"/>
                  <a:pt x="66444" y="0"/>
                </a:cubicBezTo>
                <a:close/>
              </a:path>
            </a:pathLst>
          </a:custGeom>
          <a:gradFill>
            <a:gsLst>
              <a:gs pos="0">
                <a:srgbClr val="F0FDF4"/>
              </a:gs>
              <a:gs pos="100000">
                <a:srgbClr val="EFF6FF"/>
              </a:gs>
            </a:gsLst>
            <a:lin ang="0" scaled="0"/>
          </a:gradFill>
          <a:ln cap="flat" cmpd="sng" w="25400">
            <a:solidFill>
              <a:srgbClr val="05D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6226547" y="4983106"/>
            <a:ext cx="55563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7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Updated Pipeline Architecture</a:t>
            </a:r>
            <a:endParaRPr b="0" i="0" sz="1600" u="none" cap="none" strike="noStrike"/>
          </a:p>
        </p:txBody>
      </p:sp>
      <p:sp>
        <p:nvSpPr>
          <p:cNvPr id="456" name="Google Shape;456;p12"/>
          <p:cNvSpPr/>
          <p:nvPr/>
        </p:nvSpPr>
        <p:spPr>
          <a:xfrm>
            <a:off x="7959301" y="5282093"/>
            <a:ext cx="398649" cy="398649"/>
          </a:xfrm>
          <a:custGeom>
            <a:rect b="b" l="l" r="r" t="t"/>
            <a:pathLst>
              <a:path extrusionOk="0" h="398649" w="398649">
                <a:moveTo>
                  <a:pt x="199324" y="0"/>
                </a:moveTo>
                <a:lnTo>
                  <a:pt x="199324" y="0"/>
                </a:lnTo>
                <a:cubicBezTo>
                  <a:pt x="309408" y="0"/>
                  <a:pt x="398649" y="89241"/>
                  <a:pt x="398649" y="199324"/>
                </a:cubicBezTo>
                <a:lnTo>
                  <a:pt x="398649" y="199324"/>
                </a:lnTo>
                <a:cubicBezTo>
                  <a:pt x="398649" y="309408"/>
                  <a:pt x="309408" y="398649"/>
                  <a:pt x="199324" y="398649"/>
                </a:cubicBezTo>
                <a:lnTo>
                  <a:pt x="199324" y="398649"/>
                </a:lnTo>
                <a:cubicBezTo>
                  <a:pt x="89241" y="398649"/>
                  <a:pt x="0" y="309408"/>
                  <a:pt x="0" y="199324"/>
                </a:cubicBezTo>
                <a:lnTo>
                  <a:pt x="0" y="199324"/>
                </a:lnTo>
                <a:cubicBezTo>
                  <a:pt x="0" y="89241"/>
                  <a:pt x="89241" y="0"/>
                  <a:pt x="199324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2"/>
          <p:cNvSpPr/>
          <p:nvPr/>
        </p:nvSpPr>
        <p:spPr>
          <a:xfrm>
            <a:off x="8092184" y="5414975"/>
            <a:ext cx="132883" cy="132883"/>
          </a:xfrm>
          <a:custGeom>
            <a:rect b="b" l="l" r="r" t="t"/>
            <a:pathLst>
              <a:path extrusionOk="0" h="132883" w="132883">
                <a:moveTo>
                  <a:pt x="16610" y="8305"/>
                </a:moveTo>
                <a:cubicBezTo>
                  <a:pt x="7449" y="8305"/>
                  <a:pt x="0" y="15754"/>
                  <a:pt x="0" y="24916"/>
                </a:cubicBezTo>
                <a:lnTo>
                  <a:pt x="0" y="91357"/>
                </a:lnTo>
                <a:cubicBezTo>
                  <a:pt x="0" y="100519"/>
                  <a:pt x="7449" y="107967"/>
                  <a:pt x="16610" y="107967"/>
                </a:cubicBezTo>
                <a:lnTo>
                  <a:pt x="53984" y="107967"/>
                </a:lnTo>
                <a:lnTo>
                  <a:pt x="49831" y="120425"/>
                </a:lnTo>
                <a:lnTo>
                  <a:pt x="31144" y="120425"/>
                </a:lnTo>
                <a:cubicBezTo>
                  <a:pt x="27693" y="120425"/>
                  <a:pt x="24916" y="123202"/>
                  <a:pt x="24916" y="126654"/>
                </a:cubicBezTo>
                <a:cubicBezTo>
                  <a:pt x="24916" y="130106"/>
                  <a:pt x="27693" y="132883"/>
                  <a:pt x="31144" y="132883"/>
                </a:cubicBezTo>
                <a:lnTo>
                  <a:pt x="101738" y="132883"/>
                </a:lnTo>
                <a:cubicBezTo>
                  <a:pt x="105190" y="132883"/>
                  <a:pt x="107967" y="130106"/>
                  <a:pt x="107967" y="126654"/>
                </a:cubicBezTo>
                <a:cubicBezTo>
                  <a:pt x="107967" y="123202"/>
                  <a:pt x="105190" y="120425"/>
                  <a:pt x="101738" y="120425"/>
                </a:cubicBezTo>
                <a:lnTo>
                  <a:pt x="83052" y="120425"/>
                </a:lnTo>
                <a:lnTo>
                  <a:pt x="78899" y="107967"/>
                </a:lnTo>
                <a:lnTo>
                  <a:pt x="116272" y="107967"/>
                </a:lnTo>
                <a:cubicBezTo>
                  <a:pt x="125434" y="107967"/>
                  <a:pt x="132883" y="100519"/>
                  <a:pt x="132883" y="91357"/>
                </a:cubicBezTo>
                <a:lnTo>
                  <a:pt x="132883" y="24916"/>
                </a:lnTo>
                <a:cubicBezTo>
                  <a:pt x="132883" y="15754"/>
                  <a:pt x="125434" y="8305"/>
                  <a:pt x="116272" y="8305"/>
                </a:cubicBezTo>
                <a:lnTo>
                  <a:pt x="16610" y="8305"/>
                </a:lnTo>
                <a:close/>
                <a:moveTo>
                  <a:pt x="24916" y="24916"/>
                </a:moveTo>
                <a:lnTo>
                  <a:pt x="107967" y="24916"/>
                </a:lnTo>
                <a:cubicBezTo>
                  <a:pt x="112561" y="24916"/>
                  <a:pt x="116272" y="28627"/>
                  <a:pt x="116272" y="33221"/>
                </a:cubicBezTo>
                <a:lnTo>
                  <a:pt x="116272" y="74747"/>
                </a:lnTo>
                <a:cubicBezTo>
                  <a:pt x="116272" y="79340"/>
                  <a:pt x="112561" y="83052"/>
                  <a:pt x="107967" y="83052"/>
                </a:cubicBezTo>
                <a:lnTo>
                  <a:pt x="24916" y="83052"/>
                </a:lnTo>
                <a:cubicBezTo>
                  <a:pt x="20322" y="83052"/>
                  <a:pt x="16610" y="79340"/>
                  <a:pt x="16610" y="74747"/>
                </a:cubicBezTo>
                <a:lnTo>
                  <a:pt x="16610" y="33221"/>
                </a:lnTo>
                <a:cubicBezTo>
                  <a:pt x="16610" y="28627"/>
                  <a:pt x="20322" y="24916"/>
                  <a:pt x="24916" y="249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2"/>
          <p:cNvSpPr/>
          <p:nvPr/>
        </p:nvSpPr>
        <p:spPr>
          <a:xfrm>
            <a:off x="7934386" y="5713962"/>
            <a:ext cx="4485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RoboDK</a:t>
            </a:r>
            <a:endParaRPr b="0" i="0" sz="1600" u="none" cap="none" strike="noStrike"/>
          </a:p>
        </p:txBody>
      </p:sp>
      <p:sp>
        <p:nvSpPr>
          <p:cNvPr id="459" name="Google Shape;459;p12"/>
          <p:cNvSpPr/>
          <p:nvPr/>
        </p:nvSpPr>
        <p:spPr>
          <a:xfrm>
            <a:off x="8445154" y="5489722"/>
            <a:ext cx="149493" cy="149493"/>
          </a:xfrm>
          <a:custGeom>
            <a:rect b="b" l="l" r="r" t="t"/>
            <a:pathLst>
              <a:path extrusionOk="0" h="149493" w="149493">
                <a:moveTo>
                  <a:pt x="146749" y="81345"/>
                </a:moveTo>
                <a:cubicBezTo>
                  <a:pt x="150398" y="77696"/>
                  <a:pt x="150398" y="71768"/>
                  <a:pt x="146749" y="68119"/>
                </a:cubicBezTo>
                <a:lnTo>
                  <a:pt x="100032" y="21402"/>
                </a:lnTo>
                <a:cubicBezTo>
                  <a:pt x="96382" y="17752"/>
                  <a:pt x="90455" y="17752"/>
                  <a:pt x="86805" y="21402"/>
                </a:cubicBezTo>
                <a:cubicBezTo>
                  <a:pt x="83156" y="25052"/>
                  <a:pt x="83156" y="30979"/>
                  <a:pt x="86805" y="34629"/>
                </a:cubicBezTo>
                <a:lnTo>
                  <a:pt x="117580" y="65403"/>
                </a:lnTo>
                <a:lnTo>
                  <a:pt x="9343" y="65403"/>
                </a:lnTo>
                <a:cubicBezTo>
                  <a:pt x="4175" y="65403"/>
                  <a:pt x="0" y="69579"/>
                  <a:pt x="0" y="74747"/>
                </a:cubicBezTo>
                <a:cubicBezTo>
                  <a:pt x="0" y="79915"/>
                  <a:pt x="4175" y="84090"/>
                  <a:pt x="9343" y="84090"/>
                </a:cubicBezTo>
                <a:lnTo>
                  <a:pt x="117580" y="84090"/>
                </a:lnTo>
                <a:lnTo>
                  <a:pt x="86805" y="114864"/>
                </a:lnTo>
                <a:cubicBezTo>
                  <a:pt x="83156" y="118514"/>
                  <a:pt x="83156" y="124441"/>
                  <a:pt x="86805" y="128091"/>
                </a:cubicBezTo>
                <a:cubicBezTo>
                  <a:pt x="90455" y="131741"/>
                  <a:pt x="96382" y="131741"/>
                  <a:pt x="100032" y="128091"/>
                </a:cubicBezTo>
                <a:lnTo>
                  <a:pt x="146749" y="81375"/>
                </a:ln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8775804" y="5282093"/>
            <a:ext cx="398649" cy="398649"/>
          </a:xfrm>
          <a:custGeom>
            <a:rect b="b" l="l" r="r" t="t"/>
            <a:pathLst>
              <a:path extrusionOk="0" h="398649" w="398649">
                <a:moveTo>
                  <a:pt x="199324" y="0"/>
                </a:moveTo>
                <a:lnTo>
                  <a:pt x="199324" y="0"/>
                </a:lnTo>
                <a:cubicBezTo>
                  <a:pt x="309408" y="0"/>
                  <a:pt x="398649" y="89241"/>
                  <a:pt x="398649" y="199324"/>
                </a:cubicBezTo>
                <a:lnTo>
                  <a:pt x="398649" y="199324"/>
                </a:lnTo>
                <a:cubicBezTo>
                  <a:pt x="398649" y="309408"/>
                  <a:pt x="309408" y="398649"/>
                  <a:pt x="199324" y="398649"/>
                </a:cubicBezTo>
                <a:lnTo>
                  <a:pt x="199324" y="398649"/>
                </a:lnTo>
                <a:cubicBezTo>
                  <a:pt x="89241" y="398649"/>
                  <a:pt x="0" y="309408"/>
                  <a:pt x="0" y="199324"/>
                </a:cubicBezTo>
                <a:lnTo>
                  <a:pt x="0" y="199324"/>
                </a:lnTo>
                <a:cubicBezTo>
                  <a:pt x="0" y="89241"/>
                  <a:pt x="89241" y="0"/>
                  <a:pt x="199324" y="0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2"/>
          <p:cNvSpPr/>
          <p:nvPr/>
        </p:nvSpPr>
        <p:spPr>
          <a:xfrm>
            <a:off x="8908687" y="5414975"/>
            <a:ext cx="132883" cy="132883"/>
          </a:xfrm>
          <a:custGeom>
            <a:rect b="b" l="l" r="r" t="t"/>
            <a:pathLst>
              <a:path extrusionOk="0" h="132883" w="132883">
                <a:moveTo>
                  <a:pt x="45678" y="6229"/>
                </a:moveTo>
                <a:cubicBezTo>
                  <a:pt x="45678" y="2777"/>
                  <a:pt x="42901" y="0"/>
                  <a:pt x="39450" y="0"/>
                </a:cubicBezTo>
                <a:cubicBezTo>
                  <a:pt x="35998" y="0"/>
                  <a:pt x="33221" y="2777"/>
                  <a:pt x="33221" y="6229"/>
                </a:cubicBezTo>
                <a:lnTo>
                  <a:pt x="33221" y="16610"/>
                </a:lnTo>
                <a:cubicBezTo>
                  <a:pt x="24059" y="16610"/>
                  <a:pt x="16610" y="24059"/>
                  <a:pt x="16610" y="33221"/>
                </a:cubicBezTo>
                <a:lnTo>
                  <a:pt x="6229" y="33221"/>
                </a:lnTo>
                <a:cubicBezTo>
                  <a:pt x="2777" y="33221"/>
                  <a:pt x="0" y="35998"/>
                  <a:pt x="0" y="39450"/>
                </a:cubicBezTo>
                <a:cubicBezTo>
                  <a:pt x="0" y="42901"/>
                  <a:pt x="2777" y="45678"/>
                  <a:pt x="6229" y="45678"/>
                </a:cubicBezTo>
                <a:lnTo>
                  <a:pt x="16610" y="45678"/>
                </a:lnTo>
                <a:lnTo>
                  <a:pt x="16610" y="60213"/>
                </a:lnTo>
                <a:lnTo>
                  <a:pt x="6229" y="60213"/>
                </a:lnTo>
                <a:cubicBezTo>
                  <a:pt x="2777" y="60213"/>
                  <a:pt x="0" y="62990"/>
                  <a:pt x="0" y="66441"/>
                </a:cubicBezTo>
                <a:cubicBezTo>
                  <a:pt x="0" y="69893"/>
                  <a:pt x="2777" y="72670"/>
                  <a:pt x="6229" y="72670"/>
                </a:cubicBezTo>
                <a:lnTo>
                  <a:pt x="16610" y="72670"/>
                </a:lnTo>
                <a:lnTo>
                  <a:pt x="16610" y="87204"/>
                </a:lnTo>
                <a:lnTo>
                  <a:pt x="6229" y="87204"/>
                </a:lnTo>
                <a:cubicBezTo>
                  <a:pt x="2777" y="87204"/>
                  <a:pt x="0" y="89981"/>
                  <a:pt x="0" y="93433"/>
                </a:cubicBezTo>
                <a:cubicBezTo>
                  <a:pt x="0" y="96885"/>
                  <a:pt x="2777" y="99662"/>
                  <a:pt x="6229" y="99662"/>
                </a:cubicBezTo>
                <a:lnTo>
                  <a:pt x="16610" y="99662"/>
                </a:lnTo>
                <a:cubicBezTo>
                  <a:pt x="16610" y="108824"/>
                  <a:pt x="24059" y="116272"/>
                  <a:pt x="33221" y="116272"/>
                </a:cubicBezTo>
                <a:lnTo>
                  <a:pt x="33221" y="126654"/>
                </a:lnTo>
                <a:cubicBezTo>
                  <a:pt x="33221" y="130106"/>
                  <a:pt x="35998" y="132883"/>
                  <a:pt x="39450" y="132883"/>
                </a:cubicBezTo>
                <a:cubicBezTo>
                  <a:pt x="42901" y="132883"/>
                  <a:pt x="45678" y="130106"/>
                  <a:pt x="45678" y="126654"/>
                </a:cubicBezTo>
                <a:lnTo>
                  <a:pt x="45678" y="116272"/>
                </a:lnTo>
                <a:lnTo>
                  <a:pt x="60213" y="116272"/>
                </a:lnTo>
                <a:lnTo>
                  <a:pt x="60213" y="126654"/>
                </a:lnTo>
                <a:cubicBezTo>
                  <a:pt x="60213" y="130106"/>
                  <a:pt x="62990" y="132883"/>
                  <a:pt x="66441" y="132883"/>
                </a:cubicBezTo>
                <a:cubicBezTo>
                  <a:pt x="69893" y="132883"/>
                  <a:pt x="72670" y="130106"/>
                  <a:pt x="72670" y="126654"/>
                </a:cubicBezTo>
                <a:lnTo>
                  <a:pt x="72670" y="116272"/>
                </a:lnTo>
                <a:lnTo>
                  <a:pt x="87204" y="116272"/>
                </a:lnTo>
                <a:lnTo>
                  <a:pt x="87204" y="126654"/>
                </a:lnTo>
                <a:cubicBezTo>
                  <a:pt x="87204" y="130106"/>
                  <a:pt x="89981" y="132883"/>
                  <a:pt x="93433" y="132883"/>
                </a:cubicBezTo>
                <a:cubicBezTo>
                  <a:pt x="96885" y="132883"/>
                  <a:pt x="99662" y="130106"/>
                  <a:pt x="99662" y="126654"/>
                </a:cubicBezTo>
                <a:lnTo>
                  <a:pt x="99662" y="116272"/>
                </a:lnTo>
                <a:cubicBezTo>
                  <a:pt x="108824" y="116272"/>
                  <a:pt x="116272" y="108824"/>
                  <a:pt x="116272" y="99662"/>
                </a:cubicBezTo>
                <a:lnTo>
                  <a:pt x="126654" y="99662"/>
                </a:lnTo>
                <a:cubicBezTo>
                  <a:pt x="130106" y="99662"/>
                  <a:pt x="132883" y="96885"/>
                  <a:pt x="132883" y="93433"/>
                </a:cubicBezTo>
                <a:cubicBezTo>
                  <a:pt x="132883" y="89981"/>
                  <a:pt x="130106" y="87204"/>
                  <a:pt x="126654" y="87204"/>
                </a:cubicBezTo>
                <a:lnTo>
                  <a:pt x="116272" y="87204"/>
                </a:lnTo>
                <a:lnTo>
                  <a:pt x="116272" y="72670"/>
                </a:lnTo>
                <a:lnTo>
                  <a:pt x="126654" y="72670"/>
                </a:lnTo>
                <a:cubicBezTo>
                  <a:pt x="130106" y="72670"/>
                  <a:pt x="132883" y="69893"/>
                  <a:pt x="132883" y="66441"/>
                </a:cubicBezTo>
                <a:cubicBezTo>
                  <a:pt x="132883" y="62990"/>
                  <a:pt x="130106" y="60213"/>
                  <a:pt x="126654" y="60213"/>
                </a:cubicBezTo>
                <a:lnTo>
                  <a:pt x="116272" y="60213"/>
                </a:lnTo>
                <a:lnTo>
                  <a:pt x="116272" y="45678"/>
                </a:lnTo>
                <a:lnTo>
                  <a:pt x="126654" y="45678"/>
                </a:lnTo>
                <a:cubicBezTo>
                  <a:pt x="130106" y="45678"/>
                  <a:pt x="132883" y="42901"/>
                  <a:pt x="132883" y="39450"/>
                </a:cubicBezTo>
                <a:cubicBezTo>
                  <a:pt x="132883" y="35998"/>
                  <a:pt x="130106" y="33221"/>
                  <a:pt x="126654" y="33221"/>
                </a:cubicBezTo>
                <a:lnTo>
                  <a:pt x="116272" y="33221"/>
                </a:lnTo>
                <a:cubicBezTo>
                  <a:pt x="116272" y="24059"/>
                  <a:pt x="108824" y="16610"/>
                  <a:pt x="99662" y="16610"/>
                </a:cubicBezTo>
                <a:lnTo>
                  <a:pt x="99662" y="6229"/>
                </a:lnTo>
                <a:cubicBezTo>
                  <a:pt x="99662" y="2777"/>
                  <a:pt x="96885" y="0"/>
                  <a:pt x="93433" y="0"/>
                </a:cubicBezTo>
                <a:cubicBezTo>
                  <a:pt x="89981" y="0"/>
                  <a:pt x="87204" y="2777"/>
                  <a:pt x="87204" y="6229"/>
                </a:cubicBezTo>
                <a:lnTo>
                  <a:pt x="87204" y="16610"/>
                </a:lnTo>
                <a:lnTo>
                  <a:pt x="72670" y="16610"/>
                </a:lnTo>
                <a:lnTo>
                  <a:pt x="72670" y="6229"/>
                </a:lnTo>
                <a:cubicBezTo>
                  <a:pt x="72670" y="2777"/>
                  <a:pt x="69893" y="0"/>
                  <a:pt x="66441" y="0"/>
                </a:cubicBezTo>
                <a:cubicBezTo>
                  <a:pt x="62990" y="0"/>
                  <a:pt x="60213" y="2777"/>
                  <a:pt x="60213" y="6229"/>
                </a:cubicBezTo>
                <a:lnTo>
                  <a:pt x="60213" y="16610"/>
                </a:lnTo>
                <a:lnTo>
                  <a:pt x="45678" y="16610"/>
                </a:lnTo>
                <a:lnTo>
                  <a:pt x="45678" y="6229"/>
                </a:lnTo>
                <a:close/>
                <a:moveTo>
                  <a:pt x="41526" y="33221"/>
                </a:moveTo>
                <a:lnTo>
                  <a:pt x="91357" y="33221"/>
                </a:lnTo>
                <a:cubicBezTo>
                  <a:pt x="95951" y="33221"/>
                  <a:pt x="99662" y="36932"/>
                  <a:pt x="99662" y="41526"/>
                </a:cubicBezTo>
                <a:lnTo>
                  <a:pt x="99662" y="91357"/>
                </a:lnTo>
                <a:cubicBezTo>
                  <a:pt x="99662" y="95951"/>
                  <a:pt x="95951" y="99662"/>
                  <a:pt x="91357" y="99662"/>
                </a:cubicBezTo>
                <a:lnTo>
                  <a:pt x="41526" y="99662"/>
                </a:lnTo>
                <a:cubicBezTo>
                  <a:pt x="36932" y="99662"/>
                  <a:pt x="33221" y="95951"/>
                  <a:pt x="33221" y="91357"/>
                </a:cubicBezTo>
                <a:lnTo>
                  <a:pt x="33221" y="41526"/>
                </a:lnTo>
                <a:cubicBezTo>
                  <a:pt x="33221" y="36932"/>
                  <a:pt x="36932" y="33221"/>
                  <a:pt x="41526" y="33221"/>
                </a:cubicBezTo>
                <a:close/>
                <a:moveTo>
                  <a:pt x="45678" y="45678"/>
                </a:moveTo>
                <a:lnTo>
                  <a:pt x="45678" y="87204"/>
                </a:lnTo>
                <a:lnTo>
                  <a:pt x="87204" y="87204"/>
                </a:lnTo>
                <a:lnTo>
                  <a:pt x="87204" y="45678"/>
                </a:lnTo>
                <a:lnTo>
                  <a:pt x="45678" y="456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8652784" y="5713962"/>
            <a:ext cx="6477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RT Toolbox 3</a:t>
            </a:r>
            <a:endParaRPr b="0" i="0" sz="1600" u="none" cap="none" strike="noStrike"/>
          </a:p>
        </p:txBody>
      </p:sp>
      <p:sp>
        <p:nvSpPr>
          <p:cNvPr id="463" name="Google Shape;463;p12"/>
          <p:cNvSpPr/>
          <p:nvPr/>
        </p:nvSpPr>
        <p:spPr>
          <a:xfrm>
            <a:off x="9359848" y="5489722"/>
            <a:ext cx="149493" cy="149493"/>
          </a:xfrm>
          <a:custGeom>
            <a:rect b="b" l="l" r="r" t="t"/>
            <a:pathLst>
              <a:path extrusionOk="0" h="149493" w="149493">
                <a:moveTo>
                  <a:pt x="146749" y="81345"/>
                </a:moveTo>
                <a:cubicBezTo>
                  <a:pt x="150398" y="77696"/>
                  <a:pt x="150398" y="71768"/>
                  <a:pt x="146749" y="68119"/>
                </a:cubicBezTo>
                <a:lnTo>
                  <a:pt x="100032" y="21402"/>
                </a:lnTo>
                <a:cubicBezTo>
                  <a:pt x="96382" y="17752"/>
                  <a:pt x="90455" y="17752"/>
                  <a:pt x="86805" y="21402"/>
                </a:cubicBezTo>
                <a:cubicBezTo>
                  <a:pt x="83156" y="25052"/>
                  <a:pt x="83156" y="30979"/>
                  <a:pt x="86805" y="34629"/>
                </a:cubicBezTo>
                <a:lnTo>
                  <a:pt x="117580" y="65403"/>
                </a:lnTo>
                <a:lnTo>
                  <a:pt x="9343" y="65403"/>
                </a:lnTo>
                <a:cubicBezTo>
                  <a:pt x="4175" y="65403"/>
                  <a:pt x="0" y="69579"/>
                  <a:pt x="0" y="74747"/>
                </a:cubicBezTo>
                <a:cubicBezTo>
                  <a:pt x="0" y="79915"/>
                  <a:pt x="4175" y="84090"/>
                  <a:pt x="9343" y="84090"/>
                </a:cubicBezTo>
                <a:lnTo>
                  <a:pt x="117580" y="84090"/>
                </a:lnTo>
                <a:lnTo>
                  <a:pt x="86805" y="114864"/>
                </a:lnTo>
                <a:cubicBezTo>
                  <a:pt x="83156" y="118514"/>
                  <a:pt x="83156" y="124441"/>
                  <a:pt x="86805" y="128091"/>
                </a:cubicBezTo>
                <a:cubicBezTo>
                  <a:pt x="90455" y="131741"/>
                  <a:pt x="96382" y="131741"/>
                  <a:pt x="100032" y="128091"/>
                </a:cubicBezTo>
                <a:lnTo>
                  <a:pt x="146749" y="81375"/>
                </a:ln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9622673" y="5282093"/>
            <a:ext cx="398649" cy="398649"/>
          </a:xfrm>
          <a:custGeom>
            <a:rect b="b" l="l" r="r" t="t"/>
            <a:pathLst>
              <a:path extrusionOk="0" h="398649" w="398649">
                <a:moveTo>
                  <a:pt x="199324" y="0"/>
                </a:moveTo>
                <a:lnTo>
                  <a:pt x="199324" y="0"/>
                </a:lnTo>
                <a:cubicBezTo>
                  <a:pt x="309408" y="0"/>
                  <a:pt x="398649" y="89241"/>
                  <a:pt x="398649" y="199324"/>
                </a:cubicBezTo>
                <a:lnTo>
                  <a:pt x="398649" y="199324"/>
                </a:lnTo>
                <a:cubicBezTo>
                  <a:pt x="398649" y="309408"/>
                  <a:pt x="309408" y="398649"/>
                  <a:pt x="199324" y="398649"/>
                </a:cubicBezTo>
                <a:lnTo>
                  <a:pt x="199324" y="398649"/>
                </a:lnTo>
                <a:cubicBezTo>
                  <a:pt x="89241" y="398649"/>
                  <a:pt x="0" y="309408"/>
                  <a:pt x="0" y="199324"/>
                </a:cubicBezTo>
                <a:lnTo>
                  <a:pt x="0" y="199324"/>
                </a:lnTo>
                <a:cubicBezTo>
                  <a:pt x="0" y="89241"/>
                  <a:pt x="89241" y="0"/>
                  <a:pt x="199324" y="0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2"/>
          <p:cNvSpPr/>
          <p:nvPr/>
        </p:nvSpPr>
        <p:spPr>
          <a:xfrm>
            <a:off x="9738945" y="5414975"/>
            <a:ext cx="166104" cy="132883"/>
          </a:xfrm>
          <a:custGeom>
            <a:rect b="b" l="l" r="r" t="t"/>
            <a:pathLst>
              <a:path extrusionOk="0" h="132883" w="166104">
                <a:moveTo>
                  <a:pt x="91357" y="0"/>
                </a:moveTo>
                <a:cubicBezTo>
                  <a:pt x="91357" y="-4594"/>
                  <a:pt x="87646" y="-8305"/>
                  <a:pt x="83052" y="-8305"/>
                </a:cubicBezTo>
                <a:cubicBezTo>
                  <a:pt x="78458" y="-8305"/>
                  <a:pt x="74747" y="-4594"/>
                  <a:pt x="74747" y="0"/>
                </a:cubicBezTo>
                <a:lnTo>
                  <a:pt x="74747" y="16610"/>
                </a:lnTo>
                <a:lnTo>
                  <a:pt x="49831" y="16610"/>
                </a:lnTo>
                <a:cubicBezTo>
                  <a:pt x="36076" y="16610"/>
                  <a:pt x="24916" y="27770"/>
                  <a:pt x="24916" y="41526"/>
                </a:cubicBezTo>
                <a:lnTo>
                  <a:pt x="24916" y="99662"/>
                </a:lnTo>
                <a:cubicBezTo>
                  <a:pt x="24916" y="113418"/>
                  <a:pt x="36076" y="124578"/>
                  <a:pt x="49831" y="124578"/>
                </a:cubicBezTo>
                <a:lnTo>
                  <a:pt x="116272" y="124578"/>
                </a:lnTo>
                <a:cubicBezTo>
                  <a:pt x="130028" y="124578"/>
                  <a:pt x="141188" y="113418"/>
                  <a:pt x="141188" y="99662"/>
                </a:cubicBezTo>
                <a:lnTo>
                  <a:pt x="141188" y="41526"/>
                </a:lnTo>
                <a:cubicBezTo>
                  <a:pt x="141188" y="27770"/>
                  <a:pt x="130028" y="16610"/>
                  <a:pt x="116272" y="16610"/>
                </a:cubicBezTo>
                <a:lnTo>
                  <a:pt x="91357" y="16610"/>
                </a:lnTo>
                <a:lnTo>
                  <a:pt x="91357" y="0"/>
                </a:lnTo>
                <a:close/>
                <a:moveTo>
                  <a:pt x="41526" y="95510"/>
                </a:moveTo>
                <a:cubicBezTo>
                  <a:pt x="41526" y="92058"/>
                  <a:pt x="44303" y="89281"/>
                  <a:pt x="47755" y="89281"/>
                </a:cubicBezTo>
                <a:lnTo>
                  <a:pt x="56060" y="89281"/>
                </a:lnTo>
                <a:cubicBezTo>
                  <a:pt x="59512" y="89281"/>
                  <a:pt x="62289" y="92058"/>
                  <a:pt x="62289" y="95510"/>
                </a:cubicBezTo>
                <a:cubicBezTo>
                  <a:pt x="62289" y="98961"/>
                  <a:pt x="59512" y="101738"/>
                  <a:pt x="56060" y="101738"/>
                </a:cubicBezTo>
                <a:lnTo>
                  <a:pt x="47755" y="101738"/>
                </a:lnTo>
                <a:cubicBezTo>
                  <a:pt x="44303" y="101738"/>
                  <a:pt x="41526" y="98961"/>
                  <a:pt x="41526" y="95510"/>
                </a:cubicBezTo>
                <a:close/>
                <a:moveTo>
                  <a:pt x="72670" y="95510"/>
                </a:moveTo>
                <a:cubicBezTo>
                  <a:pt x="72670" y="92058"/>
                  <a:pt x="75447" y="89281"/>
                  <a:pt x="78899" y="89281"/>
                </a:cubicBezTo>
                <a:lnTo>
                  <a:pt x="87204" y="89281"/>
                </a:lnTo>
                <a:cubicBezTo>
                  <a:pt x="90656" y="89281"/>
                  <a:pt x="93433" y="92058"/>
                  <a:pt x="93433" y="95510"/>
                </a:cubicBezTo>
                <a:cubicBezTo>
                  <a:pt x="93433" y="98961"/>
                  <a:pt x="90656" y="101738"/>
                  <a:pt x="87204" y="101738"/>
                </a:cubicBezTo>
                <a:lnTo>
                  <a:pt x="78899" y="101738"/>
                </a:lnTo>
                <a:cubicBezTo>
                  <a:pt x="75447" y="101738"/>
                  <a:pt x="72670" y="98961"/>
                  <a:pt x="72670" y="95510"/>
                </a:cubicBezTo>
                <a:close/>
                <a:moveTo>
                  <a:pt x="103815" y="95510"/>
                </a:moveTo>
                <a:cubicBezTo>
                  <a:pt x="103815" y="92058"/>
                  <a:pt x="106592" y="89281"/>
                  <a:pt x="110044" y="89281"/>
                </a:cubicBezTo>
                <a:lnTo>
                  <a:pt x="118349" y="89281"/>
                </a:lnTo>
                <a:cubicBezTo>
                  <a:pt x="121801" y="89281"/>
                  <a:pt x="124578" y="92058"/>
                  <a:pt x="124578" y="95510"/>
                </a:cubicBezTo>
                <a:cubicBezTo>
                  <a:pt x="124578" y="98961"/>
                  <a:pt x="121801" y="101738"/>
                  <a:pt x="118349" y="101738"/>
                </a:cubicBezTo>
                <a:lnTo>
                  <a:pt x="110044" y="101738"/>
                </a:lnTo>
                <a:cubicBezTo>
                  <a:pt x="106592" y="101738"/>
                  <a:pt x="103815" y="98961"/>
                  <a:pt x="103815" y="95510"/>
                </a:cubicBezTo>
                <a:close/>
                <a:moveTo>
                  <a:pt x="58136" y="45678"/>
                </a:moveTo>
                <a:cubicBezTo>
                  <a:pt x="65012" y="45678"/>
                  <a:pt x="70594" y="51261"/>
                  <a:pt x="70594" y="58136"/>
                </a:cubicBezTo>
                <a:cubicBezTo>
                  <a:pt x="70594" y="65012"/>
                  <a:pt x="65012" y="70594"/>
                  <a:pt x="58136" y="70594"/>
                </a:cubicBezTo>
                <a:cubicBezTo>
                  <a:pt x="51261" y="70594"/>
                  <a:pt x="45678" y="65012"/>
                  <a:pt x="45678" y="58136"/>
                </a:cubicBezTo>
                <a:cubicBezTo>
                  <a:pt x="45678" y="51261"/>
                  <a:pt x="51261" y="45678"/>
                  <a:pt x="58136" y="45678"/>
                </a:cubicBezTo>
                <a:close/>
                <a:moveTo>
                  <a:pt x="95510" y="58136"/>
                </a:moveTo>
                <a:cubicBezTo>
                  <a:pt x="95510" y="51261"/>
                  <a:pt x="101092" y="45678"/>
                  <a:pt x="107967" y="45678"/>
                </a:cubicBezTo>
                <a:cubicBezTo>
                  <a:pt x="114843" y="45678"/>
                  <a:pt x="120425" y="51261"/>
                  <a:pt x="120425" y="58136"/>
                </a:cubicBezTo>
                <a:cubicBezTo>
                  <a:pt x="120425" y="65012"/>
                  <a:pt x="114843" y="70594"/>
                  <a:pt x="107967" y="70594"/>
                </a:cubicBezTo>
                <a:cubicBezTo>
                  <a:pt x="101092" y="70594"/>
                  <a:pt x="95510" y="65012"/>
                  <a:pt x="95510" y="58136"/>
                </a:cubicBezTo>
                <a:close/>
                <a:moveTo>
                  <a:pt x="16610" y="58136"/>
                </a:moveTo>
                <a:cubicBezTo>
                  <a:pt x="16610" y="53542"/>
                  <a:pt x="12899" y="49831"/>
                  <a:pt x="8305" y="49831"/>
                </a:cubicBezTo>
                <a:cubicBezTo>
                  <a:pt x="3711" y="49831"/>
                  <a:pt x="0" y="53542"/>
                  <a:pt x="0" y="58136"/>
                </a:cubicBezTo>
                <a:lnTo>
                  <a:pt x="0" y="83052"/>
                </a:lnTo>
                <a:cubicBezTo>
                  <a:pt x="0" y="87646"/>
                  <a:pt x="3711" y="91357"/>
                  <a:pt x="8305" y="91357"/>
                </a:cubicBezTo>
                <a:cubicBezTo>
                  <a:pt x="12899" y="91357"/>
                  <a:pt x="16610" y="87646"/>
                  <a:pt x="16610" y="83052"/>
                </a:cubicBezTo>
                <a:lnTo>
                  <a:pt x="16610" y="58136"/>
                </a:lnTo>
                <a:close/>
                <a:moveTo>
                  <a:pt x="157798" y="49831"/>
                </a:moveTo>
                <a:cubicBezTo>
                  <a:pt x="153205" y="49831"/>
                  <a:pt x="149493" y="53542"/>
                  <a:pt x="149493" y="58136"/>
                </a:cubicBezTo>
                <a:lnTo>
                  <a:pt x="149493" y="83052"/>
                </a:lnTo>
                <a:cubicBezTo>
                  <a:pt x="149493" y="87646"/>
                  <a:pt x="153205" y="91357"/>
                  <a:pt x="157798" y="91357"/>
                </a:cubicBezTo>
                <a:cubicBezTo>
                  <a:pt x="162392" y="91357"/>
                  <a:pt x="166104" y="87646"/>
                  <a:pt x="166104" y="83052"/>
                </a:cubicBezTo>
                <a:lnTo>
                  <a:pt x="166104" y="58136"/>
                </a:lnTo>
                <a:cubicBezTo>
                  <a:pt x="166104" y="53542"/>
                  <a:pt x="162392" y="49831"/>
                  <a:pt x="157798" y="498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"/>
          <p:cNvSpPr/>
          <p:nvPr/>
        </p:nvSpPr>
        <p:spPr>
          <a:xfrm>
            <a:off x="9567478" y="5713962"/>
            <a:ext cx="5067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Controller</a:t>
            </a:r>
            <a:endParaRPr b="0" i="0" sz="1600" u="none" cap="none" strike="noStrike"/>
          </a:p>
        </p:txBody>
      </p:sp>
      <p:sp>
        <p:nvSpPr>
          <p:cNvPr id="467" name="Google Shape;467;p12"/>
          <p:cNvSpPr/>
          <p:nvPr/>
        </p:nvSpPr>
        <p:spPr>
          <a:xfrm>
            <a:off x="7493173" y="5907751"/>
            <a:ext cx="30246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3"/>
          <p:cNvSpPr/>
          <p:nvPr/>
        </p:nvSpPr>
        <p:spPr>
          <a:xfrm>
            <a:off x="125050" y="316518"/>
            <a:ext cx="79439" cy="476631"/>
          </a:xfrm>
          <a:custGeom>
            <a:rect b="b" l="l" r="r" t="t"/>
            <a:pathLst>
              <a:path extrusionOk="0" h="457200" w="76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474" name="Google Shape;474;p13"/>
          <p:cNvSpPr/>
          <p:nvPr/>
        </p:nvSpPr>
        <p:spPr>
          <a:xfrm>
            <a:off x="323695" y="256925"/>
            <a:ext cx="7002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5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3 — Experimental &amp; Modeling Work Done</a:t>
            </a:r>
            <a:endParaRPr b="0" i="0" sz="1668" u="none" cap="none" strike="noStrike"/>
          </a:p>
        </p:txBody>
      </p:sp>
      <p:sp>
        <p:nvSpPr>
          <p:cNvPr id="475" name="Google Shape;475;p13"/>
          <p:cNvSpPr/>
          <p:nvPr/>
        </p:nvSpPr>
        <p:spPr>
          <a:xfrm>
            <a:off x="323695" y="455569"/>
            <a:ext cx="7111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1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Finalized End-to-End Workflow</a:t>
            </a:r>
            <a:endParaRPr b="0" i="0" sz="1668" u="none" cap="none" strike="noStrike"/>
          </a:p>
        </p:txBody>
      </p:sp>
      <p:sp>
        <p:nvSpPr>
          <p:cNvPr id="476" name="Google Shape;476;p13"/>
          <p:cNvSpPr/>
          <p:nvPr/>
        </p:nvSpPr>
        <p:spPr>
          <a:xfrm>
            <a:off x="125050" y="972044"/>
            <a:ext cx="11998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Primary methodological contribution:</a:t>
            </a:r>
            <a:r>
              <a:rPr b="0" i="0" lang="en-US" sz="1251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Definitive validated workflow — every step grounded in lessons from preceding experimental iterations.</a:t>
            </a:r>
            <a:endParaRPr b="0" i="0" sz="1668" u="none" cap="none" strike="noStrike"/>
          </a:p>
        </p:txBody>
      </p:sp>
      <p:sp>
        <p:nvSpPr>
          <p:cNvPr id="477" name="Google Shape;477;p13"/>
          <p:cNvSpPr/>
          <p:nvPr/>
        </p:nvSpPr>
        <p:spPr>
          <a:xfrm>
            <a:off x="190500" y="1524000"/>
            <a:ext cx="2767775" cy="1194435"/>
          </a:xfrm>
          <a:custGeom>
            <a:rect b="b" l="l" r="r" t="t"/>
            <a:pathLst>
              <a:path extrusionOk="0" h="838200" w="2209800">
                <a:moveTo>
                  <a:pt x="76201" y="0"/>
                </a:moveTo>
                <a:lnTo>
                  <a:pt x="2133599" y="0"/>
                </a:lnTo>
                <a:cubicBezTo>
                  <a:pt x="2175684" y="0"/>
                  <a:pt x="2209800" y="34116"/>
                  <a:pt x="2209800" y="76201"/>
                </a:cubicBezTo>
                <a:lnTo>
                  <a:pt x="2209800" y="761999"/>
                </a:lnTo>
                <a:cubicBezTo>
                  <a:pt x="2209800" y="804084"/>
                  <a:pt x="2175684" y="838200"/>
                  <a:pt x="213359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gradFill>
            <a:gsLst>
              <a:gs pos="0">
                <a:srgbClr val="FFF7ED"/>
              </a:gs>
              <a:gs pos="100000">
                <a:srgbClr val="FFEDD4"/>
              </a:gs>
            </a:gsLst>
            <a:lin ang="0" scaled="0"/>
          </a:gradFill>
          <a:ln cap="flat" cmpd="sng" w="23875">
            <a:solidFill>
              <a:srgbClr val="FF89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3"/>
          <p:cNvSpPr/>
          <p:nvPr/>
        </p:nvSpPr>
        <p:spPr>
          <a:xfrm>
            <a:off x="285978" y="1619478"/>
            <a:ext cx="286322" cy="286322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3"/>
          <p:cNvSpPr/>
          <p:nvPr/>
        </p:nvSpPr>
        <p:spPr>
          <a:xfrm>
            <a:off x="285978" y="1619478"/>
            <a:ext cx="2865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3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</a:t>
            </a:r>
            <a:endParaRPr b="1" sz="1253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667892" y="1619478"/>
            <a:ext cx="21483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78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Fusion 360</a:t>
            </a:r>
            <a:endParaRPr b="1" sz="1378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285978" y="1941717"/>
            <a:ext cx="2577900" cy="71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3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Part geometry, stock, strategy, toolpath, tool library, post-processor export</a:t>
            </a:r>
            <a:endParaRPr b="0" sz="1253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482" name="Google Shape;4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9372" y="2061065"/>
            <a:ext cx="209100" cy="1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3"/>
          <p:cNvSpPr/>
          <p:nvPr/>
        </p:nvSpPr>
        <p:spPr>
          <a:xfrm>
            <a:off x="3198068" y="1524000"/>
            <a:ext cx="2767775" cy="1195007"/>
          </a:xfrm>
          <a:custGeom>
            <a:rect b="b" l="l" r="r" t="t"/>
            <a:pathLst>
              <a:path extrusionOk="0" h="685800" w="2209800">
                <a:moveTo>
                  <a:pt x="76199" y="0"/>
                </a:moveTo>
                <a:lnTo>
                  <a:pt x="2133601" y="0"/>
                </a:lnTo>
                <a:cubicBezTo>
                  <a:pt x="2175684" y="0"/>
                  <a:pt x="2209800" y="34116"/>
                  <a:pt x="2209800" y="76199"/>
                </a:cubicBezTo>
                <a:lnTo>
                  <a:pt x="2209800" y="609601"/>
                </a:lnTo>
                <a:cubicBezTo>
                  <a:pt x="2209800" y="651684"/>
                  <a:pt x="2175684" y="685800"/>
                  <a:pt x="2133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EFF6FF"/>
              </a:gs>
              <a:gs pos="100000">
                <a:srgbClr val="DBEAFE"/>
              </a:gs>
            </a:gsLst>
            <a:lin ang="0" scaled="0"/>
          </a:gradFill>
          <a:ln cap="flat" cmpd="sng" w="23875">
            <a:solidFill>
              <a:srgbClr val="2B7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3"/>
          <p:cNvSpPr/>
          <p:nvPr/>
        </p:nvSpPr>
        <p:spPr>
          <a:xfrm>
            <a:off x="3293546" y="1619478"/>
            <a:ext cx="286321" cy="286322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3"/>
          <p:cNvSpPr/>
          <p:nvPr/>
        </p:nvSpPr>
        <p:spPr>
          <a:xfrm>
            <a:off x="3293546" y="1619478"/>
            <a:ext cx="2865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3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</a:t>
            </a:r>
            <a:endParaRPr b="1" sz="1253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3675459" y="1619478"/>
            <a:ext cx="21483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78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RoboDK Setup</a:t>
            </a:r>
            <a:endParaRPr b="1" sz="1378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3293546" y="1941717"/>
            <a:ext cx="2577900" cy="71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3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Robot import, world/workpiece/tool frame definition, toolpath import</a:t>
            </a:r>
            <a:endParaRPr b="0" sz="1253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488" name="Google Shape;4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6940" y="2061065"/>
            <a:ext cx="209100" cy="1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3"/>
          <p:cNvSpPr/>
          <p:nvPr/>
        </p:nvSpPr>
        <p:spPr>
          <a:xfrm>
            <a:off x="6205635" y="1524000"/>
            <a:ext cx="2767775" cy="1195007"/>
          </a:xfrm>
          <a:custGeom>
            <a:rect b="b" l="l" r="r" t="t"/>
            <a:pathLst>
              <a:path extrusionOk="0" h="685800" w="2209800">
                <a:moveTo>
                  <a:pt x="76199" y="0"/>
                </a:moveTo>
                <a:lnTo>
                  <a:pt x="2133601" y="0"/>
                </a:lnTo>
                <a:cubicBezTo>
                  <a:pt x="2175684" y="0"/>
                  <a:pt x="2209800" y="34116"/>
                  <a:pt x="2209800" y="76199"/>
                </a:cubicBezTo>
                <a:lnTo>
                  <a:pt x="2209800" y="609601"/>
                </a:lnTo>
                <a:cubicBezTo>
                  <a:pt x="2209800" y="651684"/>
                  <a:pt x="2175684" y="685800"/>
                  <a:pt x="2133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EFF6FF"/>
              </a:gs>
              <a:gs pos="100000">
                <a:srgbClr val="DBEAFE"/>
              </a:gs>
            </a:gsLst>
            <a:lin ang="0" scaled="0"/>
          </a:gradFill>
          <a:ln cap="flat" cmpd="sng" w="23875">
            <a:solidFill>
              <a:srgbClr val="2B7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3"/>
          <p:cNvSpPr/>
          <p:nvPr/>
        </p:nvSpPr>
        <p:spPr>
          <a:xfrm>
            <a:off x="6301114" y="1619478"/>
            <a:ext cx="286322" cy="286322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3"/>
          <p:cNvSpPr/>
          <p:nvPr/>
        </p:nvSpPr>
        <p:spPr>
          <a:xfrm>
            <a:off x="6301114" y="1619478"/>
            <a:ext cx="2865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3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</a:t>
            </a:r>
            <a:endParaRPr b="1" sz="1253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6683027" y="1619478"/>
            <a:ext cx="21483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78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Live Sync</a:t>
            </a:r>
            <a:endParaRPr b="1" sz="1378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6301114" y="1941717"/>
            <a:ext cx="2577900" cy="71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3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Joint positions via TCP-IP, simulation synchronized to real-world</a:t>
            </a:r>
            <a:endParaRPr b="0" sz="1253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494" name="Google Shape;4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4507" y="2061065"/>
            <a:ext cx="209100" cy="1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3"/>
          <p:cNvSpPr/>
          <p:nvPr/>
        </p:nvSpPr>
        <p:spPr>
          <a:xfrm>
            <a:off x="9213203" y="1524000"/>
            <a:ext cx="2767774" cy="1195007"/>
          </a:xfrm>
          <a:custGeom>
            <a:rect b="b" l="l" r="r" t="t"/>
            <a:pathLst>
              <a:path extrusionOk="0" h="685800" w="2209800">
                <a:moveTo>
                  <a:pt x="76199" y="0"/>
                </a:moveTo>
                <a:lnTo>
                  <a:pt x="2133601" y="0"/>
                </a:lnTo>
                <a:cubicBezTo>
                  <a:pt x="2175684" y="0"/>
                  <a:pt x="2209800" y="34116"/>
                  <a:pt x="2209800" y="76199"/>
                </a:cubicBezTo>
                <a:lnTo>
                  <a:pt x="2209800" y="609601"/>
                </a:lnTo>
                <a:cubicBezTo>
                  <a:pt x="2209800" y="651684"/>
                  <a:pt x="2175684" y="685800"/>
                  <a:pt x="2133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EFF6FF"/>
              </a:gs>
              <a:gs pos="100000">
                <a:srgbClr val="DBEAFE"/>
              </a:gs>
            </a:gsLst>
            <a:lin ang="0" scaled="0"/>
          </a:gradFill>
          <a:ln cap="flat" cmpd="sng" w="23875">
            <a:solidFill>
              <a:srgbClr val="2B7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3"/>
          <p:cNvSpPr/>
          <p:nvPr/>
        </p:nvSpPr>
        <p:spPr>
          <a:xfrm>
            <a:off x="9308681" y="1619478"/>
            <a:ext cx="286321" cy="286322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3"/>
          <p:cNvSpPr/>
          <p:nvPr/>
        </p:nvSpPr>
        <p:spPr>
          <a:xfrm>
            <a:off x="9308681" y="1619478"/>
            <a:ext cx="2865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3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4</a:t>
            </a:r>
            <a:endParaRPr b="1" sz="1253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9690595" y="1619478"/>
            <a:ext cx="21483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78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TCP Application</a:t>
            </a:r>
            <a:endParaRPr b="1" sz="1378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9308681" y="1941717"/>
            <a:ext cx="2577900" cy="71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3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Calibrated values as Tool Frame, transformation chain verified</a:t>
            </a:r>
            <a:endParaRPr b="0" sz="1253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500" name="Google Shape;5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5262" y="2717477"/>
            <a:ext cx="9094500" cy="399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3"/>
          <p:cNvSpPr/>
          <p:nvPr/>
        </p:nvSpPr>
        <p:spPr>
          <a:xfrm>
            <a:off x="190500" y="3194868"/>
            <a:ext cx="2767775" cy="1195007"/>
          </a:xfrm>
          <a:custGeom>
            <a:rect b="b" l="l" r="r" t="t"/>
            <a:pathLst>
              <a:path extrusionOk="0" h="685800" w="2209800">
                <a:moveTo>
                  <a:pt x="76199" y="0"/>
                </a:moveTo>
                <a:lnTo>
                  <a:pt x="2133601" y="0"/>
                </a:lnTo>
                <a:cubicBezTo>
                  <a:pt x="2175684" y="0"/>
                  <a:pt x="2209800" y="34116"/>
                  <a:pt x="2209800" y="76199"/>
                </a:cubicBezTo>
                <a:lnTo>
                  <a:pt x="2209800" y="609601"/>
                </a:lnTo>
                <a:cubicBezTo>
                  <a:pt x="2209800" y="651684"/>
                  <a:pt x="2175684" y="685800"/>
                  <a:pt x="2133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FEF2F2"/>
              </a:gs>
              <a:gs pos="100000">
                <a:srgbClr val="FFE2E2"/>
              </a:gs>
            </a:gsLst>
            <a:lin ang="0" scaled="0"/>
          </a:gradFill>
          <a:ln cap="flat" cmpd="sng" w="23875">
            <a:solidFill>
              <a:srgbClr val="FF64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3"/>
          <p:cNvSpPr/>
          <p:nvPr/>
        </p:nvSpPr>
        <p:spPr>
          <a:xfrm>
            <a:off x="285978" y="3290346"/>
            <a:ext cx="286322" cy="286322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3"/>
          <p:cNvSpPr/>
          <p:nvPr/>
        </p:nvSpPr>
        <p:spPr>
          <a:xfrm>
            <a:off x="285978" y="3290346"/>
            <a:ext cx="2865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3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5</a:t>
            </a:r>
            <a:endParaRPr b="1" sz="1253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667892" y="3290346"/>
            <a:ext cx="21483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78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Workpiece Reg.</a:t>
            </a:r>
            <a:endParaRPr b="1" sz="1378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285978" y="3612585"/>
            <a:ext cx="2577900" cy="71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3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Robot jogged to touch workpiece at reference point, pose recorded</a:t>
            </a:r>
            <a:endParaRPr b="0" sz="1253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506" name="Google Shape;5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9372" y="3731932"/>
            <a:ext cx="209100" cy="1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3"/>
          <p:cNvSpPr/>
          <p:nvPr/>
        </p:nvSpPr>
        <p:spPr>
          <a:xfrm>
            <a:off x="3198068" y="3194868"/>
            <a:ext cx="2767775" cy="1195007"/>
          </a:xfrm>
          <a:custGeom>
            <a:rect b="b" l="l" r="r" t="t"/>
            <a:pathLst>
              <a:path extrusionOk="0" h="685800" w="2209800">
                <a:moveTo>
                  <a:pt x="76199" y="0"/>
                </a:moveTo>
                <a:lnTo>
                  <a:pt x="2133601" y="0"/>
                </a:lnTo>
                <a:cubicBezTo>
                  <a:pt x="2175684" y="0"/>
                  <a:pt x="2209800" y="34116"/>
                  <a:pt x="2209800" y="76199"/>
                </a:cubicBezTo>
                <a:lnTo>
                  <a:pt x="2209800" y="609601"/>
                </a:lnTo>
                <a:cubicBezTo>
                  <a:pt x="2209800" y="651684"/>
                  <a:pt x="2175684" y="685800"/>
                  <a:pt x="2133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EFF6FF"/>
              </a:gs>
              <a:gs pos="100000">
                <a:srgbClr val="DBEAFE"/>
              </a:gs>
            </a:gsLst>
            <a:lin ang="0" scaled="0"/>
          </a:gradFill>
          <a:ln cap="flat" cmpd="sng" w="23875">
            <a:solidFill>
              <a:srgbClr val="2B7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3"/>
          <p:cNvSpPr/>
          <p:nvPr/>
        </p:nvSpPr>
        <p:spPr>
          <a:xfrm>
            <a:off x="3293546" y="3290346"/>
            <a:ext cx="286321" cy="286322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3"/>
          <p:cNvSpPr/>
          <p:nvPr/>
        </p:nvSpPr>
        <p:spPr>
          <a:xfrm>
            <a:off x="3293546" y="3290346"/>
            <a:ext cx="2865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3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6</a:t>
            </a:r>
            <a:endParaRPr b="1" sz="1253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3675459" y="3290346"/>
            <a:ext cx="21483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78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Toolpath Alignment</a:t>
            </a:r>
            <a:endParaRPr b="1" sz="1378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3293546" y="3612585"/>
            <a:ext cx="2577900" cy="71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3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TCP aligned with targets, joint angles extracted, reachability verified</a:t>
            </a:r>
            <a:endParaRPr b="0" sz="1253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512" name="Google Shape;5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6940" y="3731932"/>
            <a:ext cx="209100" cy="1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13"/>
          <p:cNvSpPr/>
          <p:nvPr/>
        </p:nvSpPr>
        <p:spPr>
          <a:xfrm>
            <a:off x="6205635" y="3194868"/>
            <a:ext cx="2767775" cy="1195007"/>
          </a:xfrm>
          <a:custGeom>
            <a:rect b="b" l="l" r="r" t="t"/>
            <a:pathLst>
              <a:path extrusionOk="0" h="685800" w="2209800">
                <a:moveTo>
                  <a:pt x="76199" y="0"/>
                </a:moveTo>
                <a:lnTo>
                  <a:pt x="2133601" y="0"/>
                </a:lnTo>
                <a:cubicBezTo>
                  <a:pt x="2175684" y="0"/>
                  <a:pt x="2209800" y="34116"/>
                  <a:pt x="2209800" y="76199"/>
                </a:cubicBezTo>
                <a:lnTo>
                  <a:pt x="2209800" y="609601"/>
                </a:lnTo>
                <a:cubicBezTo>
                  <a:pt x="2209800" y="651684"/>
                  <a:pt x="2175684" y="685800"/>
                  <a:pt x="2133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EFF6FF"/>
              </a:gs>
              <a:gs pos="100000">
                <a:srgbClr val="DBEAFE"/>
              </a:gs>
            </a:gsLst>
            <a:lin ang="0" scaled="0"/>
          </a:gradFill>
          <a:ln cap="flat" cmpd="sng" w="23875">
            <a:solidFill>
              <a:srgbClr val="155D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3"/>
          <p:cNvSpPr/>
          <p:nvPr/>
        </p:nvSpPr>
        <p:spPr>
          <a:xfrm>
            <a:off x="6301114" y="3290346"/>
            <a:ext cx="286322" cy="286322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3"/>
          <p:cNvSpPr/>
          <p:nvPr/>
        </p:nvSpPr>
        <p:spPr>
          <a:xfrm>
            <a:off x="6301114" y="3290346"/>
            <a:ext cx="2865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3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7</a:t>
            </a:r>
            <a:endParaRPr b="1" sz="1253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6683027" y="3290346"/>
            <a:ext cx="21483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78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RoboDK Validation</a:t>
            </a:r>
            <a:endParaRPr b="1" sz="1378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6301114" y="3612585"/>
            <a:ext cx="2577900" cy="71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3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Complete toolpath simulated, kinematic errors identified and corrected</a:t>
            </a:r>
            <a:endParaRPr b="0" sz="1253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518" name="Google Shape;51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4507" y="3731932"/>
            <a:ext cx="209100" cy="1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3"/>
          <p:cNvSpPr/>
          <p:nvPr/>
        </p:nvSpPr>
        <p:spPr>
          <a:xfrm>
            <a:off x="9213203" y="3194868"/>
            <a:ext cx="2767774" cy="1195007"/>
          </a:xfrm>
          <a:custGeom>
            <a:rect b="b" l="l" r="r" t="t"/>
            <a:pathLst>
              <a:path extrusionOk="0" h="685800" w="2209800">
                <a:moveTo>
                  <a:pt x="76199" y="0"/>
                </a:moveTo>
                <a:lnTo>
                  <a:pt x="2133601" y="0"/>
                </a:lnTo>
                <a:cubicBezTo>
                  <a:pt x="2175684" y="0"/>
                  <a:pt x="2209800" y="34116"/>
                  <a:pt x="2209800" y="76199"/>
                </a:cubicBezTo>
                <a:lnTo>
                  <a:pt x="2209800" y="609601"/>
                </a:lnTo>
                <a:cubicBezTo>
                  <a:pt x="2209800" y="651684"/>
                  <a:pt x="2175684" y="685800"/>
                  <a:pt x="2133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EFF6FF"/>
              </a:gs>
              <a:gs pos="100000">
                <a:srgbClr val="DBEAFE"/>
              </a:gs>
            </a:gsLst>
            <a:lin ang="0" scaled="0"/>
          </a:gradFill>
          <a:ln cap="flat" cmpd="sng" w="23875">
            <a:solidFill>
              <a:srgbClr val="2B7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3"/>
          <p:cNvSpPr/>
          <p:nvPr/>
        </p:nvSpPr>
        <p:spPr>
          <a:xfrm>
            <a:off x="9308681" y="3290346"/>
            <a:ext cx="286321" cy="286322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3"/>
          <p:cNvSpPr/>
          <p:nvPr/>
        </p:nvSpPr>
        <p:spPr>
          <a:xfrm>
            <a:off x="9308681" y="3290346"/>
            <a:ext cx="2865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3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8</a:t>
            </a:r>
            <a:endParaRPr b="1" sz="1253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9690595" y="3290346"/>
            <a:ext cx="21483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78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.PRG Export</a:t>
            </a:r>
            <a:endParaRPr b="1" sz="1378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9308681" y="3612585"/>
            <a:ext cx="2577900" cy="71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3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Motion program exported in Mitsubishi .PRG format</a:t>
            </a:r>
            <a:endParaRPr b="0" sz="1253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524" name="Google Shape;52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5262" y="4388345"/>
            <a:ext cx="9094500" cy="399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13"/>
          <p:cNvSpPr/>
          <p:nvPr/>
        </p:nvSpPr>
        <p:spPr>
          <a:xfrm>
            <a:off x="190500" y="4865735"/>
            <a:ext cx="2767775" cy="1195007"/>
          </a:xfrm>
          <a:custGeom>
            <a:rect b="b" l="l" r="r" t="t"/>
            <a:pathLst>
              <a:path extrusionOk="0" h="685800" w="2209800">
                <a:moveTo>
                  <a:pt x="76199" y="0"/>
                </a:moveTo>
                <a:lnTo>
                  <a:pt x="2133601" y="0"/>
                </a:lnTo>
                <a:cubicBezTo>
                  <a:pt x="2175684" y="0"/>
                  <a:pt x="2209800" y="34116"/>
                  <a:pt x="2209800" y="76199"/>
                </a:cubicBezTo>
                <a:lnTo>
                  <a:pt x="2209800" y="609601"/>
                </a:lnTo>
                <a:cubicBezTo>
                  <a:pt x="2209800" y="651684"/>
                  <a:pt x="2175684" y="685800"/>
                  <a:pt x="2133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F0FDF4"/>
              </a:gs>
              <a:gs pos="100000">
                <a:srgbClr val="DCFCE7"/>
              </a:gs>
            </a:gsLst>
            <a:lin ang="0" scaled="0"/>
          </a:gradFill>
          <a:ln cap="flat" cmpd="sng" w="23875">
            <a:solidFill>
              <a:srgbClr val="00A6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3"/>
          <p:cNvSpPr/>
          <p:nvPr/>
        </p:nvSpPr>
        <p:spPr>
          <a:xfrm>
            <a:off x="285978" y="4961213"/>
            <a:ext cx="286322" cy="286322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3"/>
          <p:cNvSpPr/>
          <p:nvPr/>
        </p:nvSpPr>
        <p:spPr>
          <a:xfrm>
            <a:off x="285978" y="4961213"/>
            <a:ext cx="2865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3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9</a:t>
            </a:r>
            <a:endParaRPr b="1" sz="1253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667892" y="4961213"/>
            <a:ext cx="21483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78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RT Toolbox 3</a:t>
            </a:r>
            <a:endParaRPr b="1" sz="1378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285978" y="5283452"/>
            <a:ext cx="2577900" cy="71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3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Native simulation, no syntax/motion errors confirmed</a:t>
            </a:r>
            <a:endParaRPr b="0" sz="1253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530" name="Google Shape;53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59372" y="5402800"/>
            <a:ext cx="209100" cy="1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3"/>
          <p:cNvSpPr/>
          <p:nvPr/>
        </p:nvSpPr>
        <p:spPr>
          <a:xfrm>
            <a:off x="3198068" y="4865735"/>
            <a:ext cx="2767775" cy="1195007"/>
          </a:xfrm>
          <a:custGeom>
            <a:rect b="b" l="l" r="r" t="t"/>
            <a:pathLst>
              <a:path extrusionOk="0" h="685800" w="2209800">
                <a:moveTo>
                  <a:pt x="76199" y="0"/>
                </a:moveTo>
                <a:lnTo>
                  <a:pt x="2133601" y="0"/>
                </a:lnTo>
                <a:cubicBezTo>
                  <a:pt x="2175684" y="0"/>
                  <a:pt x="2209800" y="34116"/>
                  <a:pt x="2209800" y="76199"/>
                </a:cubicBezTo>
                <a:lnTo>
                  <a:pt x="2209800" y="609601"/>
                </a:lnTo>
                <a:cubicBezTo>
                  <a:pt x="2209800" y="651684"/>
                  <a:pt x="2175684" y="685800"/>
                  <a:pt x="2133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>
            <a:gsLst>
              <a:gs pos="0">
                <a:srgbClr val="FEF2F2"/>
              </a:gs>
              <a:gs pos="100000">
                <a:srgbClr val="FFE2E2"/>
              </a:gs>
            </a:gsLst>
            <a:lin ang="0" scaled="0"/>
          </a:gradFill>
          <a:ln cap="flat" cmpd="sng" w="23875">
            <a:solidFill>
              <a:srgbClr val="E7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3"/>
          <p:cNvSpPr/>
          <p:nvPr/>
        </p:nvSpPr>
        <p:spPr>
          <a:xfrm>
            <a:off x="3293546" y="4961213"/>
            <a:ext cx="286321" cy="286322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3"/>
          <p:cNvSpPr/>
          <p:nvPr/>
        </p:nvSpPr>
        <p:spPr>
          <a:xfrm>
            <a:off x="3293546" y="4961213"/>
            <a:ext cx="2865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3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10</a:t>
            </a:r>
            <a:endParaRPr b="1" sz="1253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3675459" y="4961213"/>
            <a:ext cx="2148300" cy="28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78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Physical Exec.</a:t>
            </a:r>
            <a:endParaRPr b="1" sz="1378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3293546" y="5283452"/>
            <a:ext cx="2577900" cy="71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3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Dual-validated .PRG uploaded and executed on physical robot</a:t>
            </a:r>
            <a:endParaRPr b="0" sz="1253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536" name="Google Shape;53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6940" y="5402800"/>
            <a:ext cx="209100" cy="1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3"/>
          <p:cNvSpPr/>
          <p:nvPr/>
        </p:nvSpPr>
        <p:spPr>
          <a:xfrm>
            <a:off x="6205635" y="4865735"/>
            <a:ext cx="2767775" cy="1195292"/>
          </a:xfrm>
          <a:custGeom>
            <a:rect b="b" l="l" r="r" t="t"/>
            <a:pathLst>
              <a:path extrusionOk="0" h="895350" w="2209800">
                <a:moveTo>
                  <a:pt x="76203" y="0"/>
                </a:moveTo>
                <a:lnTo>
                  <a:pt x="2133597" y="0"/>
                </a:lnTo>
                <a:cubicBezTo>
                  <a:pt x="2175683" y="0"/>
                  <a:pt x="2209800" y="34117"/>
                  <a:pt x="2209800" y="76203"/>
                </a:cubicBezTo>
                <a:lnTo>
                  <a:pt x="2209800" y="819147"/>
                </a:lnTo>
                <a:cubicBezTo>
                  <a:pt x="2209800" y="861233"/>
                  <a:pt x="2175683" y="895350"/>
                  <a:pt x="213359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F0FDF4"/>
          </a:solidFill>
          <a:ln cap="flat" cmpd="sng" w="23875">
            <a:solidFill>
              <a:srgbClr val="05D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3"/>
          <p:cNvSpPr/>
          <p:nvPr/>
        </p:nvSpPr>
        <p:spPr>
          <a:xfrm>
            <a:off x="6301114" y="4961213"/>
            <a:ext cx="143161" cy="143161"/>
          </a:xfrm>
          <a:custGeom>
            <a:rect b="b" l="l" r="r" t="t"/>
            <a:pathLst>
              <a:path extrusionOk="0" h="114300" w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01663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3"/>
          <p:cNvSpPr/>
          <p:nvPr/>
        </p:nvSpPr>
        <p:spPr>
          <a:xfrm>
            <a:off x="6492070" y="4937344"/>
            <a:ext cx="2148300" cy="19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8">
                <a:solidFill>
                  <a:srgbClr val="01663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Validation Status</a:t>
            </a:r>
            <a:endParaRPr b="1" sz="1128">
              <a:solidFill>
                <a:srgbClr val="01663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6301114" y="5199909"/>
            <a:ext cx="119266" cy="119158"/>
          </a:xfrm>
          <a:custGeom>
            <a:rect b="b" l="l" r="r" t="t"/>
            <a:pathLst>
              <a:path extrusionOk="0" h="114300" w="100013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3"/>
          <p:cNvSpPr/>
          <p:nvPr/>
        </p:nvSpPr>
        <p:spPr>
          <a:xfrm>
            <a:off x="6492070" y="5176039"/>
            <a:ext cx="2148300" cy="16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2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Kinematically verified</a:t>
            </a:r>
            <a:endParaRPr b="0" sz="1002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6301114" y="5438604"/>
            <a:ext cx="119266" cy="119158"/>
          </a:xfrm>
          <a:custGeom>
            <a:rect b="b" l="l" r="r" t="t"/>
            <a:pathLst>
              <a:path extrusionOk="0" h="114300" w="100013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3"/>
          <p:cNvSpPr/>
          <p:nvPr/>
        </p:nvSpPr>
        <p:spPr>
          <a:xfrm>
            <a:off x="6492070" y="5414735"/>
            <a:ext cx="2148300" cy="16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2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Controller-validated</a:t>
            </a:r>
            <a:endParaRPr b="0" sz="1002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6301114" y="5677300"/>
            <a:ext cx="119266" cy="119158"/>
          </a:xfrm>
          <a:custGeom>
            <a:rect b="b" l="l" r="r" t="t"/>
            <a:pathLst>
              <a:path extrusionOk="0" h="114300" w="100013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3"/>
          <p:cNvSpPr/>
          <p:nvPr/>
        </p:nvSpPr>
        <p:spPr>
          <a:xfrm>
            <a:off x="6492070" y="5653430"/>
            <a:ext cx="2148300" cy="16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2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Physically executed</a:t>
            </a:r>
            <a:endParaRPr b="0" sz="1002">
              <a:solidFill>
                <a:srgbClr val="1F2937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4"/>
          <p:cNvSpPr/>
          <p:nvPr/>
        </p:nvSpPr>
        <p:spPr>
          <a:xfrm>
            <a:off x="133875" y="166963"/>
            <a:ext cx="63500" cy="381000"/>
          </a:xfrm>
          <a:custGeom>
            <a:rect b="b" l="l" r="r" t="t"/>
            <a:pathLst>
              <a:path extrusionOk="0" h="381000" w="63500">
                <a:moveTo>
                  <a:pt x="0" y="0"/>
                </a:moveTo>
                <a:lnTo>
                  <a:pt x="63500" y="0"/>
                </a:lnTo>
                <a:lnTo>
                  <a:pt x="63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52" name="Google Shape;552;p14"/>
          <p:cNvSpPr/>
          <p:nvPr/>
        </p:nvSpPr>
        <p:spPr>
          <a:xfrm>
            <a:off x="292625" y="119338"/>
            <a:ext cx="1754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4 — Key Findings</a:t>
            </a:r>
            <a:endParaRPr b="0" i="0" sz="1600" u="none" cap="none" strike="noStrike"/>
          </a:p>
        </p:txBody>
      </p:sp>
      <p:sp>
        <p:nvSpPr>
          <p:cNvPr id="553" name="Google Shape;553;p14"/>
          <p:cNvSpPr/>
          <p:nvPr/>
        </p:nvSpPr>
        <p:spPr>
          <a:xfrm>
            <a:off x="292625" y="278088"/>
            <a:ext cx="1841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Key Findings</a:t>
            </a:r>
            <a:endParaRPr b="0" i="0" sz="1600" u="none" cap="none" strike="noStrike"/>
          </a:p>
        </p:txBody>
      </p:sp>
      <p:sp>
        <p:nvSpPr>
          <p:cNvPr id="554" name="Google Shape;554;p14"/>
          <p:cNvSpPr/>
          <p:nvPr/>
        </p:nvSpPr>
        <p:spPr>
          <a:xfrm>
            <a:off x="149750" y="690838"/>
            <a:ext cx="5715000" cy="2825750"/>
          </a:xfrm>
          <a:custGeom>
            <a:rect b="b" l="l" r="r" t="t"/>
            <a:pathLst>
              <a:path extrusionOk="0" h="2825750" w="5715000">
                <a:moveTo>
                  <a:pt x="31750" y="0"/>
                </a:moveTo>
                <a:lnTo>
                  <a:pt x="5651505" y="0"/>
                </a:lnTo>
                <a:cubicBezTo>
                  <a:pt x="5686572" y="0"/>
                  <a:pt x="5715000" y="28428"/>
                  <a:pt x="5715000" y="63495"/>
                </a:cubicBezTo>
                <a:lnTo>
                  <a:pt x="5715000" y="2762255"/>
                </a:lnTo>
                <a:cubicBezTo>
                  <a:pt x="5715000" y="2797322"/>
                  <a:pt x="5686572" y="2825750"/>
                  <a:pt x="5651505" y="2825750"/>
                </a:cubicBezTo>
                <a:lnTo>
                  <a:pt x="31750" y="2825750"/>
                </a:lnTo>
                <a:cubicBezTo>
                  <a:pt x="14227" y="2825750"/>
                  <a:pt x="0" y="2811523"/>
                  <a:pt x="0" y="279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4"/>
          <p:cNvSpPr/>
          <p:nvPr/>
        </p:nvSpPr>
        <p:spPr>
          <a:xfrm flipH="1">
            <a:off x="181500" y="690850"/>
            <a:ext cx="63500" cy="2825750"/>
          </a:xfrm>
          <a:custGeom>
            <a:rect b="b" l="l" r="r" t="t"/>
            <a:pathLst>
              <a:path extrusionOk="0" h="2825750" w="31750">
                <a:moveTo>
                  <a:pt x="31750" y="0"/>
                </a:moveTo>
                <a:lnTo>
                  <a:pt x="31750" y="0"/>
                </a:lnTo>
                <a:lnTo>
                  <a:pt x="31750" y="2825750"/>
                </a:lnTo>
                <a:lnTo>
                  <a:pt x="31750" y="2825750"/>
                </a:lnTo>
                <a:cubicBezTo>
                  <a:pt x="14227" y="2825750"/>
                  <a:pt x="0" y="2811523"/>
                  <a:pt x="0" y="279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56" name="Google Shape;556;p14"/>
          <p:cNvSpPr/>
          <p:nvPr/>
        </p:nvSpPr>
        <p:spPr>
          <a:xfrm>
            <a:off x="260875" y="786088"/>
            <a:ext cx="317500" cy="317500"/>
          </a:xfrm>
          <a:custGeom>
            <a:rect b="b" l="l" r="r" t="t"/>
            <a:pathLst>
              <a:path extrusionOk="0" h="317500" w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4"/>
          <p:cNvSpPr/>
          <p:nvPr/>
        </p:nvSpPr>
        <p:spPr>
          <a:xfrm>
            <a:off x="221188" y="786088"/>
            <a:ext cx="396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</a:t>
            </a:r>
            <a:endParaRPr b="0" i="0" sz="1600" u="none" cap="none" strike="noStrike"/>
          </a:p>
        </p:txBody>
      </p:sp>
      <p:sp>
        <p:nvSpPr>
          <p:cNvPr id="558" name="Google Shape;558;p14"/>
          <p:cNvSpPr/>
          <p:nvPr/>
        </p:nvSpPr>
        <p:spPr>
          <a:xfrm>
            <a:off x="641875" y="833713"/>
            <a:ext cx="35481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Dual-Simulation Validation is Structural Necessity</a:t>
            </a:r>
            <a:endParaRPr b="0" i="0" sz="1600" u="none" cap="none" strike="noStrike"/>
          </a:p>
        </p:txBody>
      </p:sp>
      <p:sp>
        <p:nvSpPr>
          <p:cNvPr id="559" name="Google Shape;559;p14"/>
          <p:cNvSpPr/>
          <p:nvPr/>
        </p:nvSpPr>
        <p:spPr>
          <a:xfrm>
            <a:off x="260875" y="1312351"/>
            <a:ext cx="5508625" cy="600789"/>
          </a:xfrm>
          <a:custGeom>
            <a:rect b="b" l="l" r="r" t="t"/>
            <a:pathLst>
              <a:path extrusionOk="0" h="460375" w="5508625">
                <a:moveTo>
                  <a:pt x="31752" y="0"/>
                </a:moveTo>
                <a:lnTo>
                  <a:pt x="5476873" y="0"/>
                </a:lnTo>
                <a:cubicBezTo>
                  <a:pt x="5494409" y="0"/>
                  <a:pt x="5508625" y="14216"/>
                  <a:pt x="5508625" y="31752"/>
                </a:cubicBezTo>
                <a:lnTo>
                  <a:pt x="5508625" y="428623"/>
                </a:lnTo>
                <a:cubicBezTo>
                  <a:pt x="5508625" y="446159"/>
                  <a:pt x="5494409" y="460375"/>
                  <a:pt x="5476873" y="460375"/>
                </a:cubicBezTo>
                <a:lnTo>
                  <a:pt x="31752" y="460375"/>
                </a:lnTo>
                <a:cubicBezTo>
                  <a:pt x="14216" y="460375"/>
                  <a:pt x="0" y="446159"/>
                  <a:pt x="0" y="428623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60" name="Google Shape;560;p14"/>
          <p:cNvSpPr/>
          <p:nvPr/>
        </p:nvSpPr>
        <p:spPr>
          <a:xfrm>
            <a:off x="324375" y="1395217"/>
            <a:ext cx="5437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Direct RoboDK</a:t>
            </a:r>
            <a:r>
              <a:rPr lang="en-US" sz="1175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r>
              <a:rPr b="0" i="0" lang="en-US" sz="11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 controller pipeline </a:t>
            </a:r>
            <a:r>
              <a:rPr b="1" i="0" lang="en-US" sz="11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unreliable</a:t>
            </a:r>
            <a:r>
              <a:rPr b="0" i="0" lang="en-US" sz="11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without controller-native intermediate simulation</a:t>
            </a:r>
            <a:r>
              <a:rPr lang="en-US" sz="1175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</a:t>
            </a:r>
            <a:endParaRPr b="0" i="0" sz="1900" u="none" cap="none" strike="noStrike"/>
          </a:p>
        </p:txBody>
      </p:sp>
      <p:sp>
        <p:nvSpPr>
          <p:cNvPr id="561" name="Google Shape;561;p14"/>
          <p:cNvSpPr/>
          <p:nvPr/>
        </p:nvSpPr>
        <p:spPr>
          <a:xfrm>
            <a:off x="260875" y="1975284"/>
            <a:ext cx="5508625" cy="1346597"/>
          </a:xfrm>
          <a:custGeom>
            <a:rect b="b" l="l" r="r" t="t"/>
            <a:pathLst>
              <a:path extrusionOk="0" h="1031875" w="5508625">
                <a:moveTo>
                  <a:pt x="31751" y="0"/>
                </a:moveTo>
                <a:lnTo>
                  <a:pt x="5476874" y="0"/>
                </a:lnTo>
                <a:cubicBezTo>
                  <a:pt x="5494410" y="0"/>
                  <a:pt x="5508625" y="14215"/>
                  <a:pt x="5508625" y="31751"/>
                </a:cubicBezTo>
                <a:lnTo>
                  <a:pt x="5508625" y="1000124"/>
                </a:lnTo>
                <a:cubicBezTo>
                  <a:pt x="5508625" y="1017660"/>
                  <a:pt x="5494410" y="1031875"/>
                  <a:pt x="5476874" y="1031875"/>
                </a:cubicBezTo>
                <a:lnTo>
                  <a:pt x="31751" y="1031875"/>
                </a:lnTo>
                <a:cubicBezTo>
                  <a:pt x="14215" y="1031875"/>
                  <a:pt x="0" y="1017660"/>
                  <a:pt x="0" y="1000124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62" name="Google Shape;562;p14"/>
          <p:cNvSpPr/>
          <p:nvPr/>
        </p:nvSpPr>
        <p:spPr>
          <a:xfrm>
            <a:off x="324375" y="2058151"/>
            <a:ext cx="54372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75" u="none" cap="none" strike="noStrike">
                <a:solidFill>
                  <a:srgbClr val="193CB8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Non-Redundant Error Detection</a:t>
            </a:r>
            <a:endParaRPr b="0" i="0" sz="2100" u="none" cap="none" strike="noStrike"/>
          </a:p>
        </p:txBody>
      </p:sp>
      <p:sp>
        <p:nvSpPr>
          <p:cNvPr id="563" name="Google Shape;563;p14"/>
          <p:cNvSpPr/>
          <p:nvPr/>
        </p:nvSpPr>
        <p:spPr>
          <a:xfrm>
            <a:off x="324375" y="2306751"/>
            <a:ext cx="27066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RoboDK Catches:</a:t>
            </a:r>
            <a:endParaRPr b="0" i="0" sz="2100" u="none" cap="none" strike="noStrike"/>
          </a:p>
        </p:txBody>
      </p:sp>
      <p:sp>
        <p:nvSpPr>
          <p:cNvPr id="564" name="Google Shape;564;p14"/>
          <p:cNvSpPr/>
          <p:nvPr/>
        </p:nvSpPr>
        <p:spPr>
          <a:xfrm>
            <a:off x="324375" y="2513918"/>
            <a:ext cx="27066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Reachability failures</a:t>
            </a:r>
            <a:endParaRPr b="0" i="0" sz="2100" u="none" cap="none" strike="noStrike"/>
          </a:p>
        </p:txBody>
      </p:sp>
      <p:sp>
        <p:nvSpPr>
          <p:cNvPr id="565" name="Google Shape;565;p14"/>
          <p:cNvSpPr/>
          <p:nvPr/>
        </p:nvSpPr>
        <p:spPr>
          <a:xfrm>
            <a:off x="324375" y="2700368"/>
            <a:ext cx="27066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Singularities</a:t>
            </a:r>
            <a:endParaRPr b="0" i="0" sz="2100" u="none" cap="none" strike="noStrike"/>
          </a:p>
        </p:txBody>
      </p:sp>
      <p:sp>
        <p:nvSpPr>
          <p:cNvPr id="566" name="Google Shape;566;p14"/>
          <p:cNvSpPr/>
          <p:nvPr/>
        </p:nvSpPr>
        <p:spPr>
          <a:xfrm>
            <a:off x="324375" y="2886819"/>
            <a:ext cx="27066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Joint limit violations</a:t>
            </a:r>
            <a:endParaRPr b="0" i="0" sz="2100" u="none" cap="none" strike="noStrike"/>
          </a:p>
        </p:txBody>
      </p:sp>
      <p:sp>
        <p:nvSpPr>
          <p:cNvPr id="567" name="Google Shape;567;p14"/>
          <p:cNvSpPr/>
          <p:nvPr/>
        </p:nvSpPr>
        <p:spPr>
          <a:xfrm>
            <a:off x="324375" y="3073269"/>
            <a:ext cx="27066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Frame misassignments</a:t>
            </a:r>
            <a:endParaRPr b="0" i="0" sz="2100" u="none" cap="none" strike="noStrike"/>
          </a:p>
        </p:txBody>
      </p:sp>
      <p:sp>
        <p:nvSpPr>
          <p:cNvPr id="568" name="Google Shape;568;p14"/>
          <p:cNvSpPr/>
          <p:nvPr/>
        </p:nvSpPr>
        <p:spPr>
          <a:xfrm>
            <a:off x="3046938" y="2306751"/>
            <a:ext cx="27066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RT Toolbox 3 Catches:</a:t>
            </a:r>
            <a:endParaRPr b="0" i="0" sz="2100" u="none" cap="none" strike="noStrike"/>
          </a:p>
        </p:txBody>
      </p:sp>
      <p:sp>
        <p:nvSpPr>
          <p:cNvPr id="569" name="Google Shape;569;p14"/>
          <p:cNvSpPr/>
          <p:nvPr/>
        </p:nvSpPr>
        <p:spPr>
          <a:xfrm>
            <a:off x="3046938" y="2513918"/>
            <a:ext cx="27066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Syntax incompatibilities</a:t>
            </a:r>
            <a:endParaRPr b="0" i="0" sz="2100" u="none" cap="none" strike="noStrike"/>
          </a:p>
        </p:txBody>
      </p:sp>
      <p:sp>
        <p:nvSpPr>
          <p:cNvPr id="570" name="Google Shape;570;p14"/>
          <p:cNvSpPr/>
          <p:nvPr/>
        </p:nvSpPr>
        <p:spPr>
          <a:xfrm>
            <a:off x="3046938" y="2700368"/>
            <a:ext cx="27066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Command mismatches</a:t>
            </a:r>
            <a:endParaRPr b="0" i="0" sz="2100" u="none" cap="none" strike="noStrike"/>
          </a:p>
        </p:txBody>
      </p:sp>
      <p:sp>
        <p:nvSpPr>
          <p:cNvPr id="571" name="Google Shape;571;p14"/>
          <p:cNvSpPr/>
          <p:nvPr/>
        </p:nvSpPr>
        <p:spPr>
          <a:xfrm>
            <a:off x="3046938" y="2886819"/>
            <a:ext cx="27066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Structure failures</a:t>
            </a:r>
            <a:endParaRPr b="0" i="0" sz="2100" u="none" cap="none" strike="noStrike"/>
          </a:p>
        </p:txBody>
      </p:sp>
      <p:sp>
        <p:nvSpPr>
          <p:cNvPr id="572" name="Google Shape;572;p14"/>
          <p:cNvSpPr/>
          <p:nvPr/>
        </p:nvSpPr>
        <p:spPr>
          <a:xfrm>
            <a:off x="3046938" y="3073269"/>
            <a:ext cx="27066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Parser errors</a:t>
            </a:r>
            <a:endParaRPr b="0" i="0" sz="2100" u="none" cap="none" strike="noStrike"/>
          </a:p>
        </p:txBody>
      </p:sp>
      <p:sp>
        <p:nvSpPr>
          <p:cNvPr id="573" name="Google Shape;573;p14"/>
          <p:cNvSpPr/>
          <p:nvPr/>
        </p:nvSpPr>
        <p:spPr>
          <a:xfrm>
            <a:off x="5975875" y="690838"/>
            <a:ext cx="5715000" cy="2825750"/>
          </a:xfrm>
          <a:custGeom>
            <a:rect b="b" l="l" r="r" t="t"/>
            <a:pathLst>
              <a:path extrusionOk="0" h="2825750" w="5715000">
                <a:moveTo>
                  <a:pt x="31750" y="0"/>
                </a:moveTo>
                <a:lnTo>
                  <a:pt x="5651505" y="0"/>
                </a:lnTo>
                <a:cubicBezTo>
                  <a:pt x="5686572" y="0"/>
                  <a:pt x="5715000" y="28428"/>
                  <a:pt x="5715000" y="63495"/>
                </a:cubicBezTo>
                <a:lnTo>
                  <a:pt x="5715000" y="2762255"/>
                </a:lnTo>
                <a:cubicBezTo>
                  <a:pt x="5715000" y="2797322"/>
                  <a:pt x="5686572" y="2825750"/>
                  <a:pt x="5651505" y="2825750"/>
                </a:cubicBezTo>
                <a:lnTo>
                  <a:pt x="31750" y="2825750"/>
                </a:lnTo>
                <a:cubicBezTo>
                  <a:pt x="14227" y="2825750"/>
                  <a:pt x="0" y="2811523"/>
                  <a:pt x="0" y="279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4"/>
          <p:cNvSpPr/>
          <p:nvPr/>
        </p:nvSpPr>
        <p:spPr>
          <a:xfrm>
            <a:off x="5975875" y="690838"/>
            <a:ext cx="31750" cy="2825750"/>
          </a:xfrm>
          <a:custGeom>
            <a:rect b="b" l="l" r="r" t="t"/>
            <a:pathLst>
              <a:path extrusionOk="0" h="2825750" w="31750">
                <a:moveTo>
                  <a:pt x="31750" y="0"/>
                </a:moveTo>
                <a:lnTo>
                  <a:pt x="31750" y="0"/>
                </a:lnTo>
                <a:lnTo>
                  <a:pt x="31750" y="2825750"/>
                </a:lnTo>
                <a:lnTo>
                  <a:pt x="31750" y="2825750"/>
                </a:lnTo>
                <a:cubicBezTo>
                  <a:pt x="14227" y="2825750"/>
                  <a:pt x="0" y="2811523"/>
                  <a:pt x="0" y="279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4"/>
          <p:cNvSpPr/>
          <p:nvPr/>
        </p:nvSpPr>
        <p:spPr>
          <a:xfrm>
            <a:off x="6087000" y="786088"/>
            <a:ext cx="317500" cy="317500"/>
          </a:xfrm>
          <a:custGeom>
            <a:rect b="b" l="l" r="r" t="t"/>
            <a:pathLst>
              <a:path extrusionOk="0" h="317500" w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4"/>
          <p:cNvSpPr/>
          <p:nvPr/>
        </p:nvSpPr>
        <p:spPr>
          <a:xfrm>
            <a:off x="6047313" y="786088"/>
            <a:ext cx="396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</a:t>
            </a:r>
            <a:endParaRPr b="0" i="0" sz="1600" u="none" cap="none" strike="noStrike"/>
          </a:p>
        </p:txBody>
      </p:sp>
      <p:sp>
        <p:nvSpPr>
          <p:cNvPr id="577" name="Google Shape;577;p14"/>
          <p:cNvSpPr/>
          <p:nvPr/>
        </p:nvSpPr>
        <p:spPr>
          <a:xfrm>
            <a:off x="6468000" y="833713"/>
            <a:ext cx="3111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TCP Calibration is </a:t>
            </a:r>
            <a:r>
              <a:rPr b="1" lang="en-US" sz="1250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 High </a:t>
            </a:r>
            <a:r>
              <a:rPr b="1" i="0" lang="en-US" sz="12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Risk Single Step</a:t>
            </a:r>
            <a:endParaRPr b="0" i="0" sz="1600" u="none" cap="none" strike="noStrike"/>
          </a:p>
        </p:txBody>
      </p:sp>
      <p:sp>
        <p:nvSpPr>
          <p:cNvPr id="578" name="Google Shape;578;p14"/>
          <p:cNvSpPr/>
          <p:nvPr/>
        </p:nvSpPr>
        <p:spPr>
          <a:xfrm>
            <a:off x="6087000" y="1233234"/>
            <a:ext cx="5508625" cy="460375"/>
          </a:xfrm>
          <a:custGeom>
            <a:rect b="b" l="l" r="r" t="t"/>
            <a:pathLst>
              <a:path extrusionOk="0" h="460375" w="5508625">
                <a:moveTo>
                  <a:pt x="31752" y="0"/>
                </a:moveTo>
                <a:lnTo>
                  <a:pt x="5476873" y="0"/>
                </a:lnTo>
                <a:cubicBezTo>
                  <a:pt x="5494409" y="0"/>
                  <a:pt x="5508625" y="14216"/>
                  <a:pt x="5508625" y="31752"/>
                </a:cubicBezTo>
                <a:lnTo>
                  <a:pt x="5508625" y="428623"/>
                </a:lnTo>
                <a:cubicBezTo>
                  <a:pt x="5508625" y="446159"/>
                  <a:pt x="5494409" y="460375"/>
                  <a:pt x="5476873" y="460375"/>
                </a:cubicBezTo>
                <a:lnTo>
                  <a:pt x="31752" y="460375"/>
                </a:lnTo>
                <a:cubicBezTo>
                  <a:pt x="14216" y="460375"/>
                  <a:pt x="0" y="446159"/>
                  <a:pt x="0" y="428623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4"/>
          <p:cNvSpPr/>
          <p:nvPr/>
        </p:nvSpPr>
        <p:spPr>
          <a:xfrm>
            <a:off x="6150500" y="1296735"/>
            <a:ext cx="5437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TCP error is </a:t>
            </a:r>
            <a:r>
              <a:rPr b="1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uniquely dangerous</a:t>
            </a: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— globally propagating, single error affects every target identically, impossible to detect from machining error pattern alone.</a:t>
            </a:r>
            <a:endParaRPr b="0" i="0" sz="1600" u="none" cap="none" strike="noStrike"/>
          </a:p>
        </p:txBody>
      </p:sp>
      <p:sp>
        <p:nvSpPr>
          <p:cNvPr id="580" name="Google Shape;580;p14"/>
          <p:cNvSpPr/>
          <p:nvPr/>
        </p:nvSpPr>
        <p:spPr>
          <a:xfrm>
            <a:off x="6087000" y="1873526"/>
            <a:ext cx="5508625" cy="635000"/>
          </a:xfrm>
          <a:custGeom>
            <a:rect b="b" l="l" r="r" t="t"/>
            <a:pathLst>
              <a:path extrusionOk="0" h="635000" w="5508625">
                <a:moveTo>
                  <a:pt x="31750" y="0"/>
                </a:moveTo>
                <a:lnTo>
                  <a:pt x="5476875" y="0"/>
                </a:lnTo>
                <a:cubicBezTo>
                  <a:pt x="5494398" y="0"/>
                  <a:pt x="5508625" y="14227"/>
                  <a:pt x="5508625" y="31750"/>
                </a:cubicBezTo>
                <a:lnTo>
                  <a:pt x="5508625" y="603250"/>
                </a:lnTo>
                <a:cubicBezTo>
                  <a:pt x="5508625" y="620773"/>
                  <a:pt x="5494398" y="635000"/>
                  <a:pt x="547687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4"/>
          <p:cNvSpPr/>
          <p:nvPr/>
        </p:nvSpPr>
        <p:spPr>
          <a:xfrm>
            <a:off x="6150500" y="1937026"/>
            <a:ext cx="54372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9F2D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Spindle Handle Variability</a:t>
            </a:r>
            <a:endParaRPr b="0" i="0" sz="1600" u="none" cap="none" strike="noStrike"/>
          </a:p>
        </p:txBody>
      </p:sp>
      <p:sp>
        <p:nvSpPr>
          <p:cNvPr id="582" name="Google Shape;582;p14"/>
          <p:cNvSpPr/>
          <p:nvPr/>
        </p:nvSpPr>
        <p:spPr>
          <a:xfrm>
            <a:off x="6150500" y="2127526"/>
            <a:ext cx="54372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Spindle handle-induced pose variability is </a:t>
            </a:r>
            <a:r>
              <a:rPr b="1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practically significant, systematically underestimated</a:t>
            </a: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source of TCP uncertainty — must be managed through repeated measurement.</a:t>
            </a:r>
            <a:endParaRPr b="0" i="0" sz="1600" u="none" cap="none" strike="noStrike"/>
          </a:p>
        </p:txBody>
      </p:sp>
      <p:sp>
        <p:nvSpPr>
          <p:cNvPr id="583" name="Google Shape;583;p14"/>
          <p:cNvSpPr/>
          <p:nvPr/>
        </p:nvSpPr>
        <p:spPr>
          <a:xfrm>
            <a:off x="6094938" y="2696381"/>
            <a:ext cx="5492750" cy="650875"/>
          </a:xfrm>
          <a:custGeom>
            <a:rect b="b" l="l" r="r" t="t"/>
            <a:pathLst>
              <a:path extrusionOk="0" h="650875" w="5492750">
                <a:moveTo>
                  <a:pt x="31750" y="0"/>
                </a:moveTo>
                <a:lnTo>
                  <a:pt x="5461000" y="0"/>
                </a:lnTo>
                <a:cubicBezTo>
                  <a:pt x="5478535" y="0"/>
                  <a:pt x="5492750" y="14215"/>
                  <a:pt x="5492750" y="31750"/>
                </a:cubicBezTo>
                <a:lnTo>
                  <a:pt x="5492750" y="619125"/>
                </a:lnTo>
                <a:cubicBezTo>
                  <a:pt x="5492750" y="636660"/>
                  <a:pt x="5478535" y="650875"/>
                  <a:pt x="5461000" y="650875"/>
                </a:cubicBezTo>
                <a:lnTo>
                  <a:pt x="31750" y="650875"/>
                </a:lnTo>
                <a:cubicBezTo>
                  <a:pt x="14215" y="650875"/>
                  <a:pt x="0" y="636660"/>
                  <a:pt x="0" y="619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EDD4"/>
          </a:solidFill>
          <a:ln cap="flat" cmpd="sng" w="25400">
            <a:solidFill>
              <a:srgbClr val="FF89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4"/>
          <p:cNvSpPr/>
          <p:nvPr/>
        </p:nvSpPr>
        <p:spPr>
          <a:xfrm>
            <a:off x="6196141" y="2783695"/>
            <a:ext cx="83344" cy="111125"/>
          </a:xfrm>
          <a:custGeom>
            <a:rect b="b" l="l" r="r" t="t"/>
            <a:pathLst>
              <a:path extrusionOk="0" h="111125" w="83344">
                <a:moveTo>
                  <a:pt x="63571" y="83344"/>
                </a:moveTo>
                <a:cubicBezTo>
                  <a:pt x="65156" y="78504"/>
                  <a:pt x="68325" y="74120"/>
                  <a:pt x="71906" y="70343"/>
                </a:cubicBezTo>
                <a:cubicBezTo>
                  <a:pt x="79003" y="62877"/>
                  <a:pt x="83344" y="52784"/>
                  <a:pt x="83344" y="41672"/>
                </a:cubicBezTo>
                <a:cubicBezTo>
                  <a:pt x="83344" y="18666"/>
                  <a:pt x="64678" y="0"/>
                  <a:pt x="41672" y="0"/>
                </a:cubicBezTo>
                <a:cubicBezTo>
                  <a:pt x="18666" y="0"/>
                  <a:pt x="0" y="18666"/>
                  <a:pt x="0" y="41672"/>
                </a:cubicBezTo>
                <a:cubicBezTo>
                  <a:pt x="0" y="52784"/>
                  <a:pt x="4341" y="62877"/>
                  <a:pt x="11438" y="70343"/>
                </a:cubicBezTo>
                <a:cubicBezTo>
                  <a:pt x="15019" y="74120"/>
                  <a:pt x="18210" y="78504"/>
                  <a:pt x="19772" y="83344"/>
                </a:cubicBezTo>
                <a:lnTo>
                  <a:pt x="63550" y="83344"/>
                </a:lnTo>
                <a:close/>
                <a:moveTo>
                  <a:pt x="62508" y="93762"/>
                </a:moveTo>
                <a:lnTo>
                  <a:pt x="20836" y="93762"/>
                </a:lnTo>
                <a:lnTo>
                  <a:pt x="20836" y="97234"/>
                </a:lnTo>
                <a:cubicBezTo>
                  <a:pt x="20836" y="106828"/>
                  <a:pt x="28606" y="114598"/>
                  <a:pt x="38199" y="114598"/>
                </a:cubicBezTo>
                <a:lnTo>
                  <a:pt x="45145" y="114598"/>
                </a:lnTo>
                <a:cubicBezTo>
                  <a:pt x="54738" y="114598"/>
                  <a:pt x="62508" y="106828"/>
                  <a:pt x="62508" y="97234"/>
                </a:cubicBezTo>
                <a:lnTo>
                  <a:pt x="62508" y="93762"/>
                </a:lnTo>
                <a:close/>
                <a:moveTo>
                  <a:pt x="39936" y="24309"/>
                </a:moveTo>
                <a:cubicBezTo>
                  <a:pt x="31297" y="24309"/>
                  <a:pt x="24309" y="31297"/>
                  <a:pt x="24309" y="39936"/>
                </a:cubicBezTo>
                <a:cubicBezTo>
                  <a:pt x="24309" y="42822"/>
                  <a:pt x="21986" y="45145"/>
                  <a:pt x="19100" y="45145"/>
                </a:cubicBezTo>
                <a:cubicBezTo>
                  <a:pt x="16213" y="45145"/>
                  <a:pt x="13891" y="42822"/>
                  <a:pt x="13891" y="39936"/>
                </a:cubicBezTo>
                <a:cubicBezTo>
                  <a:pt x="13891" y="25546"/>
                  <a:pt x="25546" y="13891"/>
                  <a:pt x="39936" y="13891"/>
                </a:cubicBezTo>
                <a:cubicBezTo>
                  <a:pt x="42822" y="13891"/>
                  <a:pt x="45145" y="16213"/>
                  <a:pt x="45145" y="19100"/>
                </a:cubicBezTo>
                <a:cubicBezTo>
                  <a:pt x="45145" y="21986"/>
                  <a:pt x="42822" y="24309"/>
                  <a:pt x="39936" y="24309"/>
                </a:cubicBezTo>
                <a:close/>
              </a:path>
            </a:pathLst>
          </a:custGeom>
          <a:solidFill>
            <a:srgbClr val="9F2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4"/>
          <p:cNvSpPr/>
          <p:nvPr/>
        </p:nvSpPr>
        <p:spPr>
          <a:xfrm>
            <a:off x="6329094" y="2767820"/>
            <a:ext cx="52428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9F2D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Future Recommendation</a:t>
            </a:r>
            <a:endParaRPr b="0" i="0" sz="1600" u="none" cap="none" strike="noStrike"/>
          </a:p>
        </p:txBody>
      </p:sp>
      <p:sp>
        <p:nvSpPr>
          <p:cNvPr id="586" name="Google Shape;586;p14"/>
          <p:cNvSpPr/>
          <p:nvPr/>
        </p:nvSpPr>
        <p:spPr>
          <a:xfrm>
            <a:off x="6166375" y="2958320"/>
            <a:ext cx="5405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Formal </a:t>
            </a:r>
            <a:r>
              <a:rPr b="1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TCP auto-calibration routine</a:t>
            </a: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— robot touches fixed precision reference sphere from multiple orientations, controller solves TCP analytically.</a:t>
            </a:r>
            <a:r>
              <a:rPr lang="en-US" sz="875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 b="0" i="0" sz="1600" u="none" cap="none" strike="noStrike"/>
          </a:p>
        </p:txBody>
      </p:sp>
      <p:sp>
        <p:nvSpPr>
          <p:cNvPr id="587" name="Google Shape;587;p14"/>
          <p:cNvSpPr/>
          <p:nvPr/>
        </p:nvSpPr>
        <p:spPr>
          <a:xfrm>
            <a:off x="3151575" y="3644163"/>
            <a:ext cx="5715000" cy="2619375"/>
          </a:xfrm>
          <a:custGeom>
            <a:rect b="b" l="l" r="r" t="t"/>
            <a:pathLst>
              <a:path extrusionOk="0" h="2619375" w="5715000">
                <a:moveTo>
                  <a:pt x="31750" y="0"/>
                </a:moveTo>
                <a:lnTo>
                  <a:pt x="5651506" y="0"/>
                </a:lnTo>
                <a:cubicBezTo>
                  <a:pt x="5686573" y="0"/>
                  <a:pt x="5715000" y="28427"/>
                  <a:pt x="5715000" y="63494"/>
                </a:cubicBezTo>
                <a:lnTo>
                  <a:pt x="5715000" y="2555881"/>
                </a:lnTo>
                <a:cubicBezTo>
                  <a:pt x="5715000" y="2590948"/>
                  <a:pt x="5686573" y="2619375"/>
                  <a:pt x="5651506" y="2619375"/>
                </a:cubicBezTo>
                <a:lnTo>
                  <a:pt x="31750" y="2619375"/>
                </a:lnTo>
                <a:cubicBezTo>
                  <a:pt x="14215" y="2619375"/>
                  <a:pt x="0" y="2605160"/>
                  <a:pt x="0" y="2587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4"/>
          <p:cNvSpPr/>
          <p:nvPr/>
        </p:nvSpPr>
        <p:spPr>
          <a:xfrm>
            <a:off x="3116925" y="3632613"/>
            <a:ext cx="31750" cy="2619375"/>
          </a:xfrm>
          <a:custGeom>
            <a:rect b="b" l="l" r="r" t="t"/>
            <a:pathLst>
              <a:path extrusionOk="0" h="2619375" w="31750">
                <a:moveTo>
                  <a:pt x="31750" y="0"/>
                </a:moveTo>
                <a:lnTo>
                  <a:pt x="31750" y="0"/>
                </a:lnTo>
                <a:lnTo>
                  <a:pt x="31750" y="2619375"/>
                </a:lnTo>
                <a:lnTo>
                  <a:pt x="31750" y="2619375"/>
                </a:lnTo>
                <a:cubicBezTo>
                  <a:pt x="14227" y="2619375"/>
                  <a:pt x="0" y="2605148"/>
                  <a:pt x="0" y="2587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4"/>
          <p:cNvSpPr/>
          <p:nvPr/>
        </p:nvSpPr>
        <p:spPr>
          <a:xfrm>
            <a:off x="3237438" y="3691500"/>
            <a:ext cx="317500" cy="317500"/>
          </a:xfrm>
          <a:custGeom>
            <a:rect b="b" l="l" r="r" t="t"/>
            <a:pathLst>
              <a:path extrusionOk="0" h="317500" w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4"/>
          <p:cNvSpPr/>
          <p:nvPr/>
        </p:nvSpPr>
        <p:spPr>
          <a:xfrm>
            <a:off x="3197726" y="3691550"/>
            <a:ext cx="396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</a:t>
            </a:r>
            <a:endParaRPr b="0" i="0" sz="1600" u="none" cap="none" strike="noStrike"/>
          </a:p>
        </p:txBody>
      </p:sp>
      <p:sp>
        <p:nvSpPr>
          <p:cNvPr id="591" name="Google Shape;591;p14"/>
          <p:cNvSpPr/>
          <p:nvPr/>
        </p:nvSpPr>
        <p:spPr>
          <a:xfrm>
            <a:off x="3643700" y="3787038"/>
            <a:ext cx="38814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Multi-Axis Toolpath Simulation Successfully Validated</a:t>
            </a:r>
            <a:endParaRPr b="0" i="0" sz="1600" u="none" cap="none" strike="noStrike"/>
          </a:p>
        </p:txBody>
      </p:sp>
      <p:sp>
        <p:nvSpPr>
          <p:cNvPr id="592" name="Google Shape;592;p14"/>
          <p:cNvSpPr/>
          <p:nvPr/>
        </p:nvSpPr>
        <p:spPr>
          <a:xfrm>
            <a:off x="3228050" y="4108863"/>
            <a:ext cx="5508625" cy="460375"/>
          </a:xfrm>
          <a:custGeom>
            <a:rect b="b" l="l" r="r" t="t"/>
            <a:pathLst>
              <a:path extrusionOk="0" h="460375" w="5508625">
                <a:moveTo>
                  <a:pt x="31752" y="0"/>
                </a:moveTo>
                <a:lnTo>
                  <a:pt x="5476873" y="0"/>
                </a:lnTo>
                <a:cubicBezTo>
                  <a:pt x="5494409" y="0"/>
                  <a:pt x="5508625" y="14216"/>
                  <a:pt x="5508625" y="31752"/>
                </a:cubicBezTo>
                <a:lnTo>
                  <a:pt x="5508625" y="428623"/>
                </a:lnTo>
                <a:cubicBezTo>
                  <a:pt x="5508625" y="446159"/>
                  <a:pt x="5494409" y="460375"/>
                  <a:pt x="5476873" y="460375"/>
                </a:cubicBezTo>
                <a:lnTo>
                  <a:pt x="31752" y="460375"/>
                </a:lnTo>
                <a:cubicBezTo>
                  <a:pt x="14216" y="460375"/>
                  <a:pt x="0" y="446159"/>
                  <a:pt x="0" y="428623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4"/>
          <p:cNvSpPr/>
          <p:nvPr/>
        </p:nvSpPr>
        <p:spPr>
          <a:xfrm>
            <a:off x="3326200" y="4183913"/>
            <a:ext cx="5437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Multi-axis milling toolpaths for </a:t>
            </a:r>
            <a:r>
              <a:rPr b="1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complex freeform geometries</a:t>
            </a: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successfully generated in Fusion 360 and validated in RoboDK — smooth, continuous, singularity-free motion.</a:t>
            </a:r>
            <a:endParaRPr b="0" i="0" sz="1600" u="none" cap="none" strike="noStrike"/>
          </a:p>
        </p:txBody>
      </p:sp>
      <p:sp>
        <p:nvSpPr>
          <p:cNvPr id="594" name="Google Shape;594;p14"/>
          <p:cNvSpPr/>
          <p:nvPr/>
        </p:nvSpPr>
        <p:spPr>
          <a:xfrm>
            <a:off x="3228050" y="4616863"/>
            <a:ext cx="5508625" cy="825500"/>
          </a:xfrm>
          <a:custGeom>
            <a:rect b="b" l="l" r="r" t="t"/>
            <a:pathLst>
              <a:path extrusionOk="0" h="825500" w="5508625">
                <a:moveTo>
                  <a:pt x="31749" y="0"/>
                </a:moveTo>
                <a:lnTo>
                  <a:pt x="5476876" y="0"/>
                </a:lnTo>
                <a:cubicBezTo>
                  <a:pt x="5494411" y="0"/>
                  <a:pt x="5508625" y="14214"/>
                  <a:pt x="5508625" y="31749"/>
                </a:cubicBezTo>
                <a:lnTo>
                  <a:pt x="5508625" y="793751"/>
                </a:lnTo>
                <a:cubicBezTo>
                  <a:pt x="5508625" y="811286"/>
                  <a:pt x="5494411" y="825500"/>
                  <a:pt x="5476876" y="825500"/>
                </a:cubicBezTo>
                <a:lnTo>
                  <a:pt x="31749" y="825500"/>
                </a:lnTo>
                <a:cubicBezTo>
                  <a:pt x="14214" y="825500"/>
                  <a:pt x="0" y="811286"/>
                  <a:pt x="0" y="7937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3326200" y="4691913"/>
            <a:ext cx="54372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01663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Validation Evidence</a:t>
            </a:r>
            <a:endParaRPr b="0" i="0" sz="1600" u="none" cap="none" strike="noStrike"/>
          </a:p>
        </p:txBody>
      </p:sp>
      <p:sp>
        <p:nvSpPr>
          <p:cNvPr id="596" name="Google Shape;596;p14"/>
          <p:cNvSpPr/>
          <p:nvPr/>
        </p:nvSpPr>
        <p:spPr>
          <a:xfrm>
            <a:off x="3344059" y="4914163"/>
            <a:ext cx="83344" cy="95250"/>
          </a:xfrm>
          <a:custGeom>
            <a:rect b="b" l="l" r="r" t="t"/>
            <a:pathLst>
              <a:path extrusionOk="0" h="95250" w="83344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4"/>
          <p:cNvSpPr/>
          <p:nvPr/>
        </p:nvSpPr>
        <p:spPr>
          <a:xfrm>
            <a:off x="3492888" y="4882413"/>
            <a:ext cx="23814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Correct TCP orientation maintained throughout</a:t>
            </a:r>
            <a:endParaRPr b="0" i="0" sz="1600" u="none" cap="none" strike="noStrike"/>
          </a:p>
        </p:txBody>
      </p:sp>
      <p:sp>
        <p:nvSpPr>
          <p:cNvPr id="598" name="Google Shape;598;p14"/>
          <p:cNvSpPr/>
          <p:nvPr/>
        </p:nvSpPr>
        <p:spPr>
          <a:xfrm>
            <a:off x="3344059" y="5088788"/>
            <a:ext cx="83344" cy="95250"/>
          </a:xfrm>
          <a:custGeom>
            <a:rect b="b" l="l" r="r" t="t"/>
            <a:pathLst>
              <a:path extrusionOk="0" h="95250" w="83344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4"/>
          <p:cNvSpPr/>
          <p:nvPr/>
        </p:nvSpPr>
        <p:spPr>
          <a:xfrm>
            <a:off x="3492888" y="5057038"/>
            <a:ext cx="3405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Robot arm continuously reorienting for tool-surface normal alignment</a:t>
            </a:r>
            <a:endParaRPr b="0" i="0" sz="1600" u="none" cap="none" strike="noStrike"/>
          </a:p>
        </p:txBody>
      </p:sp>
      <p:sp>
        <p:nvSpPr>
          <p:cNvPr id="600" name="Google Shape;600;p14"/>
          <p:cNvSpPr/>
          <p:nvPr/>
        </p:nvSpPr>
        <p:spPr>
          <a:xfrm>
            <a:off x="3344059" y="5263413"/>
            <a:ext cx="83344" cy="95250"/>
          </a:xfrm>
          <a:custGeom>
            <a:rect b="b" l="l" r="r" t="t"/>
            <a:pathLst>
              <a:path extrusionOk="0" h="95250" w="83344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4"/>
          <p:cNvSpPr/>
          <p:nvPr/>
        </p:nvSpPr>
        <p:spPr>
          <a:xfrm>
            <a:off x="3492888" y="5231663"/>
            <a:ext cx="16272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No kinematic violations detected</a:t>
            </a:r>
            <a:endParaRPr b="0" i="0" sz="1600" u="none" cap="none" strike="noStrike"/>
          </a:p>
        </p:txBody>
      </p:sp>
      <p:sp>
        <p:nvSpPr>
          <p:cNvPr id="602" name="Google Shape;602;p14"/>
          <p:cNvSpPr/>
          <p:nvPr/>
        </p:nvSpPr>
        <p:spPr>
          <a:xfrm>
            <a:off x="3235988" y="5497926"/>
            <a:ext cx="5492750" cy="650875"/>
          </a:xfrm>
          <a:custGeom>
            <a:rect b="b" l="l" r="r" t="t"/>
            <a:pathLst>
              <a:path extrusionOk="0" h="650875" w="5492750">
                <a:moveTo>
                  <a:pt x="31750" y="0"/>
                </a:moveTo>
                <a:lnTo>
                  <a:pt x="5461000" y="0"/>
                </a:lnTo>
                <a:cubicBezTo>
                  <a:pt x="5478535" y="0"/>
                  <a:pt x="5492750" y="14215"/>
                  <a:pt x="5492750" y="31750"/>
                </a:cubicBezTo>
                <a:lnTo>
                  <a:pt x="5492750" y="619125"/>
                </a:lnTo>
                <a:cubicBezTo>
                  <a:pt x="5492750" y="636660"/>
                  <a:pt x="5478535" y="650875"/>
                  <a:pt x="5461000" y="650875"/>
                </a:cubicBezTo>
                <a:lnTo>
                  <a:pt x="31750" y="650875"/>
                </a:lnTo>
                <a:cubicBezTo>
                  <a:pt x="14215" y="650875"/>
                  <a:pt x="0" y="636660"/>
                  <a:pt x="0" y="619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CFCE7"/>
          </a:solidFill>
          <a:ln cap="flat" cmpd="sng" w="25400">
            <a:solidFill>
              <a:srgbClr val="05D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4"/>
          <p:cNvSpPr/>
          <p:nvPr/>
        </p:nvSpPr>
        <p:spPr>
          <a:xfrm>
            <a:off x="3323300" y="5585238"/>
            <a:ext cx="111125" cy="111125"/>
          </a:xfrm>
          <a:custGeom>
            <a:rect b="b" l="l" r="r" t="t"/>
            <a:pathLst>
              <a:path extrusionOk="0" h="111125" w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016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4"/>
          <p:cNvSpPr/>
          <p:nvPr/>
        </p:nvSpPr>
        <p:spPr>
          <a:xfrm>
            <a:off x="3504794" y="5580913"/>
            <a:ext cx="52428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01663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Capability Confirmed</a:t>
            </a:r>
            <a:endParaRPr b="0" i="0" sz="1600" u="none" cap="none" strike="noStrike"/>
          </a:p>
        </p:txBody>
      </p:sp>
      <p:sp>
        <p:nvSpPr>
          <p:cNvPr id="605" name="Google Shape;605;p14"/>
          <p:cNvSpPr/>
          <p:nvPr/>
        </p:nvSpPr>
        <p:spPr>
          <a:xfrm>
            <a:off x="3342075" y="5771413"/>
            <a:ext cx="5405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RoboDK is </a:t>
            </a:r>
            <a:r>
              <a:rPr b="1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production</a:t>
            </a:r>
            <a:r>
              <a:rPr b="1" lang="en-US" sz="875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r>
              <a:rPr b="1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capable</a:t>
            </a: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for multi-axis robotic milling program generation; workflow generalizable to new geometries.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5"/>
          <p:cNvSpPr/>
          <p:nvPr/>
        </p:nvSpPr>
        <p:spPr>
          <a:xfrm>
            <a:off x="324375" y="262213"/>
            <a:ext cx="63500" cy="381000"/>
          </a:xfrm>
          <a:custGeom>
            <a:rect b="b" l="l" r="r" t="t"/>
            <a:pathLst>
              <a:path extrusionOk="0" h="381000" w="63500">
                <a:moveTo>
                  <a:pt x="0" y="0"/>
                </a:moveTo>
                <a:lnTo>
                  <a:pt x="63500" y="0"/>
                </a:lnTo>
                <a:lnTo>
                  <a:pt x="63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612" name="Google Shape;612;p15"/>
          <p:cNvSpPr/>
          <p:nvPr/>
        </p:nvSpPr>
        <p:spPr>
          <a:xfrm>
            <a:off x="483125" y="214588"/>
            <a:ext cx="1754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4 — Key Findings</a:t>
            </a:r>
            <a:endParaRPr b="0" i="0" sz="1600" u="none" cap="none" strike="noStrike"/>
          </a:p>
        </p:txBody>
      </p:sp>
      <p:sp>
        <p:nvSpPr>
          <p:cNvPr id="613" name="Google Shape;613;p15"/>
          <p:cNvSpPr/>
          <p:nvPr/>
        </p:nvSpPr>
        <p:spPr>
          <a:xfrm>
            <a:off x="483125" y="373338"/>
            <a:ext cx="1841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Key Findings</a:t>
            </a:r>
            <a:endParaRPr b="0" i="0" sz="1600" u="none" cap="none" strike="noStrike"/>
          </a:p>
        </p:txBody>
      </p:sp>
      <p:pic>
        <p:nvPicPr>
          <p:cNvPr id="614" name="Google Shape;614;p15" title="WhatsApp Video 2026-04-18 at 4.16.33 PM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825" y="886825"/>
            <a:ext cx="11001375" cy="56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6"/>
          <p:cNvSpPr/>
          <p:nvPr/>
        </p:nvSpPr>
        <p:spPr>
          <a:xfrm>
            <a:off x="317500" y="24075"/>
            <a:ext cx="63500" cy="381000"/>
          </a:xfrm>
          <a:custGeom>
            <a:rect b="b" l="l" r="r" t="t"/>
            <a:pathLst>
              <a:path extrusionOk="0" h="381000" w="63500">
                <a:moveTo>
                  <a:pt x="0" y="0"/>
                </a:moveTo>
                <a:lnTo>
                  <a:pt x="63500" y="0"/>
                </a:lnTo>
                <a:lnTo>
                  <a:pt x="63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621" name="Google Shape;621;p16"/>
          <p:cNvSpPr/>
          <p:nvPr/>
        </p:nvSpPr>
        <p:spPr>
          <a:xfrm>
            <a:off x="476250" y="-23550"/>
            <a:ext cx="75564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5 — Remaining Work</a:t>
            </a:r>
            <a:endParaRPr b="0" i="0" sz="1600" u="none" cap="none" strike="noStrike"/>
          </a:p>
        </p:txBody>
      </p:sp>
      <p:sp>
        <p:nvSpPr>
          <p:cNvPr id="622" name="Google Shape;622;p16"/>
          <p:cNvSpPr/>
          <p:nvPr/>
        </p:nvSpPr>
        <p:spPr>
          <a:xfrm>
            <a:off x="476250" y="135200"/>
            <a:ext cx="76437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Remaining Work I — Literature Landscape &amp; Research Gaps</a:t>
            </a:r>
            <a:endParaRPr b="0" i="0" sz="1600" u="none" cap="none" strike="noStrike"/>
          </a:p>
        </p:txBody>
      </p:sp>
      <p:sp>
        <p:nvSpPr>
          <p:cNvPr id="623" name="Google Shape;623;p16"/>
          <p:cNvSpPr/>
          <p:nvPr/>
        </p:nvSpPr>
        <p:spPr>
          <a:xfrm>
            <a:off x="317500" y="596750"/>
            <a:ext cx="5730875" cy="3185398"/>
          </a:xfrm>
          <a:custGeom>
            <a:rect b="b" l="l" r="r" t="t"/>
            <a:pathLst>
              <a:path extrusionOk="0" h="2889250" w="5730875">
                <a:moveTo>
                  <a:pt x="31750" y="0"/>
                </a:moveTo>
                <a:lnTo>
                  <a:pt x="5699125" y="0"/>
                </a:lnTo>
                <a:cubicBezTo>
                  <a:pt x="5716660" y="0"/>
                  <a:pt x="5730875" y="14215"/>
                  <a:pt x="5730875" y="31750"/>
                </a:cubicBezTo>
                <a:lnTo>
                  <a:pt x="5730875" y="2825744"/>
                </a:lnTo>
                <a:cubicBezTo>
                  <a:pt x="5730875" y="2860818"/>
                  <a:pt x="5702443" y="2889250"/>
                  <a:pt x="5667369" y="2889250"/>
                </a:cubicBezTo>
                <a:lnTo>
                  <a:pt x="63506" y="2889250"/>
                </a:lnTo>
                <a:cubicBezTo>
                  <a:pt x="28432" y="2889250"/>
                  <a:pt x="0" y="2860818"/>
                  <a:pt x="0" y="2825744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6"/>
          <p:cNvSpPr/>
          <p:nvPr/>
        </p:nvSpPr>
        <p:spPr>
          <a:xfrm>
            <a:off x="317500" y="596750"/>
            <a:ext cx="5730875" cy="35004"/>
          </a:xfrm>
          <a:custGeom>
            <a:rect b="b" l="l" r="r" t="t"/>
            <a:pathLst>
              <a:path extrusionOk="0" h="31750" w="5730875">
                <a:moveTo>
                  <a:pt x="31750" y="0"/>
                </a:moveTo>
                <a:lnTo>
                  <a:pt x="5699125" y="0"/>
                </a:lnTo>
                <a:cubicBezTo>
                  <a:pt x="5716648" y="0"/>
                  <a:pt x="5730875" y="14227"/>
                  <a:pt x="5730875" y="31750"/>
                </a:cubicBezTo>
                <a:lnTo>
                  <a:pt x="573087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6"/>
          <p:cNvSpPr/>
          <p:nvPr/>
        </p:nvSpPr>
        <p:spPr>
          <a:xfrm>
            <a:off x="432594" y="754027"/>
            <a:ext cx="158750" cy="175022"/>
          </a:xfrm>
          <a:custGeom>
            <a:rect b="b" l="l" r="r" t="t"/>
            <a:pathLst>
              <a:path extrusionOk="0" h="158750" w="158750">
                <a:moveTo>
                  <a:pt x="138906" y="79375"/>
                </a:moveTo>
                <a:cubicBezTo>
                  <a:pt x="138906" y="46519"/>
                  <a:pt x="112231" y="19844"/>
                  <a:pt x="79375" y="19844"/>
                </a:cubicBezTo>
                <a:cubicBezTo>
                  <a:pt x="46519" y="19844"/>
                  <a:pt x="19844" y="46519"/>
                  <a:pt x="19844" y="79375"/>
                </a:cubicBezTo>
                <a:cubicBezTo>
                  <a:pt x="19844" y="112231"/>
                  <a:pt x="46519" y="138906"/>
                  <a:pt x="79375" y="138906"/>
                </a:cubicBezTo>
                <a:cubicBezTo>
                  <a:pt x="112231" y="138906"/>
                  <a:pt x="138906" y="112231"/>
                  <a:pt x="138906" y="79375"/>
                </a:cubicBezTo>
                <a:close/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  <a:moveTo>
                  <a:pt x="79375" y="104180"/>
                </a:moveTo>
                <a:cubicBezTo>
                  <a:pt x="93065" y="104180"/>
                  <a:pt x="104180" y="93065"/>
                  <a:pt x="104180" y="79375"/>
                </a:cubicBezTo>
                <a:cubicBezTo>
                  <a:pt x="104180" y="65685"/>
                  <a:pt x="93065" y="54570"/>
                  <a:pt x="79375" y="54570"/>
                </a:cubicBezTo>
                <a:cubicBezTo>
                  <a:pt x="65685" y="54570"/>
                  <a:pt x="54570" y="65685"/>
                  <a:pt x="54570" y="79375"/>
                </a:cubicBezTo>
                <a:cubicBezTo>
                  <a:pt x="54570" y="93065"/>
                  <a:pt x="65685" y="104180"/>
                  <a:pt x="79375" y="104180"/>
                </a:cubicBezTo>
                <a:close/>
                <a:moveTo>
                  <a:pt x="79375" y="34727"/>
                </a:moveTo>
                <a:cubicBezTo>
                  <a:pt x="104017" y="34727"/>
                  <a:pt x="124023" y="54733"/>
                  <a:pt x="124023" y="79375"/>
                </a:cubicBezTo>
                <a:cubicBezTo>
                  <a:pt x="124023" y="104017"/>
                  <a:pt x="104017" y="124023"/>
                  <a:pt x="79375" y="124023"/>
                </a:cubicBezTo>
                <a:cubicBezTo>
                  <a:pt x="54733" y="124023"/>
                  <a:pt x="34727" y="104017"/>
                  <a:pt x="34727" y="79375"/>
                </a:cubicBezTo>
                <a:cubicBezTo>
                  <a:pt x="34727" y="54733"/>
                  <a:pt x="54733" y="34727"/>
                  <a:pt x="79375" y="34727"/>
                </a:cubicBezTo>
                <a:close/>
                <a:moveTo>
                  <a:pt x="69453" y="79375"/>
                </a:moveTo>
                <a:cubicBezTo>
                  <a:pt x="69453" y="73899"/>
                  <a:pt x="73899" y="69453"/>
                  <a:pt x="79375" y="69453"/>
                </a:cubicBezTo>
                <a:cubicBezTo>
                  <a:pt x="84851" y="69453"/>
                  <a:pt x="89297" y="73899"/>
                  <a:pt x="89297" y="79375"/>
                </a:cubicBezTo>
                <a:cubicBezTo>
                  <a:pt x="89297" y="84851"/>
                  <a:pt x="84851" y="89297"/>
                  <a:pt x="79375" y="89297"/>
                </a:cubicBezTo>
                <a:cubicBezTo>
                  <a:pt x="73899" y="89297"/>
                  <a:pt x="69453" y="84851"/>
                  <a:pt x="69453" y="79375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6"/>
          <p:cNvSpPr/>
          <p:nvPr/>
        </p:nvSpPr>
        <p:spPr>
          <a:xfrm>
            <a:off x="674688" y="719077"/>
            <a:ext cx="2793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Topic Cluster 1 — Robotic Milling Accuracy</a:t>
            </a:r>
            <a:endParaRPr b="0" i="0" sz="1600" u="none" cap="none" strike="noStrike"/>
          </a:p>
        </p:txBody>
      </p:sp>
      <p:sp>
        <p:nvSpPr>
          <p:cNvPr id="627" name="Google Shape;627;p16"/>
          <p:cNvSpPr/>
          <p:nvPr/>
        </p:nvSpPr>
        <p:spPr>
          <a:xfrm>
            <a:off x="412750" y="1056934"/>
            <a:ext cx="5540375" cy="525066"/>
          </a:xfrm>
          <a:custGeom>
            <a:rect b="b" l="l" r="r" t="t"/>
            <a:pathLst>
              <a:path extrusionOk="0" h="476250" w="5540375">
                <a:moveTo>
                  <a:pt x="31752" y="0"/>
                </a:moveTo>
                <a:lnTo>
                  <a:pt x="5508623" y="0"/>
                </a:lnTo>
                <a:cubicBezTo>
                  <a:pt x="5526159" y="0"/>
                  <a:pt x="5540375" y="14216"/>
                  <a:pt x="5540375" y="31752"/>
                </a:cubicBezTo>
                <a:lnTo>
                  <a:pt x="5540375" y="444498"/>
                </a:lnTo>
                <a:cubicBezTo>
                  <a:pt x="5540375" y="462034"/>
                  <a:pt x="5526159" y="476250"/>
                  <a:pt x="5508623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6"/>
          <p:cNvSpPr/>
          <p:nvPr/>
        </p:nvSpPr>
        <p:spPr>
          <a:xfrm>
            <a:off x="476250" y="1126835"/>
            <a:ext cx="5469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193CB8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Systematic Comparison</a:t>
            </a:r>
            <a:endParaRPr b="0" i="0" sz="1600" u="none" cap="none" strike="noStrike"/>
          </a:p>
        </p:txBody>
      </p:sp>
      <p:sp>
        <p:nvSpPr>
          <p:cNvPr id="629" name="Google Shape;629;p16"/>
          <p:cNvSpPr/>
          <p:nvPr/>
        </p:nvSpPr>
        <p:spPr>
          <a:xfrm>
            <a:off x="476250" y="1336538"/>
            <a:ext cx="5469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Positional and orientational accuracy: robotic milling vs. conventional CNC machining.</a:t>
            </a:r>
            <a:endParaRPr b="0" i="0" sz="1600" u="none" cap="none" strike="noStrike"/>
          </a:p>
        </p:txBody>
      </p:sp>
      <p:sp>
        <p:nvSpPr>
          <p:cNvPr id="630" name="Google Shape;630;p16"/>
          <p:cNvSpPr/>
          <p:nvPr/>
        </p:nvSpPr>
        <p:spPr>
          <a:xfrm>
            <a:off x="412750" y="1697704"/>
            <a:ext cx="5540375" cy="1905000"/>
          </a:xfrm>
          <a:custGeom>
            <a:rect b="b" l="l" r="r" t="t"/>
            <a:pathLst>
              <a:path extrusionOk="0" h="1190625" w="5540375">
                <a:moveTo>
                  <a:pt x="31754" y="0"/>
                </a:moveTo>
                <a:lnTo>
                  <a:pt x="5508621" y="0"/>
                </a:lnTo>
                <a:cubicBezTo>
                  <a:pt x="5526158" y="0"/>
                  <a:pt x="5540375" y="14217"/>
                  <a:pt x="5540375" y="31754"/>
                </a:cubicBezTo>
                <a:lnTo>
                  <a:pt x="5540375" y="1158871"/>
                </a:lnTo>
                <a:cubicBezTo>
                  <a:pt x="5540375" y="1176408"/>
                  <a:pt x="5526158" y="1190625"/>
                  <a:pt x="5508621" y="1190625"/>
                </a:cubicBezTo>
                <a:lnTo>
                  <a:pt x="31754" y="1190625"/>
                </a:lnTo>
                <a:cubicBezTo>
                  <a:pt x="14217" y="1190625"/>
                  <a:pt x="0" y="1176408"/>
                  <a:pt x="0" y="1158871"/>
                </a:cubicBezTo>
                <a:lnTo>
                  <a:pt x="0" y="31754"/>
                </a:lnTo>
                <a:cubicBezTo>
                  <a:pt x="0" y="14228"/>
                  <a:pt x="14228" y="0"/>
                  <a:pt x="31754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6"/>
          <p:cNvSpPr/>
          <p:nvPr/>
        </p:nvSpPr>
        <p:spPr>
          <a:xfrm>
            <a:off x="476250" y="1767603"/>
            <a:ext cx="546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93CB8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Error Source Characterization</a:t>
            </a:r>
            <a:endParaRPr b="0" i="0" sz="1300" u="none" cap="none" strike="noStrike"/>
          </a:p>
        </p:txBody>
      </p:sp>
      <p:sp>
        <p:nvSpPr>
          <p:cNvPr id="632" name="Google Shape;632;p16"/>
          <p:cNvSpPr/>
          <p:nvPr/>
        </p:nvSpPr>
        <p:spPr>
          <a:xfrm>
            <a:off x="476250" y="2068075"/>
            <a:ext cx="546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Documented sources of dimensional error:</a:t>
            </a:r>
            <a:endParaRPr b="0" i="0" sz="1300" u="none" cap="none" strike="noStrike"/>
          </a:p>
        </p:txBody>
      </p:sp>
      <p:sp>
        <p:nvSpPr>
          <p:cNvPr id="633" name="Google Shape;633;p16"/>
          <p:cNvSpPr/>
          <p:nvPr/>
        </p:nvSpPr>
        <p:spPr>
          <a:xfrm>
            <a:off x="476250" y="2368546"/>
            <a:ext cx="546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Joint compliance and backlash</a:t>
            </a:r>
            <a:endParaRPr b="0" i="0" sz="1300" u="none" cap="none" strike="noStrike"/>
          </a:p>
        </p:txBody>
      </p:sp>
      <p:sp>
        <p:nvSpPr>
          <p:cNvPr id="634" name="Google Shape;634;p16"/>
          <p:cNvSpPr/>
          <p:nvPr/>
        </p:nvSpPr>
        <p:spPr>
          <a:xfrm>
            <a:off x="476250" y="2643978"/>
            <a:ext cx="546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Thermal drift</a:t>
            </a:r>
            <a:endParaRPr b="0" i="0" sz="1300" u="none" cap="none" strike="noStrike"/>
          </a:p>
        </p:txBody>
      </p:sp>
      <p:sp>
        <p:nvSpPr>
          <p:cNvPr id="635" name="Google Shape;635;p16"/>
          <p:cNvSpPr/>
          <p:nvPr/>
        </p:nvSpPr>
        <p:spPr>
          <a:xfrm>
            <a:off x="476250" y="2919410"/>
            <a:ext cx="546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TCP calibration error</a:t>
            </a:r>
            <a:endParaRPr b="0" i="0" sz="1300" u="none" cap="none" strike="noStrike"/>
          </a:p>
        </p:txBody>
      </p:sp>
      <p:sp>
        <p:nvSpPr>
          <p:cNvPr id="636" name="Google Shape;636;p16"/>
          <p:cNvSpPr/>
          <p:nvPr/>
        </p:nvSpPr>
        <p:spPr>
          <a:xfrm>
            <a:off x="476250" y="3194842"/>
            <a:ext cx="546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Base-frame registration error</a:t>
            </a:r>
            <a:endParaRPr b="0" i="0" sz="1300" u="none" cap="none" strike="noStrike"/>
          </a:p>
        </p:txBody>
      </p:sp>
      <p:sp>
        <p:nvSpPr>
          <p:cNvPr id="637" name="Google Shape;637;p16"/>
          <p:cNvSpPr/>
          <p:nvPr/>
        </p:nvSpPr>
        <p:spPr>
          <a:xfrm>
            <a:off x="6143625" y="596750"/>
            <a:ext cx="5730875" cy="3185398"/>
          </a:xfrm>
          <a:custGeom>
            <a:rect b="b" l="l" r="r" t="t"/>
            <a:pathLst>
              <a:path extrusionOk="0" h="2889250" w="5730875">
                <a:moveTo>
                  <a:pt x="31750" y="0"/>
                </a:moveTo>
                <a:lnTo>
                  <a:pt x="5699125" y="0"/>
                </a:lnTo>
                <a:cubicBezTo>
                  <a:pt x="5716660" y="0"/>
                  <a:pt x="5730875" y="14215"/>
                  <a:pt x="5730875" y="31750"/>
                </a:cubicBezTo>
                <a:lnTo>
                  <a:pt x="5730875" y="2825744"/>
                </a:lnTo>
                <a:cubicBezTo>
                  <a:pt x="5730875" y="2860818"/>
                  <a:pt x="5702443" y="2889250"/>
                  <a:pt x="5667369" y="2889250"/>
                </a:cubicBezTo>
                <a:lnTo>
                  <a:pt x="63506" y="2889250"/>
                </a:lnTo>
                <a:cubicBezTo>
                  <a:pt x="28432" y="2889250"/>
                  <a:pt x="0" y="2860818"/>
                  <a:pt x="0" y="2825744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6"/>
          <p:cNvSpPr/>
          <p:nvPr/>
        </p:nvSpPr>
        <p:spPr>
          <a:xfrm>
            <a:off x="6143625" y="596750"/>
            <a:ext cx="5730875" cy="35004"/>
          </a:xfrm>
          <a:custGeom>
            <a:rect b="b" l="l" r="r" t="t"/>
            <a:pathLst>
              <a:path extrusionOk="0" h="31750" w="5730875">
                <a:moveTo>
                  <a:pt x="31750" y="0"/>
                </a:moveTo>
                <a:lnTo>
                  <a:pt x="5699125" y="0"/>
                </a:lnTo>
                <a:cubicBezTo>
                  <a:pt x="5716648" y="0"/>
                  <a:pt x="5730875" y="14227"/>
                  <a:pt x="5730875" y="31750"/>
                </a:cubicBezTo>
                <a:lnTo>
                  <a:pt x="573087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6"/>
          <p:cNvSpPr/>
          <p:nvPr/>
        </p:nvSpPr>
        <p:spPr>
          <a:xfrm>
            <a:off x="6248797" y="754027"/>
            <a:ext cx="178594" cy="175022"/>
          </a:xfrm>
          <a:custGeom>
            <a:rect b="b" l="l" r="r" t="t"/>
            <a:pathLst>
              <a:path extrusionOk="0" h="158750" w="178594">
                <a:moveTo>
                  <a:pt x="89297" y="-4961"/>
                </a:moveTo>
                <a:cubicBezTo>
                  <a:pt x="94785" y="-4961"/>
                  <a:pt x="99219" y="-527"/>
                  <a:pt x="99219" y="4961"/>
                </a:cubicBezTo>
                <a:lnTo>
                  <a:pt x="99219" y="10635"/>
                </a:lnTo>
                <a:cubicBezTo>
                  <a:pt x="129635" y="14976"/>
                  <a:pt x="153696" y="39036"/>
                  <a:pt x="158037" y="69453"/>
                </a:cubicBezTo>
                <a:lnTo>
                  <a:pt x="163711" y="69453"/>
                </a:lnTo>
                <a:cubicBezTo>
                  <a:pt x="169199" y="69453"/>
                  <a:pt x="173633" y="73887"/>
                  <a:pt x="173633" y="79375"/>
                </a:cubicBezTo>
                <a:cubicBezTo>
                  <a:pt x="173633" y="84863"/>
                  <a:pt x="169199" y="89297"/>
                  <a:pt x="163711" y="89297"/>
                </a:cubicBezTo>
                <a:lnTo>
                  <a:pt x="158037" y="89297"/>
                </a:lnTo>
                <a:cubicBezTo>
                  <a:pt x="153696" y="119714"/>
                  <a:pt x="129635" y="143774"/>
                  <a:pt x="99219" y="148115"/>
                </a:cubicBezTo>
                <a:lnTo>
                  <a:pt x="99219" y="153789"/>
                </a:lnTo>
                <a:cubicBezTo>
                  <a:pt x="99219" y="159277"/>
                  <a:pt x="94785" y="163711"/>
                  <a:pt x="89297" y="163711"/>
                </a:cubicBezTo>
                <a:cubicBezTo>
                  <a:pt x="83809" y="163711"/>
                  <a:pt x="79375" y="159277"/>
                  <a:pt x="79375" y="153789"/>
                </a:cubicBezTo>
                <a:lnTo>
                  <a:pt x="79375" y="148115"/>
                </a:lnTo>
                <a:cubicBezTo>
                  <a:pt x="48958" y="143774"/>
                  <a:pt x="24898" y="119714"/>
                  <a:pt x="20557" y="89297"/>
                </a:cubicBezTo>
                <a:lnTo>
                  <a:pt x="14883" y="89297"/>
                </a:lnTo>
                <a:cubicBezTo>
                  <a:pt x="9395" y="89297"/>
                  <a:pt x="4961" y="84863"/>
                  <a:pt x="4961" y="79375"/>
                </a:cubicBezTo>
                <a:cubicBezTo>
                  <a:pt x="4961" y="73887"/>
                  <a:pt x="9395" y="69453"/>
                  <a:pt x="14883" y="69453"/>
                </a:cubicBezTo>
                <a:lnTo>
                  <a:pt x="20557" y="69453"/>
                </a:lnTo>
                <a:cubicBezTo>
                  <a:pt x="24898" y="39036"/>
                  <a:pt x="48958" y="14976"/>
                  <a:pt x="79375" y="10635"/>
                </a:cubicBezTo>
                <a:lnTo>
                  <a:pt x="79375" y="4961"/>
                </a:lnTo>
                <a:cubicBezTo>
                  <a:pt x="79375" y="-527"/>
                  <a:pt x="83809" y="-4961"/>
                  <a:pt x="89297" y="-4961"/>
                </a:cubicBezTo>
                <a:close/>
                <a:moveTo>
                  <a:pt x="40680" y="89297"/>
                </a:moveTo>
                <a:cubicBezTo>
                  <a:pt x="44617" y="108738"/>
                  <a:pt x="59934" y="124054"/>
                  <a:pt x="79375" y="127992"/>
                </a:cubicBezTo>
                <a:lnTo>
                  <a:pt x="79375" y="124023"/>
                </a:lnTo>
                <a:cubicBezTo>
                  <a:pt x="79375" y="118535"/>
                  <a:pt x="83809" y="114102"/>
                  <a:pt x="89297" y="114102"/>
                </a:cubicBezTo>
                <a:cubicBezTo>
                  <a:pt x="94785" y="114102"/>
                  <a:pt x="99219" y="118535"/>
                  <a:pt x="99219" y="124023"/>
                </a:cubicBezTo>
                <a:lnTo>
                  <a:pt x="99219" y="127992"/>
                </a:lnTo>
                <a:cubicBezTo>
                  <a:pt x="118659" y="124054"/>
                  <a:pt x="133976" y="108738"/>
                  <a:pt x="137914" y="89297"/>
                </a:cubicBezTo>
                <a:lnTo>
                  <a:pt x="133945" y="89297"/>
                </a:lnTo>
                <a:cubicBezTo>
                  <a:pt x="128457" y="89297"/>
                  <a:pt x="124023" y="84863"/>
                  <a:pt x="124023" y="79375"/>
                </a:cubicBezTo>
                <a:cubicBezTo>
                  <a:pt x="124023" y="73887"/>
                  <a:pt x="128457" y="69453"/>
                  <a:pt x="133945" y="69453"/>
                </a:cubicBezTo>
                <a:lnTo>
                  <a:pt x="137914" y="69453"/>
                </a:lnTo>
                <a:cubicBezTo>
                  <a:pt x="133976" y="50012"/>
                  <a:pt x="118659" y="34696"/>
                  <a:pt x="99219" y="30758"/>
                </a:cubicBezTo>
                <a:lnTo>
                  <a:pt x="99219" y="34727"/>
                </a:lnTo>
                <a:cubicBezTo>
                  <a:pt x="99219" y="40215"/>
                  <a:pt x="94785" y="44648"/>
                  <a:pt x="89297" y="44648"/>
                </a:cubicBezTo>
                <a:cubicBezTo>
                  <a:pt x="83809" y="44648"/>
                  <a:pt x="79375" y="40215"/>
                  <a:pt x="79375" y="34727"/>
                </a:cubicBezTo>
                <a:lnTo>
                  <a:pt x="79375" y="30758"/>
                </a:lnTo>
                <a:cubicBezTo>
                  <a:pt x="59934" y="34696"/>
                  <a:pt x="44617" y="50012"/>
                  <a:pt x="40680" y="69453"/>
                </a:cubicBezTo>
                <a:lnTo>
                  <a:pt x="44648" y="69453"/>
                </a:lnTo>
                <a:cubicBezTo>
                  <a:pt x="50136" y="69453"/>
                  <a:pt x="54570" y="73887"/>
                  <a:pt x="54570" y="79375"/>
                </a:cubicBezTo>
                <a:cubicBezTo>
                  <a:pt x="54570" y="84863"/>
                  <a:pt x="50136" y="89297"/>
                  <a:pt x="44648" y="89297"/>
                </a:cubicBezTo>
                <a:lnTo>
                  <a:pt x="40680" y="89297"/>
                </a:lnTo>
                <a:close/>
                <a:moveTo>
                  <a:pt x="89297" y="64492"/>
                </a:moveTo>
                <a:cubicBezTo>
                  <a:pt x="97511" y="64492"/>
                  <a:pt x="104180" y="71161"/>
                  <a:pt x="104180" y="79375"/>
                </a:cubicBezTo>
                <a:cubicBezTo>
                  <a:pt x="104180" y="87589"/>
                  <a:pt x="97511" y="94258"/>
                  <a:pt x="89297" y="94258"/>
                </a:cubicBezTo>
                <a:cubicBezTo>
                  <a:pt x="81083" y="94258"/>
                  <a:pt x="74414" y="87589"/>
                  <a:pt x="74414" y="79375"/>
                </a:cubicBezTo>
                <a:cubicBezTo>
                  <a:pt x="74414" y="71161"/>
                  <a:pt x="81083" y="64492"/>
                  <a:pt x="89297" y="64492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6"/>
          <p:cNvSpPr/>
          <p:nvPr/>
        </p:nvSpPr>
        <p:spPr>
          <a:xfrm>
            <a:off x="6500813" y="719077"/>
            <a:ext cx="2841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Topic Cluster 2 — TCP Calibration Methods</a:t>
            </a:r>
            <a:endParaRPr b="0" i="0" sz="1600" u="none" cap="none" strike="noStrike"/>
          </a:p>
        </p:txBody>
      </p:sp>
      <p:sp>
        <p:nvSpPr>
          <p:cNvPr id="641" name="Google Shape;641;p16"/>
          <p:cNvSpPr/>
          <p:nvPr/>
        </p:nvSpPr>
        <p:spPr>
          <a:xfrm>
            <a:off x="6238875" y="1033631"/>
            <a:ext cx="5540375" cy="1102638"/>
          </a:xfrm>
          <a:custGeom>
            <a:rect b="b" l="l" r="r" t="t"/>
            <a:pathLst>
              <a:path extrusionOk="0" h="1000125" w="5540375">
                <a:moveTo>
                  <a:pt x="31754" y="0"/>
                </a:moveTo>
                <a:lnTo>
                  <a:pt x="5508621" y="0"/>
                </a:lnTo>
                <a:cubicBezTo>
                  <a:pt x="5526158" y="0"/>
                  <a:pt x="5540375" y="14217"/>
                  <a:pt x="5540375" y="31754"/>
                </a:cubicBezTo>
                <a:lnTo>
                  <a:pt x="5540375" y="968371"/>
                </a:lnTo>
                <a:cubicBezTo>
                  <a:pt x="5540375" y="985908"/>
                  <a:pt x="5526158" y="1000125"/>
                  <a:pt x="5508621" y="1000125"/>
                </a:cubicBezTo>
                <a:lnTo>
                  <a:pt x="31754" y="1000125"/>
                </a:lnTo>
                <a:cubicBezTo>
                  <a:pt x="14217" y="1000125"/>
                  <a:pt x="0" y="985908"/>
                  <a:pt x="0" y="968371"/>
                </a:cubicBezTo>
                <a:lnTo>
                  <a:pt x="0" y="31754"/>
                </a:lnTo>
                <a:cubicBezTo>
                  <a:pt x="0" y="14228"/>
                  <a:pt x="14228" y="0"/>
                  <a:pt x="31754" y="0"/>
                </a:cubicBezTo>
                <a:close/>
              </a:path>
            </a:pathLst>
          </a:cu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6"/>
          <p:cNvSpPr/>
          <p:nvPr/>
        </p:nvSpPr>
        <p:spPr>
          <a:xfrm>
            <a:off x="6302375" y="1103532"/>
            <a:ext cx="5469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9F2D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Methodology Survey</a:t>
            </a:r>
            <a:endParaRPr b="0" i="0" sz="1600" u="none" cap="none" strike="noStrike"/>
          </a:p>
        </p:txBody>
      </p:sp>
      <p:sp>
        <p:nvSpPr>
          <p:cNvPr id="643" name="Google Shape;643;p16"/>
          <p:cNvSpPr/>
          <p:nvPr/>
        </p:nvSpPr>
        <p:spPr>
          <a:xfrm>
            <a:off x="6302375" y="1313235"/>
            <a:ext cx="5469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Manual gauging (used in this work)</a:t>
            </a:r>
            <a:endParaRPr b="0" i="0" sz="1600" u="none" cap="none" strike="noStrike"/>
          </a:p>
        </p:txBody>
      </p:sp>
      <p:sp>
        <p:nvSpPr>
          <p:cNvPr id="644" name="Google Shape;644;p16"/>
          <p:cNvSpPr/>
          <p:nvPr/>
        </p:nvSpPr>
        <p:spPr>
          <a:xfrm>
            <a:off x="6302375" y="1505463"/>
            <a:ext cx="5469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4-point and multi-point touch-off routines</a:t>
            </a:r>
            <a:endParaRPr b="0" i="0" sz="1600" u="none" cap="none" strike="noStrike"/>
          </a:p>
        </p:txBody>
      </p:sp>
      <p:sp>
        <p:nvSpPr>
          <p:cNvPr id="645" name="Google Shape;645;p16"/>
          <p:cNvSpPr/>
          <p:nvPr/>
        </p:nvSpPr>
        <p:spPr>
          <a:xfrm>
            <a:off x="6274563" y="1688944"/>
            <a:ext cx="5469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• Vision</a:t>
            </a:r>
            <a:r>
              <a:rPr lang="en-US" sz="875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guided calibration approaches</a:t>
            </a:r>
            <a:endParaRPr b="0" i="0" sz="1600" u="none" cap="none" strike="noStrike"/>
          </a:p>
        </p:txBody>
      </p:sp>
      <p:sp>
        <p:nvSpPr>
          <p:cNvPr id="646" name="Google Shape;646;p16"/>
          <p:cNvSpPr/>
          <p:nvPr/>
        </p:nvSpPr>
        <p:spPr>
          <a:xfrm>
            <a:off x="6238875" y="2204473"/>
            <a:ext cx="5540375" cy="700088"/>
          </a:xfrm>
          <a:custGeom>
            <a:rect b="b" l="l" r="r" t="t"/>
            <a:pathLst>
              <a:path extrusionOk="0" h="635000" w="5540375">
                <a:moveTo>
                  <a:pt x="31750" y="0"/>
                </a:moveTo>
                <a:lnTo>
                  <a:pt x="5508625" y="0"/>
                </a:lnTo>
                <a:cubicBezTo>
                  <a:pt x="5526148" y="0"/>
                  <a:pt x="5540375" y="14227"/>
                  <a:pt x="5540375" y="31750"/>
                </a:cubicBezTo>
                <a:lnTo>
                  <a:pt x="5540375" y="603250"/>
                </a:lnTo>
                <a:cubicBezTo>
                  <a:pt x="5540375" y="620773"/>
                  <a:pt x="5526148" y="635000"/>
                  <a:pt x="55086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6"/>
          <p:cNvSpPr/>
          <p:nvPr/>
        </p:nvSpPr>
        <p:spPr>
          <a:xfrm>
            <a:off x="6302375" y="2274374"/>
            <a:ext cx="5469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9F2D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Quantitative Comparison</a:t>
            </a:r>
            <a:endParaRPr b="0" i="0" sz="1600" u="none" cap="none" strike="noStrike"/>
          </a:p>
        </p:txBody>
      </p:sp>
      <p:sp>
        <p:nvSpPr>
          <p:cNvPr id="648" name="Google Shape;648;p16"/>
          <p:cNvSpPr/>
          <p:nvPr/>
        </p:nvSpPr>
        <p:spPr>
          <a:xfrm>
            <a:off x="6302375" y="2484077"/>
            <a:ext cx="54690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Achievable TCP calibration accuracy across methods — assessing whether manual approach is within acceptable band.</a:t>
            </a:r>
            <a:endParaRPr b="0" i="0" sz="1600" u="none" cap="none" strike="noStrike"/>
          </a:p>
        </p:txBody>
      </p:sp>
      <p:sp>
        <p:nvSpPr>
          <p:cNvPr id="649" name="Google Shape;649;p16"/>
          <p:cNvSpPr/>
          <p:nvPr/>
        </p:nvSpPr>
        <p:spPr>
          <a:xfrm>
            <a:off x="6238875" y="2973384"/>
            <a:ext cx="5540375" cy="700088"/>
          </a:xfrm>
          <a:custGeom>
            <a:rect b="b" l="l" r="r" t="t"/>
            <a:pathLst>
              <a:path extrusionOk="0" h="635000" w="5540375">
                <a:moveTo>
                  <a:pt x="31750" y="0"/>
                </a:moveTo>
                <a:lnTo>
                  <a:pt x="5508625" y="0"/>
                </a:lnTo>
                <a:cubicBezTo>
                  <a:pt x="5526148" y="0"/>
                  <a:pt x="5540375" y="14227"/>
                  <a:pt x="5540375" y="31750"/>
                </a:cubicBezTo>
                <a:lnTo>
                  <a:pt x="5540375" y="603250"/>
                </a:lnTo>
                <a:cubicBezTo>
                  <a:pt x="5540375" y="620773"/>
                  <a:pt x="5526148" y="635000"/>
                  <a:pt x="55086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6"/>
          <p:cNvSpPr/>
          <p:nvPr/>
        </p:nvSpPr>
        <p:spPr>
          <a:xfrm>
            <a:off x="6302375" y="3043285"/>
            <a:ext cx="5469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9F2D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Spindle-Mounted Tool Focus</a:t>
            </a:r>
            <a:endParaRPr b="0" i="0" sz="1600" u="none" cap="none" strike="noStrike"/>
          </a:p>
        </p:txBody>
      </p:sp>
      <p:sp>
        <p:nvSpPr>
          <p:cNvPr id="651" name="Google Shape;651;p16"/>
          <p:cNvSpPr/>
          <p:nvPr/>
        </p:nvSpPr>
        <p:spPr>
          <a:xfrm>
            <a:off x="6302375" y="3252989"/>
            <a:ext cx="54690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Specific focus on spindle-mounted tools where handle geometry and mount variability create documented challenges.</a:t>
            </a:r>
            <a:endParaRPr b="0" i="0" sz="1600" u="none" cap="none" strike="noStrike"/>
          </a:p>
        </p:txBody>
      </p:sp>
      <p:sp>
        <p:nvSpPr>
          <p:cNvPr id="652" name="Google Shape;652;p16"/>
          <p:cNvSpPr/>
          <p:nvPr/>
        </p:nvSpPr>
        <p:spPr>
          <a:xfrm>
            <a:off x="3472663" y="3926298"/>
            <a:ext cx="5730875" cy="2642830"/>
          </a:xfrm>
          <a:custGeom>
            <a:rect b="b" l="l" r="r" t="t"/>
            <a:pathLst>
              <a:path extrusionOk="0" h="2397125" w="5730875">
                <a:moveTo>
                  <a:pt x="31750" y="0"/>
                </a:moveTo>
                <a:lnTo>
                  <a:pt x="5699125" y="0"/>
                </a:lnTo>
                <a:cubicBezTo>
                  <a:pt x="5716660" y="0"/>
                  <a:pt x="5730875" y="14215"/>
                  <a:pt x="5730875" y="31750"/>
                </a:cubicBezTo>
                <a:lnTo>
                  <a:pt x="5730875" y="2333625"/>
                </a:lnTo>
                <a:cubicBezTo>
                  <a:pt x="5730875" y="2368695"/>
                  <a:pt x="5702445" y="2397125"/>
                  <a:pt x="5667375" y="2397125"/>
                </a:cubicBezTo>
                <a:lnTo>
                  <a:pt x="63500" y="2397125"/>
                </a:lnTo>
                <a:cubicBezTo>
                  <a:pt x="28430" y="2397125"/>
                  <a:pt x="0" y="2368695"/>
                  <a:pt x="0" y="2333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47625" rotWithShape="0" algn="bl" dir="5400000" dist="3175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6"/>
          <p:cNvSpPr/>
          <p:nvPr/>
        </p:nvSpPr>
        <p:spPr>
          <a:xfrm>
            <a:off x="3472675" y="3915372"/>
            <a:ext cx="5630585" cy="35004"/>
          </a:xfrm>
          <a:custGeom>
            <a:rect b="b" l="l" r="r" t="t"/>
            <a:pathLst>
              <a:path extrusionOk="0" h="31750" w="5730875">
                <a:moveTo>
                  <a:pt x="31750" y="0"/>
                </a:moveTo>
                <a:lnTo>
                  <a:pt x="5699125" y="0"/>
                </a:lnTo>
                <a:cubicBezTo>
                  <a:pt x="5716648" y="0"/>
                  <a:pt x="5730875" y="14227"/>
                  <a:pt x="5730875" y="31750"/>
                </a:cubicBezTo>
                <a:lnTo>
                  <a:pt x="573087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6"/>
          <p:cNvSpPr/>
          <p:nvPr/>
        </p:nvSpPr>
        <p:spPr>
          <a:xfrm>
            <a:off x="3587757" y="4083575"/>
            <a:ext cx="158750" cy="175022"/>
          </a:xfrm>
          <a:custGeom>
            <a:rect b="b" l="l" r="r" t="t"/>
            <a:pathLst>
              <a:path extrusionOk="0" h="158750" w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109141"/>
                </a:lnTo>
                <a:cubicBezTo>
                  <a:pt x="0" y="120086"/>
                  <a:pt x="8899" y="128984"/>
                  <a:pt x="19844" y="128984"/>
                </a:cubicBezTo>
                <a:lnTo>
                  <a:pt x="64492" y="128984"/>
                </a:lnTo>
                <a:lnTo>
                  <a:pt x="59531" y="143867"/>
                </a:lnTo>
                <a:lnTo>
                  <a:pt x="37207" y="143867"/>
                </a:lnTo>
                <a:cubicBezTo>
                  <a:pt x="33083" y="143867"/>
                  <a:pt x="29766" y="147185"/>
                  <a:pt x="29766" y="151309"/>
                </a:cubicBezTo>
                <a:cubicBezTo>
                  <a:pt x="29766" y="155432"/>
                  <a:pt x="33083" y="158750"/>
                  <a:pt x="37207" y="158750"/>
                </a:cubicBezTo>
                <a:lnTo>
                  <a:pt x="121543" y="158750"/>
                </a:lnTo>
                <a:cubicBezTo>
                  <a:pt x="125667" y="158750"/>
                  <a:pt x="128984" y="155432"/>
                  <a:pt x="128984" y="151309"/>
                </a:cubicBezTo>
                <a:cubicBezTo>
                  <a:pt x="128984" y="147185"/>
                  <a:pt x="125667" y="143867"/>
                  <a:pt x="121543" y="143867"/>
                </a:cubicBezTo>
                <a:lnTo>
                  <a:pt x="99219" y="143867"/>
                </a:lnTo>
                <a:lnTo>
                  <a:pt x="94258" y="128984"/>
                </a:lnTo>
                <a:lnTo>
                  <a:pt x="138906" y="128984"/>
                </a:lnTo>
                <a:cubicBezTo>
                  <a:pt x="149851" y="128984"/>
                  <a:pt x="158750" y="120086"/>
                  <a:pt x="158750" y="109141"/>
                </a:cubicBezTo>
                <a:lnTo>
                  <a:pt x="158750" y="29766"/>
                </a:lnTo>
                <a:cubicBezTo>
                  <a:pt x="158750" y="18821"/>
                  <a:pt x="149851" y="9922"/>
                  <a:pt x="138906" y="9922"/>
                </a:cubicBezTo>
                <a:lnTo>
                  <a:pt x="19844" y="9922"/>
                </a:lnTo>
                <a:close/>
                <a:moveTo>
                  <a:pt x="29766" y="29766"/>
                </a:moveTo>
                <a:lnTo>
                  <a:pt x="128984" y="29766"/>
                </a:lnTo>
                <a:cubicBezTo>
                  <a:pt x="134472" y="29766"/>
                  <a:pt x="138906" y="34199"/>
                  <a:pt x="138906" y="39688"/>
                </a:cubicBezTo>
                <a:lnTo>
                  <a:pt x="138906" y="89297"/>
                </a:lnTo>
                <a:cubicBezTo>
                  <a:pt x="138906" y="94785"/>
                  <a:pt x="134472" y="99219"/>
                  <a:pt x="128984" y="99219"/>
                </a:cubicBezTo>
                <a:lnTo>
                  <a:pt x="29766" y="99219"/>
                </a:lnTo>
                <a:cubicBezTo>
                  <a:pt x="24278" y="99219"/>
                  <a:pt x="19844" y="94785"/>
                  <a:pt x="19844" y="89297"/>
                </a:cubicBezTo>
                <a:lnTo>
                  <a:pt x="19844" y="39688"/>
                </a:lnTo>
                <a:cubicBezTo>
                  <a:pt x="19844" y="34199"/>
                  <a:pt x="24278" y="29766"/>
                  <a:pt x="29766" y="29766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6"/>
          <p:cNvSpPr/>
          <p:nvPr/>
        </p:nvSpPr>
        <p:spPr>
          <a:xfrm>
            <a:off x="3829850" y="4048625"/>
            <a:ext cx="30003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Topic Cluster 3 — Simulation-Based Validation</a:t>
            </a:r>
            <a:endParaRPr b="0" i="0" sz="1600" u="none" cap="none" strike="noStrike"/>
          </a:p>
        </p:txBody>
      </p:sp>
      <p:sp>
        <p:nvSpPr>
          <p:cNvPr id="656" name="Google Shape;656;p16"/>
          <p:cNvSpPr/>
          <p:nvPr/>
        </p:nvSpPr>
        <p:spPr>
          <a:xfrm>
            <a:off x="3567913" y="4363179"/>
            <a:ext cx="5540375" cy="735092"/>
          </a:xfrm>
          <a:custGeom>
            <a:rect b="b" l="l" r="r" t="t"/>
            <a:pathLst>
              <a:path extrusionOk="0" h="666750" w="5540375">
                <a:moveTo>
                  <a:pt x="31751" y="0"/>
                </a:moveTo>
                <a:lnTo>
                  <a:pt x="5508624" y="0"/>
                </a:lnTo>
                <a:cubicBezTo>
                  <a:pt x="5526160" y="0"/>
                  <a:pt x="5540375" y="14215"/>
                  <a:pt x="5540375" y="31751"/>
                </a:cubicBezTo>
                <a:lnTo>
                  <a:pt x="5540375" y="634999"/>
                </a:lnTo>
                <a:cubicBezTo>
                  <a:pt x="5540375" y="652535"/>
                  <a:pt x="5526160" y="666750"/>
                  <a:pt x="5508624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6"/>
          <p:cNvSpPr/>
          <p:nvPr/>
        </p:nvSpPr>
        <p:spPr>
          <a:xfrm>
            <a:off x="3631413" y="4433080"/>
            <a:ext cx="5469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01663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Framework Review</a:t>
            </a:r>
            <a:endParaRPr b="0" i="0" sz="1600" u="none" cap="none" strike="noStrike"/>
          </a:p>
        </p:txBody>
      </p:sp>
      <p:sp>
        <p:nvSpPr>
          <p:cNvPr id="658" name="Google Shape;658;p16"/>
          <p:cNvSpPr/>
          <p:nvPr/>
        </p:nvSpPr>
        <p:spPr>
          <a:xfrm>
            <a:off x="3631413" y="4642783"/>
            <a:ext cx="5469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Existing tools and how they handle RoboDK</a:t>
            </a:r>
            <a:r>
              <a:rPr lang="en-US" sz="875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</a:t>
            </a:r>
            <a:r>
              <a:rPr lang="en-US" sz="875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controller gap:</a:t>
            </a:r>
            <a:endParaRPr b="0" i="0" sz="1600" u="none" cap="none" strike="noStrike"/>
          </a:p>
        </p:txBody>
      </p:sp>
      <p:sp>
        <p:nvSpPr>
          <p:cNvPr id="659" name="Google Shape;659;p16"/>
          <p:cNvSpPr/>
          <p:nvPr/>
        </p:nvSpPr>
        <p:spPr>
          <a:xfrm>
            <a:off x="3567913" y="5167041"/>
            <a:ext cx="5540375" cy="700088"/>
          </a:xfrm>
          <a:custGeom>
            <a:rect b="b" l="l" r="r" t="t"/>
            <a:pathLst>
              <a:path extrusionOk="0" h="635000" w="5540375">
                <a:moveTo>
                  <a:pt x="31750" y="0"/>
                </a:moveTo>
                <a:lnTo>
                  <a:pt x="5508625" y="0"/>
                </a:lnTo>
                <a:cubicBezTo>
                  <a:pt x="5526148" y="0"/>
                  <a:pt x="5540375" y="14227"/>
                  <a:pt x="5540375" y="31750"/>
                </a:cubicBezTo>
                <a:lnTo>
                  <a:pt x="5540375" y="603250"/>
                </a:lnTo>
                <a:cubicBezTo>
                  <a:pt x="5540375" y="620773"/>
                  <a:pt x="5526148" y="635000"/>
                  <a:pt x="55086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6"/>
          <p:cNvSpPr/>
          <p:nvPr/>
        </p:nvSpPr>
        <p:spPr>
          <a:xfrm>
            <a:off x="3631413" y="5236942"/>
            <a:ext cx="5469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01663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Dual-Simulation Survey</a:t>
            </a:r>
            <a:endParaRPr b="0" i="0" sz="1600" u="none" cap="none" strike="noStrike"/>
          </a:p>
        </p:txBody>
      </p:sp>
      <p:sp>
        <p:nvSpPr>
          <p:cNvPr id="661" name="Google Shape;661;p16"/>
          <p:cNvSpPr/>
          <p:nvPr/>
        </p:nvSpPr>
        <p:spPr>
          <a:xfrm>
            <a:off x="3631413" y="5446645"/>
            <a:ext cx="54690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Are there published workflows using dual-simulation (CAM-side + controller-native) similar to RoboDK + RT Toolbox 3?</a:t>
            </a:r>
            <a:endParaRPr b="0" i="0" sz="1600" u="none" cap="none" strike="noStrike"/>
          </a:p>
        </p:txBody>
      </p:sp>
      <p:sp>
        <p:nvSpPr>
          <p:cNvPr id="662" name="Google Shape;662;p16"/>
          <p:cNvSpPr/>
          <p:nvPr/>
        </p:nvSpPr>
        <p:spPr>
          <a:xfrm>
            <a:off x="3567913" y="5935952"/>
            <a:ext cx="5540375" cy="525066"/>
          </a:xfrm>
          <a:custGeom>
            <a:rect b="b" l="l" r="r" t="t"/>
            <a:pathLst>
              <a:path extrusionOk="0" h="476250" w="5540375">
                <a:moveTo>
                  <a:pt x="31752" y="0"/>
                </a:moveTo>
                <a:lnTo>
                  <a:pt x="5508623" y="0"/>
                </a:lnTo>
                <a:cubicBezTo>
                  <a:pt x="5526159" y="0"/>
                  <a:pt x="5540375" y="14216"/>
                  <a:pt x="5540375" y="31752"/>
                </a:cubicBezTo>
                <a:lnTo>
                  <a:pt x="5540375" y="444498"/>
                </a:lnTo>
                <a:cubicBezTo>
                  <a:pt x="5540375" y="462034"/>
                  <a:pt x="5526159" y="476250"/>
                  <a:pt x="5508623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6"/>
          <p:cNvSpPr/>
          <p:nvPr/>
        </p:nvSpPr>
        <p:spPr>
          <a:xfrm>
            <a:off x="3631413" y="6005853"/>
            <a:ext cx="5469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01663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Post-Processor Evaluation</a:t>
            </a:r>
            <a:endParaRPr b="0" i="0" sz="1600" u="none" cap="none" strike="noStrike"/>
          </a:p>
        </p:txBody>
      </p:sp>
      <p:sp>
        <p:nvSpPr>
          <p:cNvPr id="664" name="Google Shape;664;p16"/>
          <p:cNvSpPr/>
          <p:nvPr/>
        </p:nvSpPr>
        <p:spPr>
          <a:xfrm>
            <a:off x="3631413" y="6215556"/>
            <a:ext cx="5469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How do researchers validate robotic post-processor correctness without exhaustive physical testing?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